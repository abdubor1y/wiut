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90" r:id="rId34"/>
    <p:sldId id="287" r:id="rId35"/>
    <p:sldId id="288" r:id="rId36"/>
    <p:sldId id="289" r:id="rId37"/>
    <p:sldId id="292" r:id="rId38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mid Shahbazkia" initials="HS" lastIdx="2" clrIdx="0">
    <p:extLst>
      <p:ext uri="{19B8F6BF-5375-455C-9EA6-DF929625EA0E}">
        <p15:presenceInfo xmlns:p15="http://schemas.microsoft.com/office/powerpoint/2012/main" userId="Hamid Shahbazki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0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ACD00E-A2C4-4FF6-8C71-F068DF6AF53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77689A-4200-49B9-8B21-AC6EEA3D4525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A2382-191C-4BCD-A70B-1276A2648DB8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7A8AD4-4442-4F3F-80B4-5211D27D9878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30BA4E9-91B6-42FF-AC81-6BE1FE754F46}" type="slidenum">
              <a:t>‹#›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111498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4BB10-D5CD-446A-8148-C7B96B64DE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17"/>
            <a:ext cx="5345280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03EF7-A299-43F9-B467-7F81A845DCE5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GB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D396851-817A-46B1-ADF8-918CF1458F84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C4FBE-B2CD-4443-98F3-8F2A68B7DD5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503C1-A3FB-4D6C-BBBB-C496E6F120D1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6E56A-0964-4600-ADA6-289C8CBDA02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524A05A7-C873-4096-A792-1242C42488F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426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GB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A96E978-64F0-4CFA-886F-8B52C405296C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C633DE-AE32-4365-9C86-3275C1240523}" type="slidenum">
              <a:t>1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7144457-88C5-4D42-9C7D-7F454980D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F1106190-9BF3-4E0D-9BAA-357F59CB6E8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8AF7C39-0181-4AF4-9D53-7C049750201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EC6A900-0954-4705-AD24-74D6FADF200C}" type="slidenum">
              <a:t>2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96A45AC-33E8-4A9B-BDD7-51626C1BF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40A67018-1803-4272-878E-3AAC7CD6E43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968819A-3161-42F8-8748-AB97134E5F2E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C1D958C-043B-408D-8B1F-BFCFDED07938}" type="slidenum">
              <a:t>3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83D3AE0-5EED-4884-9EBC-5D2DE1C49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930A097-A637-40FF-8925-F793FB9F397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1244785-4BD6-46D9-8B94-7450AC7D40B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0823C9D-855A-4249-9323-75DA25E71E82}" type="slidenum">
              <a:t>4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B885670-AC03-4325-ADCB-1FC44B394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5D18102-F90C-4712-83AA-72F4E71B3ED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9D91491-27FF-4660-90DF-222BEB15E6F8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2E48470-41F0-45D1-AB28-0A0C3F10458F}" type="slidenum">
              <a:t>5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8B35B80-610E-40CF-B11A-DFB10CE42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1B0DBDF-EC4C-4B2D-AC40-E654344A48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13AB575-5BFA-4D6E-9336-3C2045AC3167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D38B452-2D39-41B2-AD2E-7705F9BDDDC5}" type="slidenum">
              <a:t>6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77B8A60-7B69-4C3A-9E6A-0A4EBDD64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5A2CE96D-8944-4158-AE54-AB6A68BB909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701C49B-AC53-4EA4-9DB5-A998B1DF1F62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C6C6FB2-8A5E-4520-8E40-01ED6A26622D}" type="slidenum">
              <a:t>7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7516A1F-71C2-4915-A9AB-E536B1F02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D707D902-0A82-457A-A176-DF51510875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3C9DE2A-0DA1-4202-AC3F-5C5F09E9671A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59035E8-BB1D-48D6-9C95-786C612F814B}" type="slidenum">
              <a:t>9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08C4119-CF9B-4F24-84D3-FCFADD54B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68B69F66-CB2F-43D4-B66E-07DB36D22FA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5FB54C9-2A6B-484B-B02D-A8844EB43384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7F18D81-F371-4B5F-A9C3-31164DC39FCF}" type="slidenum">
              <a:t>10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CF9966F-769B-4993-84A9-BC67E4C7A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2D99255-350E-46BB-833D-4862C94657E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DF814A3-9EB9-4993-9B90-B100A31CC73D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8E98A8B-5383-4D9C-B1EE-F0CD310A7CB7}" type="slidenum">
              <a:t>11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56BDBF1-9083-46CE-811F-B1F3AC82A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5D99BE6-BDFD-40B4-92B8-1E0E0DE707D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CBF2E02-AAD8-41C0-923B-09C84B423693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C2ED3BE-4BE7-4887-B283-F187302E08FC}" type="slidenum">
              <a:t>12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293716E-C89E-498C-A190-59F677352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0133BD37-33AB-4DC7-9768-3877818CD1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77030B5-D4EC-46C5-A720-E8257AA5F8A2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2C202DE-BAE8-4E57-9ECC-5FFB8D7D3D51}" type="slidenum">
              <a:t>13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E131F2C-D572-46A2-ADC0-BED33FDE2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F5B5D306-4877-4C42-A4F8-0FE385BF7A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AF88440-1C27-49B5-B497-8C92BA234DA6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6818A0B-7655-44B3-B425-4DA49FD753E5}" type="slidenum">
              <a:t>14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A1536A8-0788-467A-9AD5-AF00EB125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CBDDB45D-9499-4386-BADF-E61B3FD9EC2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8E158DE-9D1D-42B5-A87A-B3FA69E9F178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6267A14-A18C-4BF4-9342-C92700DCFF59}" type="slidenum">
              <a:t>15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DF1CC908-9C61-457D-B3D1-FDF5E0B69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801CE6D-FB01-4281-84AC-EC5B0842B5E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421CFD7-3316-47D7-9E2F-4F246A369AF3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58DBD56-C6DC-4733-947D-9A7D5F422C73}" type="slidenum">
              <a:t>16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32485A8-1605-4A8A-BCC0-8DE70DBA4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870C502-5464-4E70-BC1E-BEEFA54F780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8152179-BE4F-4570-98D3-19CB941CAF86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E01BEB2-2040-4789-8334-6C97A8DD0AA7}" type="slidenum">
              <a:t>17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D15AE2C6-EE6B-44D1-BE40-A1B95911C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CFE6DABE-FFD2-43AA-A543-1A057010CE0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4AFE4B1-5CCA-4E27-9AD9-6B04123895AE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3806ACD-3915-4450-990D-BCA28FEA678F}" type="slidenum">
              <a:t>18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63E1B26-52F9-44F4-B752-FB678FA3D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43FA585-B96F-4333-B0E6-DB2B7814B8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9D19DA0-5230-4080-B671-A551594AF45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86BC6F7-A9CB-452F-B209-9E8E64A3D518}" type="slidenum">
              <a:t>19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F73A86F4-00E7-42F9-A135-9E1968387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192716C2-D0F8-4BB8-B133-6084069CCCC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1D69F24-3435-43E6-88D0-A62774042F99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BD044B7-214B-4FED-B894-4167A1C2A125}" type="slidenum">
              <a:t>20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69207269-F97A-470F-8042-845B1B512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B975D91-6BAA-4592-85E8-6AFB2E3C9C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E91F81B-D556-4988-BFBC-F507508E8C25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A0FD09A-2BB3-47DC-9944-4CC0CEF3748A}" type="slidenum">
              <a:t>21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07976D66-51A6-4AC5-9EDC-CE3A2CF1C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F9D4909B-6BEE-4E44-B306-4ABF8E0DB81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5D4C7EE-95CA-4DB4-BB34-E1B49CA885E2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FF2EB92-703D-47A3-A281-C227484BE0B0}" type="slidenum">
              <a:t>22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B4B55289-8CF4-4072-9415-7714BC2C7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3426BB8D-861D-44A0-9B24-138BFCE9C13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C74B229-B7A4-4168-A6DF-C994AE6EAA7E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3A27C74-AA8A-468E-8782-1A3635E4CC93}" type="slidenum">
              <a:t>23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0175FD6-C61F-4AAA-8ACD-69882A160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5DE90FDF-A811-4191-8C4A-BBDC7EA849D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CE2BCF2-79B1-430B-BF67-276AC4F991C9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919DC69-4844-4CAD-9A7B-3CA601371C97}" type="slidenum">
              <a:t>24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F7B478F8-321F-4E76-B36C-3898B1303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41F6ED70-909C-4651-942D-E7A459ED7F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B891F82-B4FA-4217-814B-1C3DF136A3A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87BE4B6-CEAD-43D3-8D90-6828359897E6}" type="slidenum">
              <a:t>25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657CBB6B-DB77-4934-AB51-5950FB234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B3869135-98D7-4372-B4F6-B7150423CC0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D36FBC8-C688-4F1B-8738-D679AF7D6117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54F513A-D070-457A-AA33-4CC9AD4EAC0A}" type="slidenum">
              <a:t>26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6DCC6D75-6BFC-49D1-8C86-DC402F571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6CFDFC23-3022-4AA9-A11C-1E45BAE34AB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9EC53BB-036B-49E1-ADDA-47068ABB4292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2C5EC37-3192-406C-BF3A-CC3B17FBE480}" type="slidenum">
              <a:t>27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C9C90358-064A-4862-A5B7-7B6C5D5CB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8DAFEBBE-4EB3-4B5B-92BF-17399F91BE4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BB32C61-F74D-436D-999E-1760EE9AB282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25632EB-275E-4019-B065-FB82E34CA2AF}" type="slidenum">
              <a:t>28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72E13B4-5B36-4407-A6AF-665CA5763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38E0943E-45D3-4471-A557-D7331A5269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673F779-F1EB-4393-9E58-14629C58DE65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8B736B-EA4C-45CF-8F0F-585668178140}" type="slidenum">
              <a:t>29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8F676A58-A713-4DE8-A7A6-2D602C44E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FE89020E-3BC4-4DEF-A750-7BA9310415D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A0F9169-7FC2-4148-96D3-A70A13494186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5D62F15-6473-4458-90EE-BBF59CC78898}" type="slidenum">
              <a:t>30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F431DEE0-394D-4348-A9BA-487F4CBEA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B0821B0E-4F1D-427B-AE24-5EA0B7EB36C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4634A8F-2B47-499F-991B-7480CE95BC09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739495F-3393-42DE-A901-E6F692FEDD8A}" type="slidenum">
              <a:t>31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BDCE2333-2EB3-4FB1-990E-50CB7D40A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FE5E84CA-D6B4-4457-82EA-2617182524D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5E684C5-26F9-4C93-9B77-FBFF40EE68A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5A2C2D4-FEDD-4351-8114-C11764EBC8E5}" type="slidenum">
              <a:t>32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9E9401F2-5686-4529-9E7C-2CDC389C1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07127FEA-F816-4EF0-B71B-221E92CCDCC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F381E33-A25E-4405-9E8B-135A2D1020F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07C038B-DE26-4624-A71D-ABD0ABC25813}" type="slidenum">
              <a:t>34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F136C6DC-A1F9-41AF-AD16-7EE9980B2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FD445129-0F01-43C4-984D-BCBF971B1F0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6C9E23F-F5D2-4178-B661-8740B6EE87C9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C80773-A1E0-4849-9BF7-7F60B7032ACD}" type="slidenum">
              <a:t>35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0A796D17-E711-4217-B49F-6324E558D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4D453158-CCF5-482F-87ED-B85060E7C6C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72718D7-493D-4D58-A4B5-476E2D348AD6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F822A9C-4957-4173-AED1-FF565E44F13A}" type="slidenum">
              <a:t>36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DB9C951D-BF77-43DD-915F-3111CF0E0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0449BF8B-F602-47AA-8B8D-FF3174ED6ED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76E69-B886-ED39-10EC-18CB0FA9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B8073F7-3633-F416-1D58-EC5CC2E0D907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F822A9C-4957-4173-AED1-FF565E44F13A}" type="slidenum">
              <a:t>37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F138A9BE-063B-579A-0F9D-955A2F7D9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BB2CFEB5-597F-9F87-3E63-5F50CD0D468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25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7430-9536-4D32-8EF4-56BDF84DE9E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1236661"/>
            <a:ext cx="7559673" cy="2632072"/>
          </a:xfrm>
        </p:spPr>
        <p:txBody>
          <a:bodyPr anchor="b"/>
          <a:lstStyle>
            <a:lvl1pPr>
              <a:defRPr lang="en-US"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11D880-C616-47FB-BF0B-C65B48B78D8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3970333"/>
            <a:ext cx="7559673" cy="1825627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BC944-9EEF-4110-9593-6803CAF47258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8489F-FBCB-4C6D-9FF7-42AB492BB5D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D6A67-9C95-46D0-9100-C75BAA5CD29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3A7DC501-24F6-46A7-B9DD-E4288A38B805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60530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CED0-9758-4EC4-BB85-D3E7DF60089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EABC4-DA73-43A0-BE55-733365AEFA1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CAB1E-CA9F-4046-B3F8-592C558E8B3D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CD8EE-F8C8-47B7-9A51-AFA3694B4E7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8C4F7-8094-44DA-9629-6DD9D7BFAC0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F517A803-918B-4C62-9BB9-FE8B84F8C4B0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618899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6A4CF-C498-4E54-ABA2-6066B86DE8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884358"/>
            <a:ext cx="8694736" cy="3144841"/>
          </a:xfrm>
        </p:spPr>
        <p:txBody>
          <a:bodyPr anchor="b"/>
          <a:lstStyle>
            <a:lvl1pPr>
              <a:defRPr lang="en-US"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809E2-5072-484F-A887-DEB5CF4BB6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5059366"/>
            <a:ext cx="8694736" cy="165258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A8EC7-7389-4FE3-B1C4-EF1776750D6B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40461-5143-4B59-A63A-B33F016CCC6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3AFBB-046B-4892-AC1B-D2D4812CB9B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7BAC5C5C-A046-4BB4-9E65-9E10085C5D28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754761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65DA-61F4-4791-8AA9-9754BF87DA2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42D9F-820C-407A-997F-FD3D8123D83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1768477"/>
            <a:ext cx="4459291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8B0B0-7719-4099-8B14-8330036D5D6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1768477"/>
            <a:ext cx="4460872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AB276-8302-46C3-83E0-8F9E093770E2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98696-4156-4C39-AFC4-F8E53DFB2DC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BD69E-2976-4DAA-A60D-1482FA3E7B9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65D924BD-6797-477C-9D0E-D05713C32A1F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39231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BFBBD-43DE-400D-BEE9-32090A2038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403222"/>
            <a:ext cx="8694736" cy="1460497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E25EA-88A3-49F5-86B0-A0118E1CF3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852610"/>
            <a:ext cx="4265611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1ACD7-58BE-45B6-9C0C-4BDBB3073E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760665"/>
            <a:ext cx="4265611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1FE0D7-E814-4C42-B65A-03651A87CDC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852610"/>
            <a:ext cx="4284658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FDD92-A2EF-4F9C-9ADB-A3E4389625EE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760665"/>
            <a:ext cx="4284658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656AB-D659-4558-8519-92234C193DB8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43384-A925-4EBC-A9FC-99D2FA4D6B7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95C71F-ACDD-41CA-BE33-76FE0828E18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D6A405F1-26DB-4DDA-B4B5-EEBBA51A2153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920486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AD00A-77E1-48A3-9487-5185207E0AD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953DC3-C611-4B45-8545-520CCDE8E1F2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C54A2F-B6E5-4823-81DB-FD884E560A9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C8665-826A-4B81-9C6B-03A8F577D3A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0951C541-D421-4F07-8707-7EBB45360D67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020455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5283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EAF7-121E-492F-A167-A9891259CC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en-US"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D192F-320C-45D3-A565-FE1EA5AB7B1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6A844-C42C-443C-99A3-D7CB6752ADD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018062-FADF-4738-BD1A-0D174DB66EED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42F80-3F4D-490C-AFE8-8B0FC367E64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6CAF6-343B-4C5D-A4D4-725A2C6D57D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C9CDE222-997B-40D0-B44A-D36B46478153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562229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6602A-B055-40B2-9CDC-68A2091E17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en-US"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031A54-BD10-47FA-A3AB-F6536FB70E67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504C2-D6FF-4E89-A5BE-C5F34CA8884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B2911-7C88-43AA-A926-BEC7E12936AB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D10C4-6429-4D3B-9DB6-67AEA0747B3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6D34C-D487-4202-939F-D260F8FCE57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4A0D4B75-7848-450E-9913-5CDD9237E5F3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279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36CB-06D0-4134-81F4-D5070002E52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BE39F-E7D0-45A5-8B03-B4986F154EE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CFDF5-D5D1-431A-9B4B-F46DA1B56433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6C628-5E2C-4BB1-B3BE-781560887E9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03837-626F-4E7C-A1E4-4890A885359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F1BD5723-9EF4-4EAE-BA77-85FE81F6AB5B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45500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CE565F-26A3-4FBF-9A07-1D7ED82F5B76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08854" y="301623"/>
            <a:ext cx="2266953" cy="5851529"/>
          </a:xfrm>
        </p:spPr>
        <p:txBody>
          <a:bodyPr vert="eaVert"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91086E-84ED-4981-9B05-F14639CFFE6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301623"/>
            <a:ext cx="6653210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5F8B1-AD8D-4D86-AE99-6B24FB937C70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6D39A-5BC5-424D-9C30-FFA345C666A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96ADC-DFBF-4562-9E0F-61E92A68DC7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A2A29970-7FCF-4405-B10D-1ACC8F86A4F2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262306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4000"/>
            <a:lum/>
          </a:blip>
          <a:srcRect/>
          <a:stretch>
            <a:fillRect r="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5E491-BB23-4EA8-8932-346E3684BA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5EB9C-3A98-4EDB-872D-E4326D5AAE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1769043"/>
            <a:ext cx="9071643" cy="43844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GB" sz="44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None/>
        <a:tabLst/>
        <a:defRPr lang="en-US" sz="32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tutor.com/visualize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ev/peps/pep-0008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AEA90-3642-4BF7-B327-9F6110C7689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69592"/>
            <a:ext cx="9071643" cy="1262155"/>
          </a:xfrm>
        </p:spPr>
        <p:txBody>
          <a:bodyPr/>
          <a:lstStyle/>
          <a:p>
            <a:pPr lvl="0"/>
            <a:br>
              <a:rPr lang="en-GB" dirty="0"/>
            </a:br>
            <a:r>
              <a:rPr lang="en-GB" dirty="0"/>
              <a:t>Fundamentals of Programming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2D800A1-D00F-423D-BF61-51B19EEE9806}"/>
              </a:ext>
            </a:extLst>
          </p:cNvPr>
          <p:cNvSpPr txBox="1"/>
          <p:nvPr/>
        </p:nvSpPr>
        <p:spPr>
          <a:xfrm>
            <a:off x="1043815" y="2002536"/>
            <a:ext cx="7992002" cy="602278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ctr" anchorCtr="1" compatLnSpc="0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3600" b="1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Types, operators and variables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294F-1D26-4DC9-9866-B19C02E3BE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In this class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A838E-1AB7-45ED-B985-76EA2AA6AD8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What is a data type in computation?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are the Python types for numerical values?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precise are computers?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is operator precedence?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can values be stored in computer’s memory?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can source code be made more readable?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73CD-0596-49A2-9F8A-CF2A781BA8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Just to remind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BE2F5-198A-4E7C-8B3E-53E2AA8BEAB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Programs are made up of commands that tell the computer what to do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These commands are called statements, or instructions, that the computer executes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We are going to write programs using the programming language Python version 3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Programs written in Python are interpreted, thus, compilation is not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D073-810A-4225-B175-5E59B54C4B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Using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DFB52-BBC3-49F5-BED5-8DC0EFB7992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Two ways: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Tell it to execute a program that is saved in a file (with extension 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.py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)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Interact with it in a program called shell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If using an interactive shell, the interpreter will execute each statement we type, after we press enter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We’ll start by using IDLE which can act as a shell for 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97B37-B79A-4B9A-9BD5-88A53B0972F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 dirty="0"/>
              <a:t>Python as a calculator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E19F3-E97D-46B1-96D0-3136AEB0CF5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Once IDLE is launched, the following prompt shows up: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&gt;&gt;&gt;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Mathematical expressions can be typed at the prompt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For example: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10 + 12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If enter is pressed, the following result will be produced: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22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A9D5838-3DA7-48ED-A161-C92143CCE282}"/>
              </a:ext>
            </a:extLst>
          </p:cNvPr>
          <p:cNvSpPr/>
          <p:nvPr/>
        </p:nvSpPr>
        <p:spPr>
          <a:xfrm>
            <a:off x="3312002" y="4894737"/>
            <a:ext cx="1079641" cy="359999"/>
          </a:xfrm>
          <a:custGeom>
            <a:avLst>
              <a:gd name="f0" fmla="val -26107"/>
              <a:gd name="f1" fmla="val 28332"/>
              <a:gd name="f2" fmla="val -10728"/>
              <a:gd name="f3" fmla="val 18708"/>
              <a:gd name="f4" fmla="val -1800"/>
              <a:gd name="f5" fmla="val 11954"/>
            </a:avLst>
            <a:gdLst>
              <a:gd name="f6" fmla="val w"/>
              <a:gd name="f7" fmla="val h"/>
              <a:gd name="f8" fmla="val 0"/>
              <a:gd name="f9" fmla="val 21600"/>
              <a:gd name="f10" fmla="val 2147483647"/>
              <a:gd name="f11" fmla="val -2147483647"/>
              <a:gd name="f12" fmla="*/ f6 1 21600"/>
              <a:gd name="f13" fmla="*/ f7 1 21600"/>
              <a:gd name="f14" fmla="val f8"/>
              <a:gd name="f15" fmla="val f9"/>
              <a:gd name="f16" fmla="pin -2147483647 f0 2147483647"/>
              <a:gd name="f17" fmla="pin -2147483647 f1 2147483647"/>
              <a:gd name="f18" fmla="pin -2147483647 f2 2147483647"/>
              <a:gd name="f19" fmla="pin -2147483647 f3 2147483647"/>
              <a:gd name="f20" fmla="pin -2147483647 f4 2147483647"/>
              <a:gd name="f21" fmla="pin -2147483647 f5 2147483647"/>
              <a:gd name="f22" fmla="+- f15 0 f14"/>
              <a:gd name="f23" fmla="val f16"/>
              <a:gd name="f24" fmla="val f17"/>
              <a:gd name="f25" fmla="val f18"/>
              <a:gd name="f26" fmla="val f19"/>
              <a:gd name="f27" fmla="val f20"/>
              <a:gd name="f28" fmla="val f21"/>
              <a:gd name="f29" fmla="*/ f16 f12 1"/>
              <a:gd name="f30" fmla="*/ f17 f13 1"/>
              <a:gd name="f31" fmla="*/ f18 f12 1"/>
              <a:gd name="f32" fmla="*/ f19 f13 1"/>
              <a:gd name="f33" fmla="*/ f20 f12 1"/>
              <a:gd name="f34" fmla="*/ f21 f13 1"/>
              <a:gd name="f35" fmla="*/ f22 1 21600"/>
              <a:gd name="f36" fmla="*/ f14 1 f35"/>
              <a:gd name="f37" fmla="*/ f15 1 f35"/>
              <a:gd name="f38" fmla="*/ f36 f12 1"/>
              <a:gd name="f39" fmla="*/ f37 f12 1"/>
              <a:gd name="f40" fmla="*/ f37 f13 1"/>
              <a:gd name="f41" fmla="*/ f36 f13 1"/>
            </a:gdLst>
            <a:ahLst>
              <a:ahXY gdRefX="f0" minX="f11" maxX="f10" gdRefY="f1" minY="f11" maxY="f10">
                <a:pos x="f29" y="f30"/>
              </a:ahXY>
              <a:ahXY gdRefX="f2" minX="f11" maxX="f10" gdRefY="f3" minY="f11" maxY="f10">
                <a:pos x="f31" y="f32"/>
              </a:ahXY>
              <a:ahXY gdRefX="f4" minX="f11" maxX="f10" gdRefY="f5" minY="f11" maxY="f10">
                <a:pos x="f33" y="f34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8" t="f41" r="f39" b="f40"/>
            <a:pathLst>
              <a:path w="21600" h="21600">
                <a:moveTo>
                  <a:pt x="f8" y="f8"/>
                </a:moveTo>
                <a:lnTo>
                  <a:pt x="f9" y="f8"/>
                </a:lnTo>
                <a:lnTo>
                  <a:pt x="f9" y="f9"/>
                </a:lnTo>
                <a:lnTo>
                  <a:pt x="f8" y="f9"/>
                </a:lnTo>
                <a:close/>
              </a:path>
              <a:path w="21600" h="21600">
                <a:moveTo>
                  <a:pt x="f23" y="f24"/>
                </a:moveTo>
                <a:lnTo>
                  <a:pt x="f25" y="f26"/>
                </a:lnTo>
              </a:path>
              <a:path w="21600" h="21600">
                <a:moveTo>
                  <a:pt x="f25" y="f26"/>
                </a:moveTo>
                <a:lnTo>
                  <a:pt x="f27" y="f28"/>
                </a:lnTo>
              </a:path>
            </a:pathLst>
          </a:custGeom>
          <a:solidFill>
            <a:srgbClr val="729FCF"/>
          </a:solidFill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operands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97D79E3-3889-4A3A-9D4C-E8BE6C260D0E}"/>
              </a:ext>
            </a:extLst>
          </p:cNvPr>
          <p:cNvSpPr/>
          <p:nvPr/>
        </p:nvSpPr>
        <p:spPr>
          <a:xfrm flipV="1">
            <a:off x="3671818" y="5216688"/>
            <a:ext cx="359999" cy="21599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 cap="flat">
            <a:solidFill>
              <a:srgbClr val="0066CC"/>
            </a:solidFill>
            <a:prstDash val="solid"/>
            <a:miter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0CB8D53-BC30-407E-8C18-D8B91BA3232C}"/>
              </a:ext>
            </a:extLst>
          </p:cNvPr>
          <p:cNvSpPr/>
          <p:nvPr/>
        </p:nvSpPr>
        <p:spPr>
          <a:xfrm>
            <a:off x="4122179" y="5610639"/>
            <a:ext cx="1133636" cy="359999"/>
          </a:xfrm>
          <a:custGeom>
            <a:avLst>
              <a:gd name="f0" fmla="val -24884"/>
              <a:gd name="f1" fmla="val 9623"/>
              <a:gd name="f2" fmla="val -18980"/>
              <a:gd name="f3" fmla="val 19269"/>
              <a:gd name="f4" fmla="val -1714"/>
              <a:gd name="f5" fmla="val 11954"/>
            </a:avLst>
            <a:gdLst>
              <a:gd name="f6" fmla="val w"/>
              <a:gd name="f7" fmla="val h"/>
              <a:gd name="f8" fmla="val 0"/>
              <a:gd name="f9" fmla="val 21600"/>
              <a:gd name="f10" fmla="val 2147483647"/>
              <a:gd name="f11" fmla="val -2147483647"/>
              <a:gd name="f12" fmla="*/ f6 1 21600"/>
              <a:gd name="f13" fmla="*/ f7 1 21600"/>
              <a:gd name="f14" fmla="val f8"/>
              <a:gd name="f15" fmla="val f9"/>
              <a:gd name="f16" fmla="pin -2147483647 f0 2147483647"/>
              <a:gd name="f17" fmla="pin -2147483647 f1 2147483647"/>
              <a:gd name="f18" fmla="pin -2147483647 f2 2147483647"/>
              <a:gd name="f19" fmla="pin -2147483647 f3 2147483647"/>
              <a:gd name="f20" fmla="pin -2147483647 f4 2147483647"/>
              <a:gd name="f21" fmla="pin -2147483647 f5 2147483647"/>
              <a:gd name="f22" fmla="+- f15 0 f14"/>
              <a:gd name="f23" fmla="val f16"/>
              <a:gd name="f24" fmla="val f17"/>
              <a:gd name="f25" fmla="val f18"/>
              <a:gd name="f26" fmla="val f19"/>
              <a:gd name="f27" fmla="val f20"/>
              <a:gd name="f28" fmla="val f21"/>
              <a:gd name="f29" fmla="*/ f16 f12 1"/>
              <a:gd name="f30" fmla="*/ f17 f13 1"/>
              <a:gd name="f31" fmla="*/ f18 f12 1"/>
              <a:gd name="f32" fmla="*/ f19 f13 1"/>
              <a:gd name="f33" fmla="*/ f20 f12 1"/>
              <a:gd name="f34" fmla="*/ f21 f13 1"/>
              <a:gd name="f35" fmla="*/ f22 1 21600"/>
              <a:gd name="f36" fmla="*/ f14 1 f35"/>
              <a:gd name="f37" fmla="*/ f15 1 f35"/>
              <a:gd name="f38" fmla="*/ f36 f12 1"/>
              <a:gd name="f39" fmla="*/ f37 f12 1"/>
              <a:gd name="f40" fmla="*/ f37 f13 1"/>
              <a:gd name="f41" fmla="*/ f36 f13 1"/>
            </a:gdLst>
            <a:ahLst>
              <a:ahXY gdRefX="f0" minX="f11" maxX="f10" gdRefY="f1" minY="f11" maxY="f10">
                <a:pos x="f29" y="f30"/>
              </a:ahXY>
              <a:ahXY gdRefX="f2" minX="f11" maxX="f10" gdRefY="f3" minY="f11" maxY="f10">
                <a:pos x="f31" y="f32"/>
              </a:ahXY>
              <a:ahXY gdRefX="f4" minX="f11" maxX="f10" gdRefY="f5" minY="f11" maxY="f10">
                <a:pos x="f33" y="f34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8" t="f41" r="f39" b="f40"/>
            <a:pathLst>
              <a:path w="21600" h="21600">
                <a:moveTo>
                  <a:pt x="f8" y="f8"/>
                </a:moveTo>
                <a:lnTo>
                  <a:pt x="f9" y="f8"/>
                </a:lnTo>
                <a:lnTo>
                  <a:pt x="f9" y="f9"/>
                </a:lnTo>
                <a:lnTo>
                  <a:pt x="f8" y="f9"/>
                </a:lnTo>
                <a:close/>
              </a:path>
              <a:path w="21600" h="21600">
                <a:moveTo>
                  <a:pt x="f23" y="f24"/>
                </a:moveTo>
                <a:lnTo>
                  <a:pt x="f25" y="f26"/>
                </a:lnTo>
              </a:path>
              <a:path w="21600" h="21600">
                <a:moveTo>
                  <a:pt x="f25" y="f26"/>
                </a:moveTo>
                <a:lnTo>
                  <a:pt x="f27" y="f28"/>
                </a:lnTo>
              </a:path>
            </a:pathLst>
          </a:custGeom>
          <a:solidFill>
            <a:srgbClr val="729FCF"/>
          </a:solidFill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operator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1A95329-0E2F-4622-8450-3907FD45AA17}"/>
              </a:ext>
            </a:extLst>
          </p:cNvPr>
          <p:cNvSpPr/>
          <p:nvPr/>
        </p:nvSpPr>
        <p:spPr>
          <a:xfrm>
            <a:off x="7488625" y="6664924"/>
            <a:ext cx="2592003" cy="86399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729FCF"/>
          </a:solidFill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For quick tests: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QPython3 for Android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2135E-5FF2-4E5B-950F-7FF3DD6195A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GB"/>
              <a:t>More operators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3DADB-C7AF-487A-A376-385218897B5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8627" y="1417383"/>
            <a:ext cx="9071643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Subtraction: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&gt;&gt;&gt; 10 – 12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-2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Division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&gt;&gt;&gt; 11 / 2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5.5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&gt;&gt;&gt; 12 / 2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6.0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The result of the division operator is always of the type floating point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5EA78EF-5A61-428A-89A9-9C9E5F853C8D}"/>
              </a:ext>
            </a:extLst>
          </p:cNvPr>
          <p:cNvSpPr/>
          <p:nvPr/>
        </p:nvSpPr>
        <p:spPr>
          <a:xfrm>
            <a:off x="5374331" y="4615601"/>
            <a:ext cx="3797640" cy="935998"/>
          </a:xfrm>
          <a:custGeom>
            <a:avLst>
              <a:gd name="f0" fmla="val -19411"/>
              <a:gd name="f1" fmla="val 17331"/>
              <a:gd name="f2" fmla="val -7532"/>
              <a:gd name="f3" fmla="val 13885"/>
              <a:gd name="f4" fmla="val -511"/>
              <a:gd name="f5" fmla="val 4600"/>
            </a:avLst>
            <a:gdLst>
              <a:gd name="f6" fmla="val w"/>
              <a:gd name="f7" fmla="val h"/>
              <a:gd name="f8" fmla="val 0"/>
              <a:gd name="f9" fmla="val 21600"/>
              <a:gd name="f10" fmla="val 2147483647"/>
              <a:gd name="f11" fmla="val -2147483647"/>
              <a:gd name="f12" fmla="*/ f6 1 21600"/>
              <a:gd name="f13" fmla="*/ f7 1 21600"/>
              <a:gd name="f14" fmla="val f8"/>
              <a:gd name="f15" fmla="val f9"/>
              <a:gd name="f16" fmla="pin -2147483647 f0 2147483647"/>
              <a:gd name="f17" fmla="pin -2147483647 f1 2147483647"/>
              <a:gd name="f18" fmla="pin -2147483647 f2 2147483647"/>
              <a:gd name="f19" fmla="pin -2147483647 f3 2147483647"/>
              <a:gd name="f20" fmla="pin -2147483647 f4 2147483647"/>
              <a:gd name="f21" fmla="pin -2147483647 f5 2147483647"/>
              <a:gd name="f22" fmla="+- f15 0 f14"/>
              <a:gd name="f23" fmla="val f16"/>
              <a:gd name="f24" fmla="val f17"/>
              <a:gd name="f25" fmla="val f18"/>
              <a:gd name="f26" fmla="val f19"/>
              <a:gd name="f27" fmla="val f20"/>
              <a:gd name="f28" fmla="val f21"/>
              <a:gd name="f29" fmla="*/ f16 f12 1"/>
              <a:gd name="f30" fmla="*/ f17 f13 1"/>
              <a:gd name="f31" fmla="*/ f18 f12 1"/>
              <a:gd name="f32" fmla="*/ f19 f13 1"/>
              <a:gd name="f33" fmla="*/ f20 f12 1"/>
              <a:gd name="f34" fmla="*/ f21 f13 1"/>
              <a:gd name="f35" fmla="*/ f22 1 21600"/>
              <a:gd name="f36" fmla="*/ f14 1 f35"/>
              <a:gd name="f37" fmla="*/ f15 1 f35"/>
              <a:gd name="f38" fmla="*/ f36 f12 1"/>
              <a:gd name="f39" fmla="*/ f37 f12 1"/>
              <a:gd name="f40" fmla="*/ f37 f13 1"/>
              <a:gd name="f41" fmla="*/ f36 f13 1"/>
            </a:gdLst>
            <a:ahLst>
              <a:ahXY gdRefX="f0" minX="f11" maxX="f10" gdRefY="f1" minY="f11" maxY="f10">
                <a:pos x="f29" y="f30"/>
              </a:ahXY>
              <a:ahXY gdRefX="f2" minX="f11" maxX="f10" gdRefY="f3" minY="f11" maxY="f10">
                <a:pos x="f31" y="f32"/>
              </a:ahXY>
              <a:ahXY gdRefX="f4" minX="f11" maxX="f10" gdRefY="f5" minY="f11" maxY="f10">
                <a:pos x="f33" y="f34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8" t="f41" r="f39" b="f40"/>
            <a:pathLst>
              <a:path w="21600" h="21600">
                <a:moveTo>
                  <a:pt x="f8" y="f8"/>
                </a:moveTo>
                <a:lnTo>
                  <a:pt x="f9" y="f8"/>
                </a:lnTo>
                <a:lnTo>
                  <a:pt x="f9" y="f9"/>
                </a:lnTo>
                <a:lnTo>
                  <a:pt x="f8" y="f9"/>
                </a:lnTo>
                <a:close/>
              </a:path>
              <a:path w="21600" h="21600">
                <a:moveTo>
                  <a:pt x="f23" y="f24"/>
                </a:moveTo>
                <a:lnTo>
                  <a:pt x="f25" y="f26"/>
                </a:lnTo>
              </a:path>
              <a:path w="21600" h="21600">
                <a:moveTo>
                  <a:pt x="f25" y="f26"/>
                </a:moveTo>
                <a:lnTo>
                  <a:pt x="f27" y="f28"/>
                </a:lnTo>
              </a:path>
            </a:pathLst>
          </a:custGeom>
          <a:solidFill>
            <a:srgbClr val="729FCF"/>
          </a:solidFill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Notice the floating point, although</a:t>
            </a:r>
            <a:b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the result is integer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F0F86D-2B05-4BEF-AE6B-43C0F57D2850}"/>
              </a:ext>
            </a:extLst>
          </p:cNvPr>
          <p:cNvSpPr txBox="1"/>
          <p:nvPr/>
        </p:nvSpPr>
        <p:spPr>
          <a:xfrm>
            <a:off x="5148270" y="1540091"/>
            <a:ext cx="4392000" cy="1252078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97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 Multiplication:</a:t>
            </a:r>
          </a:p>
          <a:p>
            <a:pPr marL="0" marR="0" lvl="1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6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   &gt;&gt;&gt; 2 * 10</a:t>
            </a:r>
            <a:br>
              <a:rPr lang="en-GB" sz="26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26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   20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6A8F81C-36C3-40AF-961F-0E731F556392}"/>
              </a:ext>
            </a:extLst>
          </p:cNvPr>
          <p:cNvSpPr/>
          <p:nvPr/>
        </p:nvSpPr>
        <p:spPr>
          <a:xfrm rot="19088057">
            <a:off x="6473578" y="2668071"/>
            <a:ext cx="3240002" cy="71999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729FCF"/>
          </a:solidFill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Warning!!!</a:t>
            </a:r>
            <a:b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Different from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00E0-01B5-4DC0-839D-54F443C0678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0"/>
            <a:ext cx="9071643" cy="1262155"/>
          </a:xfrm>
        </p:spPr>
        <p:txBody>
          <a:bodyPr/>
          <a:lstStyle/>
          <a:p>
            <a:pPr lvl="0"/>
            <a:r>
              <a:rPr lang="en-GB"/>
              <a:t>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5AF8E-FC12-4F1B-907B-7954353CD3B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042699"/>
            <a:ext cx="9071643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Every value in Python has a particular type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The types determine how values behave when combined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So far we’ve seen two types of numeric values: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Integer and Floating Point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 b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In Python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these are called 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int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and 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float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latin typeface="Courier 10 Pitch" pitchFamily="17"/>
              </a:rPr>
              <a:t>int</a:t>
            </a:r>
            <a:r>
              <a:rPr lang="en-GB" dirty="0"/>
              <a:t> values can be seen as a subset of the integer numbers (</a:t>
            </a:r>
            <a:r>
              <a:rPr lang="en-GB" dirty="0">
                <a:latin typeface="Courier 10 Pitch" pitchFamily="17"/>
              </a:rPr>
              <a:t>int</a:t>
            </a:r>
            <a:r>
              <a:rPr lang="en-GB" dirty="0"/>
              <a:t> ⊂ ℤ)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latin typeface="Courier 10 Pitch" pitchFamily="17"/>
              </a:rPr>
              <a:t>float</a:t>
            </a:r>
            <a:r>
              <a:rPr lang="en-GB" dirty="0"/>
              <a:t> values can be seen as a subset of the real numbers (</a:t>
            </a:r>
            <a:r>
              <a:rPr lang="en-GB" dirty="0">
                <a:latin typeface="Courier 10 Pitch" pitchFamily="17"/>
              </a:rPr>
              <a:t>float</a:t>
            </a:r>
            <a:r>
              <a:rPr lang="en-GB" dirty="0"/>
              <a:t> ⊂ ℝ)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FAABEE-0618-417B-3199-7CC43604A4BD}"/>
              </a:ext>
            </a:extLst>
          </p:cNvPr>
          <p:cNvSpPr txBox="1"/>
          <p:nvPr/>
        </p:nvSpPr>
        <p:spPr>
          <a:xfrm>
            <a:off x="703385" y="1090246"/>
            <a:ext cx="90033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So,    Question:  type int is something like the set {-X, . . ,+X}  if all elements are natural numbers?</a:t>
            </a:r>
          </a:p>
          <a:p>
            <a:endParaRPr lang="en-US" sz="3600" dirty="0"/>
          </a:p>
          <a:p>
            <a:r>
              <a:rPr lang="en-US" sz="3600" dirty="0"/>
              <a:t>Many people would say yes!  But it is wrong,</a:t>
            </a:r>
          </a:p>
          <a:p>
            <a:endParaRPr lang="en-US" sz="3600" dirty="0"/>
          </a:p>
          <a:p>
            <a:r>
              <a:rPr lang="en-US" sz="3600" dirty="0"/>
              <a:t>A type is a set of values PLUS a set of operators</a:t>
            </a:r>
          </a:p>
          <a:p>
            <a:endParaRPr lang="en-US" sz="3600" dirty="0"/>
          </a:p>
          <a:p>
            <a:r>
              <a:rPr lang="en-US" sz="3600" dirty="0"/>
              <a:t>Type int is {-X, . . ,+X}   and { =, - ,/ ,%, *, &gt;, &lt;, …}</a:t>
            </a:r>
          </a:p>
        </p:txBody>
      </p:sp>
    </p:spTree>
    <p:extLst>
      <p:ext uri="{BB962C8B-B14F-4D97-AF65-F5344CB8AC3E}">
        <p14:creationId xmlns:p14="http://schemas.microsoft.com/office/powerpoint/2010/main" val="471220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04B7C-C59C-44C0-9DE7-14D12412C3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GB"/>
              <a:t>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912A-E2F5-47B2-97BB-4B371A53A06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75982" y="1446804"/>
            <a:ext cx="4426921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What are the types of the values: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10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-5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2.5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0.0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5.0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2430DE-2D75-4CD5-A92F-C0B6D0CD117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427000" y="1330131"/>
            <a:ext cx="4426921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What are the types of the resulting values: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1 + 2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1 + 2.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10 * 20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1.0 * 2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2.5 – 0.5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6 / 2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5.0 /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1340-7F09-4AAC-99EE-F6FD65C8EE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91895" y="130164"/>
            <a:ext cx="7870826" cy="677104"/>
          </a:xfrm>
        </p:spPr>
        <p:txBody>
          <a:bodyPr>
            <a:spAutoFit/>
          </a:bodyPr>
          <a:lstStyle/>
          <a:p>
            <a:pPr lvl="0"/>
            <a:r>
              <a:rPr lang="en-GB"/>
              <a:t>Even more operators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37FD4-C13A-4F96-9F92-512FBB6C5B7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492" y="877138"/>
            <a:ext cx="9071643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Integer division (the floor of the regular division)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5 // 2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2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Remainder of integer division (modulo)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5 % 2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>
                <a:highlight>
                  <a:srgbClr val="FFFF00"/>
                </a:highlight>
              </a:rPr>
              <a:t>Python takes the floor of division so, be careful with negative numbers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-5 // 2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-3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-5 % 2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5 % -2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-1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CF5A009-163E-44E7-9947-5D684AD16D86}"/>
              </a:ext>
            </a:extLst>
          </p:cNvPr>
          <p:cNvSpPr/>
          <p:nvPr/>
        </p:nvSpPr>
        <p:spPr>
          <a:xfrm>
            <a:off x="3718782" y="3966840"/>
            <a:ext cx="71999" cy="431999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5400"/>
              <a:gd name="f10" fmla="val 10800"/>
              <a:gd name="f11" fmla="val 16200"/>
              <a:gd name="f12" fmla="val -2147483647"/>
              <a:gd name="f13" fmla="val 2147483647"/>
              <a:gd name="f14" fmla="+- 0 0 0"/>
              <a:gd name="f15" fmla="*/ f5 1 21600"/>
              <a:gd name="f16" fmla="*/ f6 1 21600"/>
              <a:gd name="f17" fmla="val f7"/>
              <a:gd name="f18" fmla="val f8"/>
              <a:gd name="f19" fmla="pin 0 f0 5400"/>
              <a:gd name="f20" fmla="pin 0 f1 21600"/>
              <a:gd name="f21" fmla="*/ f14 f2 1"/>
              <a:gd name="f22" fmla="+- f18 0 f17"/>
              <a:gd name="f23" fmla="val f19"/>
              <a:gd name="f24" fmla="val f20"/>
              <a:gd name="f25" fmla="*/ f19 f16 1"/>
              <a:gd name="f26" fmla="*/ 21600 f15 1"/>
              <a:gd name="f27" fmla="*/ f20 f16 1"/>
              <a:gd name="f28" fmla="*/ f21 1 f4"/>
              <a:gd name="f29" fmla="*/ f22 1 21600"/>
              <a:gd name="f30" fmla="*/ f23 1 2"/>
              <a:gd name="f31" fmla="+- 21600 0 f23"/>
              <a:gd name="f32" fmla="*/ f23 10000 1"/>
              <a:gd name="f33" fmla="+- f24 0 f23"/>
              <a:gd name="f34" fmla="+- f24 f23 0"/>
              <a:gd name="f35" fmla="+- f28 0 f3"/>
              <a:gd name="f36" fmla="*/ 10800 f29 1"/>
              <a:gd name="f37" fmla="*/ 0 f29 1"/>
              <a:gd name="f38" fmla="*/ 7800 f29 1"/>
              <a:gd name="f39" fmla="*/ 21600 f29 1"/>
              <a:gd name="f40" fmla="+- f24 0 f30"/>
              <a:gd name="f41" fmla="+- f24 f30 0"/>
              <a:gd name="f42" fmla="+- 21600 0 f30"/>
              <a:gd name="f43" fmla="*/ f32 1 31953"/>
              <a:gd name="f44" fmla="+- 21600 0 f43"/>
              <a:gd name="f45" fmla="*/ f36 1 f29"/>
              <a:gd name="f46" fmla="*/ f37 1 f29"/>
              <a:gd name="f47" fmla="*/ f39 1 f29"/>
              <a:gd name="f48" fmla="*/ f38 1 f29"/>
              <a:gd name="f49" fmla="*/ f43 f16 1"/>
              <a:gd name="f50" fmla="*/ f45 f15 1"/>
              <a:gd name="f51" fmla="*/ f46 f15 1"/>
              <a:gd name="f52" fmla="*/ f48 f15 1"/>
              <a:gd name="f53" fmla="*/ f44 f16 1"/>
              <a:gd name="f54" fmla="*/ f46 f16 1"/>
              <a:gd name="f55" fmla="*/ f47 f16 1"/>
              <a:gd name="f56" fmla="*/ f47 f15 1"/>
              <a:gd name="f57" fmla="*/ f45 f16 1"/>
            </a:gdLst>
            <a:ahLst>
              <a:ahXY gdRefY="f0" minY="f7" maxY="f9">
                <a:pos x="f50" y="f25"/>
              </a:ahXY>
              <a:ahXY gdRefY="f1" minY="f7" maxY="f8">
                <a:pos x="f26" y="f2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51" y="f54"/>
              </a:cxn>
              <a:cxn ang="f35">
                <a:pos x="f51" y="f55"/>
              </a:cxn>
              <a:cxn ang="f35">
                <a:pos x="f56" y="f57"/>
              </a:cxn>
            </a:cxnLst>
            <a:rect l="f51" t="f49" r="f52" b="f53"/>
            <a:pathLst>
              <a:path w="21600" h="21600">
                <a:moveTo>
                  <a:pt x="f7" y="f7"/>
                </a:moveTo>
                <a:cubicBezTo>
                  <a:pt x="f9" y="f7"/>
                  <a:pt x="f10" y="f30"/>
                  <a:pt x="f10" y="f23"/>
                </a:cubicBezTo>
                <a:lnTo>
                  <a:pt x="f10" y="f33"/>
                </a:lnTo>
                <a:cubicBezTo>
                  <a:pt x="f10" y="f40"/>
                  <a:pt x="f11" y="f24"/>
                  <a:pt x="f8" y="f24"/>
                </a:cubicBezTo>
                <a:cubicBezTo>
                  <a:pt x="f11" y="f24"/>
                  <a:pt x="f10" y="f41"/>
                  <a:pt x="f10" y="f34"/>
                </a:cubicBezTo>
                <a:lnTo>
                  <a:pt x="f10" y="f31"/>
                </a:lnTo>
                <a:cubicBezTo>
                  <a:pt x="f10" y="f42"/>
                  <a:pt x="f9" y="f8"/>
                  <a:pt x="f7" y="f8"/>
                </a:cubicBez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36BECA-4BE1-4951-B837-D82C5DBF7D59}"/>
              </a:ext>
            </a:extLst>
          </p:cNvPr>
          <p:cNvSpPr txBox="1"/>
          <p:nvPr/>
        </p:nvSpPr>
        <p:spPr>
          <a:xfrm>
            <a:off x="3715225" y="4527468"/>
            <a:ext cx="2273042" cy="34631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just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1 less than expected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45379DD-416A-4715-BA08-3D520CFB6835}"/>
              </a:ext>
            </a:extLst>
          </p:cNvPr>
          <p:cNvSpPr/>
          <p:nvPr/>
        </p:nvSpPr>
        <p:spPr>
          <a:xfrm>
            <a:off x="3476621" y="5472446"/>
            <a:ext cx="71999" cy="899998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5400"/>
              <a:gd name="f10" fmla="val 10800"/>
              <a:gd name="f11" fmla="val 16200"/>
              <a:gd name="f12" fmla="val -2147483647"/>
              <a:gd name="f13" fmla="val 2147483647"/>
              <a:gd name="f14" fmla="+- 0 0 0"/>
              <a:gd name="f15" fmla="*/ f5 1 21600"/>
              <a:gd name="f16" fmla="*/ f6 1 21600"/>
              <a:gd name="f17" fmla="val f7"/>
              <a:gd name="f18" fmla="val f8"/>
              <a:gd name="f19" fmla="pin 0 f0 5400"/>
              <a:gd name="f20" fmla="pin 0 f1 21600"/>
              <a:gd name="f21" fmla="*/ f14 f2 1"/>
              <a:gd name="f22" fmla="+- f18 0 f17"/>
              <a:gd name="f23" fmla="val f19"/>
              <a:gd name="f24" fmla="val f20"/>
              <a:gd name="f25" fmla="*/ f19 f16 1"/>
              <a:gd name="f26" fmla="*/ 21600 f15 1"/>
              <a:gd name="f27" fmla="*/ f20 f16 1"/>
              <a:gd name="f28" fmla="*/ f21 1 f4"/>
              <a:gd name="f29" fmla="*/ f22 1 21600"/>
              <a:gd name="f30" fmla="*/ f23 1 2"/>
              <a:gd name="f31" fmla="+- 21600 0 f23"/>
              <a:gd name="f32" fmla="*/ f23 10000 1"/>
              <a:gd name="f33" fmla="+- f24 0 f23"/>
              <a:gd name="f34" fmla="+- f24 f23 0"/>
              <a:gd name="f35" fmla="+- f28 0 f3"/>
              <a:gd name="f36" fmla="*/ 10800 f29 1"/>
              <a:gd name="f37" fmla="*/ 0 f29 1"/>
              <a:gd name="f38" fmla="*/ 7800 f29 1"/>
              <a:gd name="f39" fmla="*/ 21600 f29 1"/>
              <a:gd name="f40" fmla="+- f24 0 f30"/>
              <a:gd name="f41" fmla="+- f24 f30 0"/>
              <a:gd name="f42" fmla="+- 21600 0 f30"/>
              <a:gd name="f43" fmla="*/ f32 1 31953"/>
              <a:gd name="f44" fmla="+- 21600 0 f43"/>
              <a:gd name="f45" fmla="*/ f36 1 f29"/>
              <a:gd name="f46" fmla="*/ f37 1 f29"/>
              <a:gd name="f47" fmla="*/ f39 1 f29"/>
              <a:gd name="f48" fmla="*/ f38 1 f29"/>
              <a:gd name="f49" fmla="*/ f43 f16 1"/>
              <a:gd name="f50" fmla="*/ f45 f15 1"/>
              <a:gd name="f51" fmla="*/ f46 f15 1"/>
              <a:gd name="f52" fmla="*/ f48 f15 1"/>
              <a:gd name="f53" fmla="*/ f44 f16 1"/>
              <a:gd name="f54" fmla="*/ f46 f16 1"/>
              <a:gd name="f55" fmla="*/ f47 f16 1"/>
              <a:gd name="f56" fmla="*/ f47 f15 1"/>
              <a:gd name="f57" fmla="*/ f45 f16 1"/>
            </a:gdLst>
            <a:ahLst>
              <a:ahXY gdRefY="f0" minY="f7" maxY="f9">
                <a:pos x="f50" y="f25"/>
              </a:ahXY>
              <a:ahXY gdRefY="f1" minY="f7" maxY="f8">
                <a:pos x="f26" y="f2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51" y="f54"/>
              </a:cxn>
              <a:cxn ang="f35">
                <a:pos x="f51" y="f55"/>
              </a:cxn>
              <a:cxn ang="f35">
                <a:pos x="f56" y="f57"/>
              </a:cxn>
            </a:cxnLst>
            <a:rect l="f51" t="f49" r="f52" b="f53"/>
            <a:pathLst>
              <a:path w="21600" h="21600">
                <a:moveTo>
                  <a:pt x="f7" y="f7"/>
                </a:moveTo>
                <a:cubicBezTo>
                  <a:pt x="f9" y="f7"/>
                  <a:pt x="f10" y="f30"/>
                  <a:pt x="f10" y="f23"/>
                </a:cubicBezTo>
                <a:lnTo>
                  <a:pt x="f10" y="f33"/>
                </a:lnTo>
                <a:cubicBezTo>
                  <a:pt x="f10" y="f40"/>
                  <a:pt x="f11" y="f24"/>
                  <a:pt x="f8" y="f24"/>
                </a:cubicBezTo>
                <a:cubicBezTo>
                  <a:pt x="f11" y="f24"/>
                  <a:pt x="f10" y="f41"/>
                  <a:pt x="f10" y="f34"/>
                </a:cubicBezTo>
                <a:lnTo>
                  <a:pt x="f10" y="f31"/>
                </a:lnTo>
                <a:cubicBezTo>
                  <a:pt x="f10" y="f42"/>
                  <a:pt x="f9" y="f8"/>
                  <a:pt x="f7" y="f8"/>
                </a:cubicBez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5F7A21-44C0-4B76-86FF-657AF6373BEE}"/>
              </a:ext>
            </a:extLst>
          </p:cNvPr>
          <p:cNvSpPr txBox="1"/>
          <p:nvPr/>
        </p:nvSpPr>
        <p:spPr>
          <a:xfrm>
            <a:off x="3548621" y="5739213"/>
            <a:ext cx="6293522" cy="36648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Result of </a:t>
            </a: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ourier 10 Pitch" pitchFamily="17"/>
                <a:ea typeface="DejaVu Sans" pitchFamily="2"/>
                <a:cs typeface="FreeSans" pitchFamily="2"/>
              </a:rPr>
              <a:t>%</a:t>
            </a: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, always matches the sign of the second operand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852466-95C6-43A7-B4D3-BDE4D15E563E}"/>
              </a:ext>
            </a:extLst>
          </p:cNvPr>
          <p:cNvSpPr/>
          <p:nvPr/>
        </p:nvSpPr>
        <p:spPr>
          <a:xfrm>
            <a:off x="4093485" y="2780205"/>
            <a:ext cx="3528002" cy="50399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729FCF"/>
          </a:solidFill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Technical note: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ourier 10 Pitch" pitchFamily="17"/>
                <a:ea typeface="DejaVu Sans" pitchFamily="2"/>
                <a:cs typeface="FreeSans" pitchFamily="2"/>
              </a:rPr>
              <a:t>a/b = (a//b) * b + (a%b)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50FD4-7E2A-4BC0-8517-424382E216A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Even more operators (cont…)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EAAFB-4779-4AC2-BE12-91D54C95EC0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Exponentiation (power)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2 ** 8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256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Negation (unary minus ≠ binary minus)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- 3 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-3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- - 3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5500B-7E2C-4DFC-A2B0-ECCFA7FFAFD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Type</a:t>
            </a:r>
            <a:br>
              <a:rPr lang="en-GB"/>
            </a:br>
            <a:r>
              <a:rPr lang="en-GB"/>
              <a:t>Formal Definition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67424-711B-4326-BE15-DC9FB2CED08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In computing, a type consists of two things: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 set of values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 set of operations that can be performed on those values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As example, let’s take the type </a:t>
            </a:r>
            <a:r>
              <a:rPr lang="en-GB" sz="2800" dirty="0">
                <a:latin typeface="Courier 10 Pitch" pitchFamily="17"/>
              </a:rPr>
              <a:t>int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Values:  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…, -3, -2, -1, 0, 1, 2, 3, …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Operations:  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+, -, *, /, //, %, **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The same operations can be applied to type </a:t>
            </a:r>
            <a:r>
              <a:rPr lang="en-GB" sz="2800" dirty="0">
                <a:latin typeface="Courier 10 Pitch" pitchFamily="17"/>
              </a:rPr>
              <a:t>float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691C609-2771-4C2A-972E-0766BAEFA0B7}"/>
              </a:ext>
            </a:extLst>
          </p:cNvPr>
          <p:cNvSpPr/>
          <p:nvPr/>
        </p:nvSpPr>
        <p:spPr>
          <a:xfrm>
            <a:off x="7837020" y="100263"/>
            <a:ext cx="2015995" cy="1043997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729FCF"/>
          </a:solidFill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Minimum/maximum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limited by memory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v</a:t>
            </a:r>
            <a:r>
              <a:rPr lang="en-GB" sz="1800" b="0" i="1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s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Gang Style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F6864-E5AD-4B19-917F-EB03B9F99C4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6" y="-137590"/>
            <a:ext cx="9071643" cy="1262155"/>
          </a:xfrm>
        </p:spPr>
        <p:txBody>
          <a:bodyPr/>
          <a:lstStyle/>
          <a:p>
            <a:pPr lvl="0"/>
            <a:r>
              <a:rPr lang="en-GB" dirty="0"/>
              <a:t>Precision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2E792-3D7A-4E05-B8A8-B1142B38959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6" y="1179429"/>
            <a:ext cx="9071643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As computer resources are finite, it is not possible to represent a </a:t>
            </a:r>
            <a:r>
              <a:rPr lang="en-GB" dirty="0">
                <a:latin typeface="Courier 10 Pitch" pitchFamily="17"/>
              </a:rPr>
              <a:t>float</a:t>
            </a:r>
            <a:r>
              <a:rPr lang="en-GB" dirty="0"/>
              <a:t> with infinite precision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Example: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2 / 3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0.6666666666666666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3 * 0.6666666666666666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2.0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3 * 0.6666666666666667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2.0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1000000 + 0.00000000001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1000000.0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7EF6E5D-9B56-4E67-8FB0-FC953C3EFBC4}"/>
              </a:ext>
            </a:extLst>
          </p:cNvPr>
          <p:cNvSpPr/>
          <p:nvPr/>
        </p:nvSpPr>
        <p:spPr>
          <a:xfrm>
            <a:off x="6596783" y="3779836"/>
            <a:ext cx="2412004" cy="64799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729FCF"/>
          </a:solidFill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Should have an infinite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number of 6s!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D18E-165A-42F4-8BDF-E926A13FC02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0"/>
            <a:ext cx="9071643" cy="774917"/>
          </a:xfrm>
        </p:spPr>
        <p:txBody>
          <a:bodyPr/>
          <a:lstStyle/>
          <a:p>
            <a:pPr lvl="0"/>
            <a:r>
              <a:rPr lang="en-GB"/>
              <a:t>A tip about precision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C2217-2357-488F-87FF-1F93E70F99F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774917"/>
            <a:ext cx="9071643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In order to minimize loss of precision, </a:t>
            </a:r>
            <a:r>
              <a:rPr lang="en-GB" sz="2800" b="1" dirty="0"/>
              <a:t>start by</a:t>
            </a:r>
            <a:r>
              <a:rPr lang="en-GB" sz="2800" dirty="0"/>
              <a:t> operating the </a:t>
            </a:r>
            <a:r>
              <a:rPr lang="en-GB" sz="2800" b="1" dirty="0"/>
              <a:t>smallest values</a:t>
            </a:r>
            <a:r>
              <a:rPr lang="en-GB" sz="2800" dirty="0"/>
              <a:t>, only then, operate the result with the bigger values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&gt;&gt;&gt; 1000000 + 0.00000000001 + 0.00000000005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1000000.0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&gt;&gt;&gt; 0.00000000001 + 0.00000000005 + 1000000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1000000.0000000001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Alternatively, force that all the small values are added together, before adding to the bigger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&gt;&gt;&gt; 1000000 + (0.00000000001 + 0.00000000005)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1000000.0000000001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CA69D-364C-4EF7-9CB2-183946C4CA6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Let’s solve a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92BD2-9AAC-4FE1-A9EB-E85234E39D7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Convert 200° Fahrenheit to Celsius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HOW: subtract 32 from the temperature in Fahrenheit and, then, multiply by 5÷9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Would this formula be OK?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200 – 32 *  5 / 9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182.22222222222223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If I ask Google, it says that 200 F is 93.3333333 C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What went wrong?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35A5F-5657-4ED4-ADB8-BF8FA2033983}"/>
              </a:ext>
            </a:extLst>
          </p:cNvPr>
          <p:cNvSpPr txBox="1"/>
          <p:nvPr/>
        </p:nvSpPr>
        <p:spPr>
          <a:xfrm flipH="1">
            <a:off x="6459847" y="3176432"/>
            <a:ext cx="25579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Do you know what is F and C degrees?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05AB-1EBC-498F-A41F-D98C060D03F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Operator precedences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18521-BE74-492D-A005-41D6048D132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The same as we learnt at primary school</a:t>
            </a:r>
          </a:p>
          <a:p>
            <a:pPr lvl="1" hangingPunct="0">
              <a:spcBef>
                <a:spcPts val="1415"/>
              </a:spcBef>
              <a:buAutoNum type="arabicPeriod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Exponentiation (highest precedence)</a:t>
            </a:r>
          </a:p>
          <a:p>
            <a:pPr lvl="1" hangingPunct="0">
              <a:spcBef>
                <a:spcPts val="1415"/>
              </a:spcBef>
              <a:buAutoNum type="arabicPeriod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Negation</a:t>
            </a:r>
          </a:p>
          <a:p>
            <a:pPr lvl="1" hangingPunct="0">
              <a:spcBef>
                <a:spcPts val="1415"/>
              </a:spcBef>
              <a:buAutoNum type="arabicPeriod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Division (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/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or 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//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or 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%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) and multiplication</a:t>
            </a:r>
          </a:p>
          <a:p>
            <a:pPr lvl="1" hangingPunct="0">
              <a:spcBef>
                <a:spcPts val="1415"/>
              </a:spcBef>
              <a:buAutoNum type="arabicPeriod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Addition and subtraction (lowest precedence)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May be altered by the use of parenthesis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Example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-2 * (3 + 2**3) + 6 / 2 – 3 %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15AF-ECA0-433C-8112-AF9D53D22B0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0"/>
            <a:ext cx="9071643" cy="1262155"/>
          </a:xfrm>
        </p:spPr>
        <p:txBody>
          <a:bodyPr/>
          <a:lstStyle/>
          <a:p>
            <a:pPr lvl="0"/>
            <a:r>
              <a:rPr lang="en-GB"/>
              <a:t>Expression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3519A-DDEC-42D7-91AA-ACE70D072B3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963128"/>
            <a:ext cx="9071643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Operators with same precedence are applied left to right, except for exponentiation that is applied right to left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Therefore: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1 + 2 - 3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is the same as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(1 + 2) – 3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Even when parenthesis aren’t needed, it may be a good idea to use them to make complex expressions more readable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For simple expressions, avoid unnecessary parenthesis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8CB7E-AA52-4521-A868-03BBCD28EA9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Back to the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1DEBB-3374-459D-B377-C9D4C47AAD6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Convert 200° Fahrenheit to Celsius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to: subtract 32 from the temperature in Fahrenheit and, then, multiply by 5÷9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to fix this formula?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200 – 32 *  5 / 9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182.22222222222223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(200 – 32) * 5 / 9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93.33333333333333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6BEAE-4A14-4D28-8831-57E2987AC81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Remembering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04517-8F7D-4E10-8964-038C3B026EF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63477"/>
            <a:ext cx="9071643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Let’s say we need to convert to Celsius, several temperatures in Fahrenheit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We would need to modify the formula for each temperature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(200 – 32) * 5 / 9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(250 – 32) * 5 / 9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(300 – 32) * 5 / 9</a:t>
            </a:r>
            <a:b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…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Solution: store the temperature in a “box”, and use the “box” instead of the value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00C7A5A-EF53-4491-942B-4377C1472187}"/>
              </a:ext>
            </a:extLst>
          </p:cNvPr>
          <p:cNvSpPr/>
          <p:nvPr/>
        </p:nvSpPr>
        <p:spPr>
          <a:xfrm>
            <a:off x="7775636" y="4938592"/>
            <a:ext cx="1799996" cy="57599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729FCF"/>
          </a:solidFill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Calculators have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the MEM button.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A31D9-E73E-40DB-8B33-275184B0A5D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4492" y="0"/>
            <a:ext cx="9071643" cy="907551"/>
          </a:xfrm>
        </p:spPr>
        <p:txBody>
          <a:bodyPr/>
          <a:lstStyle/>
          <a:p>
            <a:pPr lvl="0"/>
            <a:r>
              <a:rPr lang="en-GB"/>
              <a:t>A “box” in a computer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8B7FF-A8EB-4D9B-A0C0-92588748811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973" y="794522"/>
            <a:ext cx="9071643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The correct name is VARIABLE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A variable is a name that refers to a value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It can be created by using the assignment operator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20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fahrenheit</a:t>
            </a: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= 200</a:t>
            </a:r>
            <a:b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20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fahrenheit</a:t>
            </a:r>
            <a:b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200</a:t>
            </a:r>
            <a:b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(</a:t>
            </a:r>
            <a:r>
              <a:rPr lang="en-GB" sz="20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fahrenheit</a:t>
            </a: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- 32) * 5 / 9</a:t>
            </a:r>
            <a:b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93.33333333333333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20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fahrenheit</a:t>
            </a: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= 250</a:t>
            </a:r>
            <a:b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(</a:t>
            </a:r>
            <a:r>
              <a:rPr lang="en-GB" sz="20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fahrenheit</a:t>
            </a: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- 32) * 5 / 9</a:t>
            </a:r>
            <a:b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121.11111111111111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A variable can be used everywhere values are used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Whenever Python “sees” a variable, it replaces it by the value it refers to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1D5AE06-C32C-4400-B2BD-0FD97FBA276F}"/>
              </a:ext>
            </a:extLst>
          </p:cNvPr>
          <p:cNvSpPr/>
          <p:nvPr/>
        </p:nvSpPr>
        <p:spPr>
          <a:xfrm>
            <a:off x="7192009" y="3053214"/>
            <a:ext cx="2105643" cy="503998"/>
          </a:xfrm>
          <a:custGeom>
            <a:avLst>
              <a:gd name="f0" fmla="val -27478"/>
              <a:gd name="f1" fmla="val -4301"/>
              <a:gd name="f2" fmla="val -21252"/>
              <a:gd name="f3" fmla="val 8541"/>
              <a:gd name="f4" fmla="val -919"/>
              <a:gd name="f5" fmla="val 8541"/>
            </a:avLst>
            <a:gdLst>
              <a:gd name="f6" fmla="val w"/>
              <a:gd name="f7" fmla="val h"/>
              <a:gd name="f8" fmla="val 0"/>
              <a:gd name="f9" fmla="val 21600"/>
              <a:gd name="f10" fmla="val 2147483647"/>
              <a:gd name="f11" fmla="val -2147483647"/>
              <a:gd name="f12" fmla="*/ f6 1 21600"/>
              <a:gd name="f13" fmla="*/ f7 1 21600"/>
              <a:gd name="f14" fmla="val f8"/>
              <a:gd name="f15" fmla="val f9"/>
              <a:gd name="f16" fmla="pin -2147483647 f0 2147483647"/>
              <a:gd name="f17" fmla="pin -2147483647 f1 2147483647"/>
              <a:gd name="f18" fmla="pin -2147483647 f2 2147483647"/>
              <a:gd name="f19" fmla="pin -2147483647 f3 2147483647"/>
              <a:gd name="f20" fmla="pin -2147483647 f4 2147483647"/>
              <a:gd name="f21" fmla="pin -2147483647 f5 2147483647"/>
              <a:gd name="f22" fmla="+- f15 0 f14"/>
              <a:gd name="f23" fmla="val f16"/>
              <a:gd name="f24" fmla="val f17"/>
              <a:gd name="f25" fmla="val f18"/>
              <a:gd name="f26" fmla="val f19"/>
              <a:gd name="f27" fmla="val f20"/>
              <a:gd name="f28" fmla="val f21"/>
              <a:gd name="f29" fmla="*/ f16 f12 1"/>
              <a:gd name="f30" fmla="*/ f17 f13 1"/>
              <a:gd name="f31" fmla="*/ f18 f12 1"/>
              <a:gd name="f32" fmla="*/ f19 f13 1"/>
              <a:gd name="f33" fmla="*/ f20 f12 1"/>
              <a:gd name="f34" fmla="*/ f21 f13 1"/>
              <a:gd name="f35" fmla="*/ f22 1 21600"/>
              <a:gd name="f36" fmla="*/ f14 1 f35"/>
              <a:gd name="f37" fmla="*/ f15 1 f35"/>
              <a:gd name="f38" fmla="*/ f36 f12 1"/>
              <a:gd name="f39" fmla="*/ f37 f12 1"/>
              <a:gd name="f40" fmla="*/ f37 f13 1"/>
              <a:gd name="f41" fmla="*/ f36 f13 1"/>
            </a:gdLst>
            <a:ahLst>
              <a:ahXY gdRefX="f0" minX="f11" maxX="f10" gdRefY="f1" minY="f11" maxY="f10">
                <a:pos x="f29" y="f30"/>
              </a:ahXY>
              <a:ahXY gdRefX="f2" minX="f11" maxX="f10" gdRefY="f3" minY="f11" maxY="f10">
                <a:pos x="f31" y="f32"/>
              </a:ahXY>
              <a:ahXY gdRefX="f4" minX="f11" maxX="f10" gdRefY="f5" minY="f11" maxY="f10">
                <a:pos x="f33" y="f34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8" t="f41" r="f39" b="f40"/>
            <a:pathLst>
              <a:path w="21600" h="21600">
                <a:moveTo>
                  <a:pt x="f8" y="f8"/>
                </a:moveTo>
                <a:lnTo>
                  <a:pt x="f9" y="f8"/>
                </a:lnTo>
                <a:lnTo>
                  <a:pt x="f9" y="f9"/>
                </a:lnTo>
                <a:lnTo>
                  <a:pt x="f8" y="f9"/>
                </a:lnTo>
                <a:close/>
              </a:path>
              <a:path w="21600" h="21600">
                <a:moveTo>
                  <a:pt x="f23" y="f24"/>
                </a:moveTo>
                <a:lnTo>
                  <a:pt x="f25" y="f26"/>
                </a:lnTo>
              </a:path>
              <a:path w="21600" h="21600">
                <a:moveTo>
                  <a:pt x="f25" y="f26"/>
                </a:moveTo>
                <a:lnTo>
                  <a:pt x="f27" y="f28"/>
                </a:lnTo>
              </a:path>
            </a:pathLst>
          </a:custGeom>
          <a:solidFill>
            <a:srgbClr val="729FCF"/>
          </a:solidFill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This is </a:t>
            </a: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assignment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,</a:t>
            </a:r>
            <a:b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not equality!!!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E6ABDA9-3261-4D55-8D2E-5617745B0AB3}"/>
              </a:ext>
            </a:extLst>
          </p:cNvPr>
          <p:cNvSpPr/>
          <p:nvPr/>
        </p:nvSpPr>
        <p:spPr>
          <a:xfrm>
            <a:off x="7784973" y="4506460"/>
            <a:ext cx="2069643" cy="575998"/>
          </a:xfrm>
          <a:custGeom>
            <a:avLst>
              <a:gd name="f0" fmla="val -23117"/>
              <a:gd name="f1" fmla="val 10361"/>
              <a:gd name="f2" fmla="val -13658"/>
              <a:gd name="f3" fmla="val 10793"/>
              <a:gd name="f4" fmla="val -939"/>
              <a:gd name="f5" fmla="val 7474"/>
            </a:avLst>
            <a:gdLst>
              <a:gd name="f6" fmla="val w"/>
              <a:gd name="f7" fmla="val h"/>
              <a:gd name="f8" fmla="val 0"/>
              <a:gd name="f9" fmla="val 21600"/>
              <a:gd name="f10" fmla="val 2147483647"/>
              <a:gd name="f11" fmla="val -2147483647"/>
              <a:gd name="f12" fmla="*/ f6 1 21600"/>
              <a:gd name="f13" fmla="*/ f7 1 21600"/>
              <a:gd name="f14" fmla="val f8"/>
              <a:gd name="f15" fmla="val f9"/>
              <a:gd name="f16" fmla="pin -2147483647 f0 2147483647"/>
              <a:gd name="f17" fmla="pin -2147483647 f1 2147483647"/>
              <a:gd name="f18" fmla="pin -2147483647 f2 2147483647"/>
              <a:gd name="f19" fmla="pin -2147483647 f3 2147483647"/>
              <a:gd name="f20" fmla="pin -2147483647 f4 2147483647"/>
              <a:gd name="f21" fmla="pin -2147483647 f5 2147483647"/>
              <a:gd name="f22" fmla="+- f15 0 f14"/>
              <a:gd name="f23" fmla="val f16"/>
              <a:gd name="f24" fmla="val f17"/>
              <a:gd name="f25" fmla="val f18"/>
              <a:gd name="f26" fmla="val f19"/>
              <a:gd name="f27" fmla="val f20"/>
              <a:gd name="f28" fmla="val f21"/>
              <a:gd name="f29" fmla="*/ f16 f12 1"/>
              <a:gd name="f30" fmla="*/ f17 f13 1"/>
              <a:gd name="f31" fmla="*/ f18 f12 1"/>
              <a:gd name="f32" fmla="*/ f19 f13 1"/>
              <a:gd name="f33" fmla="*/ f20 f12 1"/>
              <a:gd name="f34" fmla="*/ f21 f13 1"/>
              <a:gd name="f35" fmla="*/ f22 1 21600"/>
              <a:gd name="f36" fmla="*/ f14 1 f35"/>
              <a:gd name="f37" fmla="*/ f15 1 f35"/>
              <a:gd name="f38" fmla="*/ f36 f12 1"/>
              <a:gd name="f39" fmla="*/ f37 f12 1"/>
              <a:gd name="f40" fmla="*/ f37 f13 1"/>
              <a:gd name="f41" fmla="*/ f36 f13 1"/>
            </a:gdLst>
            <a:ahLst>
              <a:ahXY gdRefX="f0" minX="f11" maxX="f10" gdRefY="f1" minY="f11" maxY="f10">
                <a:pos x="f29" y="f30"/>
              </a:ahXY>
              <a:ahXY gdRefX="f2" minX="f11" maxX="f10" gdRefY="f3" minY="f11" maxY="f10">
                <a:pos x="f31" y="f32"/>
              </a:ahXY>
              <a:ahXY gdRefX="f4" minX="f11" maxX="f10" gdRefY="f5" minY="f11" maxY="f10">
                <a:pos x="f33" y="f34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8" t="f41" r="f39" b="f40"/>
            <a:pathLst>
              <a:path w="21600" h="21600">
                <a:moveTo>
                  <a:pt x="f8" y="f8"/>
                </a:moveTo>
                <a:lnTo>
                  <a:pt x="f9" y="f8"/>
                </a:lnTo>
                <a:lnTo>
                  <a:pt x="f9" y="f9"/>
                </a:lnTo>
                <a:lnTo>
                  <a:pt x="f8" y="f9"/>
                </a:lnTo>
                <a:close/>
              </a:path>
              <a:path w="21600" h="21600">
                <a:moveTo>
                  <a:pt x="f23" y="f24"/>
                </a:moveTo>
                <a:lnTo>
                  <a:pt x="f25" y="f26"/>
                </a:lnTo>
              </a:path>
              <a:path w="21600" h="21600">
                <a:moveTo>
                  <a:pt x="f25" y="f26"/>
                </a:moveTo>
                <a:lnTo>
                  <a:pt x="f27" y="f28"/>
                </a:lnTo>
              </a:path>
            </a:pathLst>
          </a:custGeom>
          <a:solidFill>
            <a:srgbClr val="729FCF"/>
          </a:solidFill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The previous value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is replaced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678A-0CED-44E1-B8A5-6C745353716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Variable names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19234-1DCA-432E-82B4-A25A73B308B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Can use letters, digits and underscore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Cannot start with a digit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Examples of valid names: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age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;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name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34"/>
              </a:rPr>
              <a:t>;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address2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34"/>
              </a:rPr>
              <a:t>;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</a:t>
            </a:r>
            <a:r>
              <a:rPr lang="en-GB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max_height</a:t>
            </a:r>
            <a:endParaRPr lang="en-GB" dirty="0">
              <a:highlight>
                <a:scrgbClr r="0" g="0" b="0">
                  <a:alpha val="0"/>
                </a:scrgbClr>
              </a:highlight>
              <a:latin typeface="Courier 10 Pitch" pitchFamily="17"/>
            </a:endParaRP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Examples of invalid names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2address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34"/>
              </a:rPr>
              <a:t>;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123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34"/>
              </a:rPr>
              <a:t>;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name?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34"/>
              </a:rPr>
              <a:t>;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min height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34"/>
              </a:rPr>
              <a:t>;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max-height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Convention: use lower-case, and separate every new word with underscore </a:t>
            </a:r>
            <a:r>
              <a:rPr lang="en-GB" dirty="0"/>
              <a:t>(</a:t>
            </a:r>
            <a:r>
              <a:rPr lang="en-GB" dirty="0" err="1"/>
              <a:t>underscore_case</a:t>
            </a:r>
            <a:r>
              <a:rPr lang="en-GB" dirty="0"/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EA912-7B1E-4BDE-B580-1F7FED8CA2B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A technical note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17A6F-D254-402E-A339-E8AB7FADDC8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Variable’s values are stored in memory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Every memory location has an address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When a value is “created”, that value resides in memory at a given address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A variable, in reality, contains the  memory address and not the value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Nevertheless, that is transparent to us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To “visualize” what happens in memory: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18"/>
                <a:hlinkClick r:id="rId3"/>
              </a:rPr>
              <a:t>www.pythontutor.com/visualize.html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5D52C66-3AD7-40F7-895E-C938CE504DFC}"/>
              </a:ext>
            </a:extLst>
          </p:cNvPr>
          <p:cNvSpPr/>
          <p:nvPr/>
        </p:nvSpPr>
        <p:spPr>
          <a:xfrm>
            <a:off x="6309360" y="4443984"/>
            <a:ext cx="3771269" cy="100157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729FCF"/>
          </a:solidFill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0" i="0" u="none" strike="noStrike" kern="1200" cap="none" spc="0" baseline="0" dirty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Also good for C/Java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4567D-A530-4B67-AF0A-B86115FA566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GB"/>
              <a:t>What happens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B2C4CA-B8AD-4DB3-8955-427A63C71E8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05361" y="1011783"/>
            <a:ext cx="9071643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In the shell: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fahrenheit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= 30.0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age = 25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In the memory</a:t>
            </a:r>
          </a:p>
          <a:p>
            <a:pPr lvl="0">
              <a:buSzPct val="45000"/>
              <a:buFont typeface="StarSymbol"/>
              <a:buChar char="●"/>
            </a:pPr>
            <a:endParaRPr lang="en-GB" dirty="0"/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The variable, in reality, doesn’t contain the assigned value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It contains the identification of the object in memory (i.e. address) of the object that contains the value (it </a:t>
            </a:r>
            <a:r>
              <a:rPr lang="en-GB" sz="2800" b="1" dirty="0"/>
              <a:t>refers to</a:t>
            </a:r>
            <a:r>
              <a:rPr lang="en-GB" sz="2800" dirty="0"/>
              <a:t> the value)</a:t>
            </a:r>
          </a:p>
          <a:p>
            <a:pPr lvl="0">
              <a:buSzPct val="45000"/>
              <a:buFont typeface="StarSymbol"/>
              <a:buChar char="●"/>
            </a:pPr>
            <a:endParaRPr lang="en-GB" dirty="0"/>
          </a:p>
          <a:p>
            <a:pPr lvl="0">
              <a:buSzPct val="45000"/>
              <a:buFont typeface="StarSymbol"/>
              <a:buChar char="●"/>
            </a:pPr>
            <a:endParaRPr lang="en-GB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E86960-6A91-E2A6-37A3-4BCF23609400}"/>
              </a:ext>
            </a:extLst>
          </p:cNvPr>
          <p:cNvGrpSpPr/>
          <p:nvPr/>
        </p:nvGrpSpPr>
        <p:grpSpPr>
          <a:xfrm>
            <a:off x="3519644" y="2393825"/>
            <a:ext cx="5615997" cy="1620353"/>
            <a:chOff x="1763996" y="3204002"/>
            <a:chExt cx="5615997" cy="162035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C9BCF73-A82D-44B7-961C-90718892B85E}"/>
                </a:ext>
              </a:extLst>
            </p:cNvPr>
            <p:cNvSpPr txBox="1"/>
            <p:nvPr/>
          </p:nvSpPr>
          <p:spPr>
            <a:xfrm>
              <a:off x="1763996" y="3492002"/>
              <a:ext cx="1583996" cy="39599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90004" tIns="44997" rIns="90004" bIns="44997" anchor="t" anchorCtr="0" compatLnSpc="0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ourier 10 Pitch" pitchFamily="17"/>
                  <a:ea typeface="DejaVu Sans" pitchFamily="2"/>
                  <a:cs typeface="FreeSans" pitchFamily="2"/>
                </a:rPr>
                <a:t>fahrenheit</a:t>
              </a: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2F70907-AE58-4F05-87C5-8A25AA98C96E}"/>
                </a:ext>
              </a:extLst>
            </p:cNvPr>
            <p:cNvSpPr/>
            <p:nvPr/>
          </p:nvSpPr>
          <p:spPr>
            <a:xfrm>
              <a:off x="3276002" y="3492002"/>
              <a:ext cx="611998" cy="34631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1600"/>
                <a:gd name="f4" fmla="*/ f0 1 21600"/>
                <a:gd name="f5" fmla="*/ f1 1 21600"/>
                <a:gd name="f6" fmla="val f2"/>
                <a:gd name="f7" fmla="val f3"/>
                <a:gd name="f8" fmla="+- f7 0 f6"/>
                <a:gd name="f9" fmla="*/ f8 1 21600"/>
                <a:gd name="f10" fmla="*/ f6 1 f9"/>
                <a:gd name="f11" fmla="*/ f7 1 f9"/>
                <a:gd name="f12" fmla="*/ f10 f4 1"/>
                <a:gd name="f13" fmla="*/ f11 f4 1"/>
                <a:gd name="f14" fmla="*/ f11 f5 1"/>
                <a:gd name="f15" fmla="*/ f10 f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2" t="f15" r="f13" b="f14"/>
              <a:pathLst>
                <a:path w="21600" h="21600">
                  <a:moveTo>
                    <a:pt x="f2" y="f2"/>
                  </a:moveTo>
                  <a:lnTo>
                    <a:pt x="f3" y="f2"/>
                  </a:lnTo>
                  <a:lnTo>
                    <a:pt x="f3" y="f3"/>
                  </a:lnTo>
                  <a:lnTo>
                    <a:pt x="f2" y="f3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729FCF"/>
            </a:solidFill>
            <a:ln w="0" cap="flat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90004" tIns="44997" rIns="90004" bIns="44997" anchor="ctr" anchorCtr="1" compatLnSpc="0">
              <a:noAutofit/>
            </a:bodyPr>
            <a:lstStyle/>
            <a:p>
              <a:pPr marL="0" marR="0" lvl="0" indent="0" algn="ctr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ourier 10 Pitch" pitchFamily="17"/>
                  <a:ea typeface="DejaVu Sans" pitchFamily="2"/>
                  <a:cs typeface="FreeSans" pitchFamily="2"/>
                </a:rPr>
                <a:t>id1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37F24A7-446E-4842-B83D-AF531A4AD4AA}"/>
                </a:ext>
              </a:extLst>
            </p:cNvPr>
            <p:cNvSpPr/>
            <p:nvPr/>
          </p:nvSpPr>
          <p:spPr>
            <a:xfrm>
              <a:off x="6119996" y="3492002"/>
              <a:ext cx="935998" cy="43199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1600"/>
                <a:gd name="f4" fmla="*/ f0 1 21600"/>
                <a:gd name="f5" fmla="*/ f1 1 21600"/>
                <a:gd name="f6" fmla="val f2"/>
                <a:gd name="f7" fmla="val f3"/>
                <a:gd name="f8" fmla="+- f7 0 f6"/>
                <a:gd name="f9" fmla="*/ f8 1 21600"/>
                <a:gd name="f10" fmla="*/ f6 1 f9"/>
                <a:gd name="f11" fmla="*/ f7 1 f9"/>
                <a:gd name="f12" fmla="*/ f10 f4 1"/>
                <a:gd name="f13" fmla="*/ f11 f4 1"/>
                <a:gd name="f14" fmla="*/ f11 f5 1"/>
                <a:gd name="f15" fmla="*/ f10 f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2" t="f15" r="f13" b="f14"/>
              <a:pathLst>
                <a:path w="21600" h="21600">
                  <a:moveTo>
                    <a:pt x="f2" y="f2"/>
                  </a:moveTo>
                  <a:lnTo>
                    <a:pt x="f3" y="f2"/>
                  </a:lnTo>
                  <a:lnTo>
                    <a:pt x="f3" y="f3"/>
                  </a:lnTo>
                  <a:lnTo>
                    <a:pt x="f2" y="f3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729FCF"/>
            </a:solidFill>
            <a:ln w="0" cap="flat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90004" tIns="44997" rIns="90004" bIns="44997" anchor="ctr" anchorCtr="1" compatLnSpc="0">
              <a:noAutofit/>
            </a:bodyPr>
            <a:lstStyle/>
            <a:p>
              <a:pPr marL="0" marR="0" lvl="0" indent="0" algn="ctr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 dirty="0">
                  <a:solidFill>
                    <a:srgbClr val="000000"/>
                  </a:solidFill>
                  <a:uFillTx/>
                  <a:latin typeface="Courier 10 Pitch" pitchFamily="17"/>
                  <a:ea typeface="DejaVu Sans" pitchFamily="2"/>
                  <a:cs typeface="FreeSans" pitchFamily="2"/>
                </a:rPr>
                <a:t>30.0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2F0C3E-4A6A-4D3D-8AD2-DBAD6C93D4AF}"/>
                </a:ext>
              </a:extLst>
            </p:cNvPr>
            <p:cNvSpPr txBox="1"/>
            <p:nvPr/>
          </p:nvSpPr>
          <p:spPr>
            <a:xfrm>
              <a:off x="5831997" y="3204002"/>
              <a:ext cx="1547996" cy="3556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90004" tIns="44997" rIns="90004" bIns="44997" anchor="t" anchorCtr="1" compatLnSpc="0">
              <a:spAutoFit/>
            </a:bodyPr>
            <a:lstStyle/>
            <a:p>
              <a:pPr marL="0" marR="0" lvl="0" indent="0" algn="ctr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ourier 10 Pitch" pitchFamily="17"/>
                  <a:ea typeface="DejaVu Sans" pitchFamily="2"/>
                  <a:cs typeface="FreeSans" pitchFamily="2"/>
                </a:rPr>
                <a:t>id1:float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DF024F4-BE17-4D10-ABCD-376D181CFDDD}"/>
                </a:ext>
              </a:extLst>
            </p:cNvPr>
            <p:cNvSpPr txBox="1"/>
            <p:nvPr/>
          </p:nvSpPr>
          <p:spPr>
            <a:xfrm>
              <a:off x="2736003" y="4392356"/>
              <a:ext cx="647998" cy="3556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90004" tIns="44997" rIns="90004" bIns="44997" anchor="t" anchorCtr="0" compatLnSpc="0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ourier 10 Pitch" pitchFamily="17"/>
                  <a:ea typeface="DejaVu Sans" pitchFamily="2"/>
                  <a:cs typeface="FreeSans" pitchFamily="2"/>
                </a:rPr>
                <a:t>age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8A32A10-5F0C-491D-BF96-32CB11ECE8A8}"/>
                </a:ext>
              </a:extLst>
            </p:cNvPr>
            <p:cNvSpPr/>
            <p:nvPr/>
          </p:nvSpPr>
          <p:spPr>
            <a:xfrm>
              <a:off x="3276002" y="4392356"/>
              <a:ext cx="611998" cy="34631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1600"/>
                <a:gd name="f4" fmla="*/ f0 1 21600"/>
                <a:gd name="f5" fmla="*/ f1 1 21600"/>
                <a:gd name="f6" fmla="val f2"/>
                <a:gd name="f7" fmla="val f3"/>
                <a:gd name="f8" fmla="+- f7 0 f6"/>
                <a:gd name="f9" fmla="*/ f8 1 21600"/>
                <a:gd name="f10" fmla="*/ f6 1 f9"/>
                <a:gd name="f11" fmla="*/ f7 1 f9"/>
                <a:gd name="f12" fmla="*/ f10 f4 1"/>
                <a:gd name="f13" fmla="*/ f11 f4 1"/>
                <a:gd name="f14" fmla="*/ f11 f5 1"/>
                <a:gd name="f15" fmla="*/ f10 f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2" t="f15" r="f13" b="f14"/>
              <a:pathLst>
                <a:path w="21600" h="21600">
                  <a:moveTo>
                    <a:pt x="f2" y="f2"/>
                  </a:moveTo>
                  <a:lnTo>
                    <a:pt x="f3" y="f2"/>
                  </a:lnTo>
                  <a:lnTo>
                    <a:pt x="f3" y="f3"/>
                  </a:lnTo>
                  <a:lnTo>
                    <a:pt x="f2" y="f3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729FCF"/>
            </a:solidFill>
            <a:ln w="0" cap="flat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90004" tIns="44997" rIns="90004" bIns="44997" anchor="ctr" anchorCtr="1" compatLnSpc="0">
              <a:noAutofit/>
            </a:bodyPr>
            <a:lstStyle/>
            <a:p>
              <a:pPr marL="0" marR="0" lvl="0" indent="0" algn="ctr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ourier 10 Pitch" pitchFamily="17"/>
                  <a:ea typeface="DejaVu Sans" pitchFamily="2"/>
                  <a:cs typeface="FreeSans" pitchFamily="2"/>
                </a:rPr>
                <a:t>id2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9F964CF-E27D-445D-AB1A-D99CEF22C829}"/>
                </a:ext>
              </a:extLst>
            </p:cNvPr>
            <p:cNvSpPr/>
            <p:nvPr/>
          </p:nvSpPr>
          <p:spPr>
            <a:xfrm>
              <a:off x="6119996" y="4392356"/>
              <a:ext cx="935998" cy="43199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1600"/>
                <a:gd name="f4" fmla="*/ f0 1 21600"/>
                <a:gd name="f5" fmla="*/ f1 1 21600"/>
                <a:gd name="f6" fmla="val f2"/>
                <a:gd name="f7" fmla="val f3"/>
                <a:gd name="f8" fmla="+- f7 0 f6"/>
                <a:gd name="f9" fmla="*/ f8 1 21600"/>
                <a:gd name="f10" fmla="*/ f6 1 f9"/>
                <a:gd name="f11" fmla="*/ f7 1 f9"/>
                <a:gd name="f12" fmla="*/ f10 f4 1"/>
                <a:gd name="f13" fmla="*/ f11 f4 1"/>
                <a:gd name="f14" fmla="*/ f11 f5 1"/>
                <a:gd name="f15" fmla="*/ f10 f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2" t="f15" r="f13" b="f14"/>
              <a:pathLst>
                <a:path w="21600" h="21600">
                  <a:moveTo>
                    <a:pt x="f2" y="f2"/>
                  </a:moveTo>
                  <a:lnTo>
                    <a:pt x="f3" y="f2"/>
                  </a:lnTo>
                  <a:lnTo>
                    <a:pt x="f3" y="f3"/>
                  </a:lnTo>
                  <a:lnTo>
                    <a:pt x="f2" y="f3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729FCF"/>
            </a:solidFill>
            <a:ln w="0" cap="flat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90004" tIns="44997" rIns="90004" bIns="44997" anchor="ctr" anchorCtr="1" compatLnSpc="0">
              <a:noAutofit/>
            </a:bodyPr>
            <a:lstStyle/>
            <a:p>
              <a:pPr marL="0" marR="0" lvl="0" indent="0" algn="ctr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ourier 10 Pitch" pitchFamily="17"/>
                  <a:ea typeface="DejaVu Sans" pitchFamily="2"/>
                  <a:cs typeface="FreeSans" pitchFamily="2"/>
                </a:rPr>
                <a:t>25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4D92818-94A8-44B0-A25E-EFA276FDF076}"/>
                </a:ext>
              </a:extLst>
            </p:cNvPr>
            <p:cNvSpPr txBox="1"/>
            <p:nvPr/>
          </p:nvSpPr>
          <p:spPr>
            <a:xfrm>
              <a:off x="5975997" y="4104357"/>
              <a:ext cx="1187997" cy="3556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90004" tIns="44997" rIns="90004" bIns="44997" anchor="t" anchorCtr="1" compatLnSpc="0">
              <a:spAutoFit/>
            </a:bodyPr>
            <a:lstStyle/>
            <a:p>
              <a:pPr marL="0" marR="0" lvl="0" indent="0" algn="ctr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ourier 10 Pitch" pitchFamily="17"/>
                  <a:ea typeface="DejaVu Sans" pitchFamily="2"/>
                  <a:cs typeface="FreeSans" pitchFamily="2"/>
                </a:rPr>
                <a:t>id2:int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2CB0BB5-F2A7-4382-9735-D1DE938AF9D2}"/>
                </a:ext>
              </a:extLst>
            </p:cNvPr>
            <p:cNvSpPr/>
            <p:nvPr/>
          </p:nvSpPr>
          <p:spPr>
            <a:xfrm>
              <a:off x="3924495" y="3778739"/>
              <a:ext cx="2231638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31640"/>
                <a:gd name="f7" fmla="+- 0 0 -360"/>
                <a:gd name="f8" fmla="+- 0 0 -270"/>
                <a:gd name="f9" fmla="+- 0 0 -180"/>
                <a:gd name="f10" fmla="+- 0 0 -90"/>
                <a:gd name="f11" fmla="*/ f3 1 2231640"/>
                <a:gd name="f12" fmla="*/ f4 1 0"/>
                <a:gd name="f13" fmla="val f5"/>
                <a:gd name="f14" fmla="val f6"/>
                <a:gd name="f15" fmla="*/ f7 f0 1"/>
                <a:gd name="f16" fmla="*/ f8 f0 1"/>
                <a:gd name="f17" fmla="*/ f9 f0 1"/>
                <a:gd name="f18" fmla="*/ f10 f0 1"/>
                <a:gd name="f19" fmla="+- f13 0 f13"/>
                <a:gd name="f20" fmla="+- f14 0 f13"/>
                <a:gd name="f21" fmla="*/ f15 1 f2"/>
                <a:gd name="f22" fmla="*/ f16 1 f2"/>
                <a:gd name="f23" fmla="*/ f17 1 f2"/>
                <a:gd name="f24" fmla="*/ f18 1 f2"/>
                <a:gd name="f25" fmla="*/ f20 1 2231640"/>
                <a:gd name="f26" fmla="*/ f19 1 0"/>
                <a:gd name="f27" fmla="+- f21 0 f1"/>
                <a:gd name="f28" fmla="+- f22 0 f1"/>
                <a:gd name="f29" fmla="+- f23 0 f1"/>
                <a:gd name="f30" fmla="+- f24 0 f1"/>
                <a:gd name="f31" fmla="*/ 1115820 1 f25"/>
                <a:gd name="f32" fmla="*/ 0 1 f26"/>
                <a:gd name="f33" fmla="*/ 0 1 f25"/>
                <a:gd name="f34" fmla="*/ 1 1 f26"/>
                <a:gd name="f35" fmla="*/ 2231640 1 f25"/>
                <a:gd name="f36" fmla="*/ f33 f11 1"/>
                <a:gd name="f37" fmla="*/ f35 f11 1"/>
                <a:gd name="f38" fmla="*/ f34 f12 1"/>
                <a:gd name="f39" fmla="*/ f32 f12 1"/>
                <a:gd name="f40" fmla="*/ f31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40" y="f39"/>
                </a:cxn>
                <a:cxn ang="f28">
                  <a:pos x="f36" y="f38"/>
                </a:cxn>
                <a:cxn ang="f29">
                  <a:pos x="f40" y="f38"/>
                </a:cxn>
                <a:cxn ang="f30">
                  <a:pos x="f37" y="f38"/>
                </a:cxn>
              </a:cxnLst>
              <a:rect l="f36" t="f39" r="f37" b="f38"/>
              <a:pathLst>
                <a:path w="2231640" fill="none">
                  <a:moveTo>
                    <a:pt x="f5" y="f5"/>
                  </a:moveTo>
                  <a:lnTo>
                    <a:pt x="f6" y="f5"/>
                  </a:lnTo>
                </a:path>
              </a:pathLst>
            </a:custGeom>
            <a:noFill/>
            <a:ln w="0" cap="flat">
              <a:solidFill>
                <a:srgbClr val="000000"/>
              </a:solidFill>
              <a:prstDash val="solid"/>
              <a:miter/>
              <a:tailEnd type="arrow"/>
            </a:ln>
          </p:spPr>
          <p:txBody>
            <a:bodyPr vert="horz" wrap="non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DFB39F9-9A92-464D-A860-3C5DBCCE1C5A}"/>
                </a:ext>
              </a:extLst>
            </p:cNvPr>
            <p:cNvSpPr/>
            <p:nvPr/>
          </p:nvSpPr>
          <p:spPr>
            <a:xfrm>
              <a:off x="3888001" y="4607999"/>
              <a:ext cx="2231638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31640"/>
                <a:gd name="f7" fmla="+- 0 0 -360"/>
                <a:gd name="f8" fmla="+- 0 0 -270"/>
                <a:gd name="f9" fmla="+- 0 0 -180"/>
                <a:gd name="f10" fmla="+- 0 0 -90"/>
                <a:gd name="f11" fmla="*/ f3 1 2231640"/>
                <a:gd name="f12" fmla="*/ f4 1 0"/>
                <a:gd name="f13" fmla="val f5"/>
                <a:gd name="f14" fmla="val f6"/>
                <a:gd name="f15" fmla="*/ f7 f0 1"/>
                <a:gd name="f16" fmla="*/ f8 f0 1"/>
                <a:gd name="f17" fmla="*/ f9 f0 1"/>
                <a:gd name="f18" fmla="*/ f10 f0 1"/>
                <a:gd name="f19" fmla="+- f13 0 f13"/>
                <a:gd name="f20" fmla="+- f14 0 f13"/>
                <a:gd name="f21" fmla="*/ f15 1 f2"/>
                <a:gd name="f22" fmla="*/ f16 1 f2"/>
                <a:gd name="f23" fmla="*/ f17 1 f2"/>
                <a:gd name="f24" fmla="*/ f18 1 f2"/>
                <a:gd name="f25" fmla="*/ f20 1 2231640"/>
                <a:gd name="f26" fmla="*/ f19 1 0"/>
                <a:gd name="f27" fmla="+- f21 0 f1"/>
                <a:gd name="f28" fmla="+- f22 0 f1"/>
                <a:gd name="f29" fmla="+- f23 0 f1"/>
                <a:gd name="f30" fmla="+- f24 0 f1"/>
                <a:gd name="f31" fmla="*/ 1115820 1 f25"/>
                <a:gd name="f32" fmla="*/ 0 1 f26"/>
                <a:gd name="f33" fmla="*/ 0 1 f25"/>
                <a:gd name="f34" fmla="*/ 1 1 f26"/>
                <a:gd name="f35" fmla="*/ 2231640 1 f25"/>
                <a:gd name="f36" fmla="*/ f33 f11 1"/>
                <a:gd name="f37" fmla="*/ f35 f11 1"/>
                <a:gd name="f38" fmla="*/ f34 f12 1"/>
                <a:gd name="f39" fmla="*/ f32 f12 1"/>
                <a:gd name="f40" fmla="*/ f31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40" y="f39"/>
                </a:cxn>
                <a:cxn ang="f28">
                  <a:pos x="f36" y="f38"/>
                </a:cxn>
                <a:cxn ang="f29">
                  <a:pos x="f40" y="f38"/>
                </a:cxn>
                <a:cxn ang="f30">
                  <a:pos x="f37" y="f38"/>
                </a:cxn>
              </a:cxnLst>
              <a:rect l="f36" t="f39" r="f37" b="f38"/>
              <a:pathLst>
                <a:path w="2231640" fill="none">
                  <a:moveTo>
                    <a:pt x="f5" y="f5"/>
                  </a:moveTo>
                  <a:lnTo>
                    <a:pt x="f6" y="f5"/>
                  </a:lnTo>
                </a:path>
              </a:pathLst>
            </a:custGeom>
            <a:noFill/>
            <a:ln w="0" cap="flat">
              <a:solidFill>
                <a:srgbClr val="000000"/>
              </a:solidFill>
              <a:prstDash val="solid"/>
              <a:miter/>
              <a:tailEnd type="arrow"/>
            </a:ln>
          </p:spPr>
          <p:txBody>
            <a:bodyPr vert="horz" wrap="non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59CF6-7532-4FC7-B69F-CEA247D3DE2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7958" y="0"/>
            <a:ext cx="9071643" cy="1262155"/>
          </a:xfrm>
        </p:spPr>
        <p:txBody>
          <a:bodyPr>
            <a:spAutoFit/>
          </a:bodyPr>
          <a:lstStyle/>
          <a:p>
            <a:pPr lvl="0"/>
            <a:r>
              <a:rPr lang="en-GB"/>
              <a:t>Augmented Assignment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015BD-E5BA-4147-B190-923AEB7940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769043"/>
            <a:ext cx="4253980" cy="4011829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Take the example: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23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grade = 15</a:t>
            </a:r>
            <a:br>
              <a:rPr lang="en-GB" sz="23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3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grade</a:t>
            </a:r>
            <a:br>
              <a:rPr lang="en-GB" sz="23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3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15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23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grade = grade + 5</a:t>
            </a:r>
            <a:br>
              <a:rPr lang="en-GB" sz="23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3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grade</a:t>
            </a:r>
            <a:br>
              <a:rPr lang="en-GB" sz="23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3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20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It’s very common to assign some operation on the variable to itself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C2676-187C-4CD5-832A-68BD519C112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45749" y="1133609"/>
            <a:ext cx="4426921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Because programmers are lazy, a shorthand was created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grade = 15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grade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15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grade += 5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grade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20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It also works with other operators (e.g. </a:t>
            </a:r>
            <a:r>
              <a:rPr lang="en-GB" dirty="0">
                <a:latin typeface="Courier 10 Pitch" pitchFamily="17"/>
              </a:rPr>
              <a:t>grade *= 2</a:t>
            </a:r>
            <a:r>
              <a:rPr lang="en-GB" dirty="0"/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34355-B6C9-4009-A684-E92B57C1C4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GB"/>
              <a:t>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8CCC8-5749-48FA-8390-AD8F7FE6269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What are the results of the following statements?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grade = 10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grade += 2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grade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?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grade /= 2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grade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?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grade *= 2 + 1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grade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?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6944ED8-5E8D-4B71-B7E8-0F737273A9F3}"/>
              </a:ext>
            </a:extLst>
          </p:cNvPr>
          <p:cNvSpPr/>
          <p:nvPr/>
        </p:nvSpPr>
        <p:spPr>
          <a:xfrm>
            <a:off x="5039816" y="3529263"/>
            <a:ext cx="3672001" cy="86399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729FCF"/>
          </a:solidFill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The expression on the right side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is always evaluated first!!!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1F795-B951-40CC-B356-E3A3F590F1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0"/>
            <a:ext cx="9071643" cy="1262155"/>
          </a:xfrm>
        </p:spPr>
        <p:txBody>
          <a:bodyPr/>
          <a:lstStyle/>
          <a:p>
            <a:pPr lvl="0"/>
            <a:r>
              <a:rPr lang="en-GB"/>
              <a:t>When something goes wrong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C631F-8F4F-4029-A193-B98069D064E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974192"/>
            <a:ext cx="9071643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/>
              <a:t>Python let’s you know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/>
              <a:t>There are two main kinds of errors: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2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Syntax errors: you type something with no meaning in Python:</a:t>
            </a:r>
          </a:p>
          <a:p>
            <a:pPr lvl="2" hangingPunct="0">
              <a:spcBef>
                <a:spcPts val="1415"/>
              </a:spcBef>
              <a:buNone/>
            </a:pPr>
            <a:r>
              <a:rPr lang="en-GB" sz="28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bore da</a:t>
            </a:r>
            <a:br>
              <a:rPr lang="en-GB" sz="28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SyntaxError: invalid syntax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2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Semantic errors: you tell Python to do something he can’t do:</a:t>
            </a:r>
          </a:p>
          <a:p>
            <a:pPr lvl="2" hangingPunct="0">
              <a:spcBef>
                <a:spcPts val="1415"/>
              </a:spcBef>
              <a:buNone/>
            </a:pPr>
            <a:r>
              <a:rPr lang="en-GB" sz="28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2/0</a:t>
            </a:r>
            <a:br>
              <a:rPr lang="en-GB" sz="28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Traceback (most recent call last):</a:t>
            </a:r>
            <a:br>
              <a:rPr lang="en-GB" sz="28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 File "&lt;pyshell#17&gt;", line 1, in &lt;module&gt;</a:t>
            </a:r>
            <a:br>
              <a:rPr lang="en-GB" sz="28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   2/0</a:t>
            </a:r>
            <a:br>
              <a:rPr lang="en-GB" sz="28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ZeroDivisionError: division by zero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52EE8B3-4672-4782-A972-6104B6E321C8}"/>
              </a:ext>
            </a:extLst>
          </p:cNvPr>
          <p:cNvSpPr/>
          <p:nvPr/>
        </p:nvSpPr>
        <p:spPr>
          <a:xfrm>
            <a:off x="6818031" y="6316739"/>
            <a:ext cx="2880003" cy="537484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729FCF"/>
          </a:solidFill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Actually, there is also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DejaVu Sans" pitchFamily="2"/>
                <a:cs typeface="FreeSans" pitchFamily="2"/>
              </a:rPr>
              <a:t>another kind: Logical errors.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1A5E-3F45-4749-B835-443B508E793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More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416B0-28A3-4B75-A727-F107909A45A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384995"/>
            <a:ext cx="9071643" cy="4384438"/>
          </a:xfrm>
        </p:spPr>
        <p:txBody>
          <a:bodyPr/>
          <a:lstStyle/>
          <a:p>
            <a:pPr lvl="0"/>
            <a:r>
              <a:rPr lang="en-GB" dirty="0">
                <a:latin typeface="Courier 10 Pitch" pitchFamily="17"/>
              </a:rPr>
              <a:t>&gt;&gt;&gt; 2 + a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Traceback (most recent call last):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  File "&lt;pyshell#18&gt;", line 1, in &lt;module&gt;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    2+a</a:t>
            </a:r>
            <a:br>
              <a:rPr lang="en-GB" dirty="0">
                <a:latin typeface="Courier 10 Pitch" pitchFamily="17"/>
              </a:rPr>
            </a:br>
            <a:r>
              <a:rPr lang="en-GB" dirty="0" err="1">
                <a:latin typeface="Courier 10 Pitch" pitchFamily="17"/>
              </a:rPr>
              <a:t>NameError</a:t>
            </a:r>
            <a:r>
              <a:rPr lang="en-GB" dirty="0">
                <a:latin typeface="Courier 10 Pitch" pitchFamily="17"/>
              </a:rPr>
              <a:t>: name 'a' is not defined</a:t>
            </a:r>
          </a:p>
          <a:p>
            <a:pPr lvl="0"/>
            <a:r>
              <a:rPr lang="en-GB" dirty="0">
                <a:latin typeface="Courier 10 Pitch" pitchFamily="17"/>
              </a:rPr>
              <a:t>&gt;&gt;&gt; 10 = a</a:t>
            </a:r>
            <a:br>
              <a:rPr lang="en-GB" dirty="0">
                <a:latin typeface="Courier 10 Pitch" pitchFamily="17"/>
              </a:rPr>
            </a:br>
            <a:r>
              <a:rPr lang="en-GB" dirty="0" err="1">
                <a:latin typeface="Courier 10 Pitch" pitchFamily="17"/>
              </a:rPr>
              <a:t>SyntaxError</a:t>
            </a:r>
            <a:r>
              <a:rPr lang="en-GB" dirty="0">
                <a:latin typeface="Courier 10 Pitch" pitchFamily="17"/>
              </a:rPr>
              <a:t>: can't assign to literal</a:t>
            </a:r>
          </a:p>
          <a:p>
            <a:pPr lvl="0"/>
            <a:r>
              <a:rPr lang="en-GB" dirty="0">
                <a:latin typeface="Courier 10 Pitch" pitchFamily="17"/>
              </a:rPr>
              <a:t>&gt;&gt;&gt; 2 +</a:t>
            </a:r>
            <a:br>
              <a:rPr lang="en-GB" dirty="0">
                <a:latin typeface="Courier 10 Pitch" pitchFamily="17"/>
              </a:rPr>
            </a:br>
            <a:r>
              <a:rPr lang="en-GB" dirty="0" err="1">
                <a:latin typeface="Courier 10 Pitch" pitchFamily="17"/>
              </a:rPr>
              <a:t>SyntaxError</a:t>
            </a:r>
            <a:r>
              <a:rPr lang="en-GB" dirty="0">
                <a:latin typeface="Courier 10 Pitch" pitchFamily="17"/>
              </a:rPr>
              <a:t>: invalid syntax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659C0-FEBA-40A9-A8D6-7A5E9577F88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Debugging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ECD57-8201-473E-A035-E8B1332A7A3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Fix the bug (i.e. the error)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The error message provides clues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Example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>
                <a:latin typeface="Courier 10 Pitch" pitchFamily="17"/>
              </a:rPr>
              <a:t>&gt;&gt;&gt; 2 + a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Traceback (most recent call last):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  File "&lt;pyshell#18&gt;", </a:t>
            </a:r>
            <a:r>
              <a:rPr lang="en-GB">
                <a:highlight>
                  <a:srgbClr val="FFFF99"/>
                </a:highlight>
                <a:latin typeface="Courier 10 Pitch" pitchFamily="17"/>
              </a:rPr>
              <a:t>line 1</a:t>
            </a:r>
            <a:r>
              <a:rPr lang="en-GB">
                <a:latin typeface="Courier 10 Pitch" pitchFamily="17"/>
              </a:rPr>
              <a:t>, in &lt;module&gt;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    2+a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NameError: name </a:t>
            </a:r>
            <a:r>
              <a:rPr lang="en-GB">
                <a:highlight>
                  <a:srgbClr val="FFFF99"/>
                </a:highlight>
                <a:latin typeface="Courier 10 Pitch" pitchFamily="17"/>
              </a:rPr>
              <a:t>'a' is not defined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232A2-240E-4C35-963B-44EF76FCEB6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13470" y="0"/>
            <a:ext cx="9071643" cy="1262155"/>
          </a:xfrm>
        </p:spPr>
        <p:txBody>
          <a:bodyPr/>
          <a:lstStyle/>
          <a:p>
            <a:pPr lvl="0"/>
            <a:r>
              <a:rPr lang="en-GB"/>
              <a:t>Multi-line statements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2B35F-AA32-41F0-AA67-531179335A6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95514" y="916631"/>
            <a:ext cx="9071643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A statement may become to long to fit on an 80 character line (recommended)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Or you want to make an expression more readable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To break a statement across several lines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Open the statement with parenthesis and close it in the last line</a:t>
            </a:r>
          </a:p>
          <a:p>
            <a:pPr lvl="2" hangingPunct="0">
              <a:spcBef>
                <a:spcPts val="1415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(2 +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1)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3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Use the line continuation character:</a:t>
            </a:r>
          </a:p>
          <a:p>
            <a:pPr lvl="2" hangingPunct="0">
              <a:spcBef>
                <a:spcPts val="1415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2 + \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1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301DB-250C-451B-ABB9-B9A72DB183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Describing the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0C3DD-5EEC-4DCA-88CD-32B486C673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275267"/>
            <a:ext cx="9071643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When programs start to become very long and complex, it is useful to comment the code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Comments allow: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That we can quickly understand our own code, long time after we’ve programmed it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Someone else to quickly understand our code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One line comments can be done by using #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# this line doesn’t do anything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10 + 20 # adds 10 to 20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A6C1E-1FC2-4A9D-87D5-2764BBF39EC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0"/>
            <a:ext cx="9071643" cy="1262155"/>
          </a:xfrm>
        </p:spPr>
        <p:txBody>
          <a:bodyPr/>
          <a:lstStyle/>
          <a:p>
            <a:pPr lvl="0"/>
            <a:r>
              <a:rPr lang="en-GB"/>
              <a:t>Making code readable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78B7C-D166-4791-AE32-422A9FEA62B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932130"/>
            <a:ext cx="9071643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Other than comments, we can do more to make programs readable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Choose appropriate names for variables (e.g. 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maximum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instead of 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x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)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If using 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maximum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as variable name, don’t use 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max_val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or 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maxVal</a:t>
            </a: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on another place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Use spaces before and after binary operators</a:t>
            </a:r>
          </a:p>
          <a:p>
            <a:pPr lvl="2" hangingPunct="0">
              <a:spcBef>
                <a:spcPts val="1415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celsius = (fahrenheit – 32) * 5 / 9</a:t>
            </a:r>
          </a:p>
          <a:p>
            <a:pPr lvl="2" hangingPunct="0">
              <a:spcBef>
                <a:spcPts val="1415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instead of</a:t>
            </a:r>
          </a:p>
          <a:p>
            <a:pPr lvl="2" hangingPunct="0">
              <a:spcBef>
                <a:spcPts val="1415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celsius=(fahrenheit–32)*5/9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A2F1-7222-4284-A10A-B1F9C0010A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0"/>
            <a:ext cx="9071643" cy="1262155"/>
          </a:xfrm>
        </p:spPr>
        <p:txBody>
          <a:bodyPr/>
          <a:lstStyle/>
          <a:p>
            <a:pPr lvl="0"/>
            <a:r>
              <a:rPr lang="en-GB"/>
              <a:t>Let’s solve a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DCE18-3A63-4074-A6EE-E4DEF4602D8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916631"/>
            <a:ext cx="9071643" cy="438443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/>
              <a:t>Knowing that the formula to convert Fahrenheit to Celsius is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celsius = (fahrenheit – 32) × 5÷9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lets create the Python formula to do the inverse</a:t>
            </a:r>
          </a:p>
          <a:p>
            <a:pPr lvl="1" hangingPunct="0">
              <a:spcBef>
                <a:spcPts val="1415"/>
              </a:spcBef>
              <a:buAutoNum type="arabicParenR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Compute the formula (on paper):</a:t>
            </a:r>
          </a:p>
          <a:p>
            <a:pPr lvl="2" hangingPunct="0">
              <a:spcBef>
                <a:spcPts val="1415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fahrenheit = 9÷5 × celsius + 32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DB12CD-6512-42FC-B82E-1BBF9427C46D}"/>
              </a:ext>
            </a:extLst>
          </p:cNvPr>
          <p:cNvSpPr/>
          <p:nvPr/>
        </p:nvSpPr>
        <p:spPr>
          <a:xfrm>
            <a:off x="-216977" y="1091921"/>
            <a:ext cx="10080629" cy="537583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457200" marR="0" lvl="1" indent="0" algn="l" defTabSz="914400" rtl="0" fontAlgn="auto" hangingPunct="0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32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Liberation Sans" pitchFamily="18"/>
              </a:rPr>
              <a:t>2) Write the code and execute:</a:t>
            </a:r>
          </a:p>
          <a:p>
            <a:pPr marL="914400" marR="0" lvl="2" indent="0" algn="l" defTabSz="914400" rtl="0" fontAlgn="auto" hangingPunct="0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32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Courier 10 Pitch" pitchFamily="17"/>
              </a:rPr>
              <a:t>&gt;&gt;&gt; fahrenheit = 9/5 * celsius + 32</a:t>
            </a:r>
            <a:br>
              <a:rPr lang="en-GB" sz="32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Courier 10 Pitch" pitchFamily="17"/>
              </a:rPr>
            </a:br>
            <a:r>
              <a:rPr lang="en-GB" sz="32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Courier 10 Pitch" pitchFamily="17"/>
              </a:rPr>
              <a:t>Traceback (most recent call last):</a:t>
            </a:r>
            <a:br>
              <a:rPr lang="en-GB" sz="32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Courier 10 Pitch" pitchFamily="17"/>
              </a:rPr>
            </a:br>
            <a:r>
              <a:rPr lang="en-GB" sz="32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Courier 10 Pitch" pitchFamily="17"/>
              </a:rPr>
              <a:t>  File "&lt;pyshell#25&gt;", line 1, in &lt;module&gt;</a:t>
            </a:r>
            <a:br>
              <a:rPr lang="en-GB" sz="32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Courier 10 Pitch" pitchFamily="17"/>
              </a:rPr>
            </a:br>
            <a:r>
              <a:rPr lang="en-GB" sz="32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Courier 10 Pitch" pitchFamily="17"/>
              </a:rPr>
              <a:t>    fahrenheit = 9/5 * celsius + 32</a:t>
            </a:r>
            <a:br>
              <a:rPr lang="en-GB" sz="32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Courier 10 Pitch" pitchFamily="17"/>
              </a:rPr>
            </a:br>
            <a:r>
              <a:rPr lang="en-GB" sz="32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Courier 10 Pitch" pitchFamily="17"/>
              </a:rPr>
              <a:t>NameError: name 'celsius' is not defined</a:t>
            </a:r>
          </a:p>
          <a:p>
            <a:pPr marL="457200" marR="0" lvl="1" indent="0" algn="l" defTabSz="914400" rtl="0" fontAlgn="auto" hangingPunct="0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32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Liberation Sans" pitchFamily="34"/>
              </a:rPr>
              <a:t>What went wrong?! </a:t>
            </a:r>
            <a:r>
              <a:rPr lang="en-GB" sz="3200" b="1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Liberation Sans" pitchFamily="34"/>
              </a:rPr>
              <a:t>Debug</a:t>
            </a:r>
            <a:r>
              <a:rPr lang="en-GB" sz="32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Liberation Sans" pitchFamily="34"/>
              </a:rPr>
              <a:t> it (in other words, </a:t>
            </a:r>
            <a:r>
              <a:rPr lang="en-GB" sz="3200" b="1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Liberation Sans" pitchFamily="34"/>
              </a:rPr>
              <a:t>fix the problem</a:t>
            </a:r>
            <a:r>
              <a:rPr lang="en-GB" sz="32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Liberation Sans" pitchFamily="34"/>
              </a:rPr>
              <a:t>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D8260-7298-4D49-AA3F-4E43583FCDA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Going back to the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9C959-C77E-48F6-951E-46760DAAB3F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What is a data type in computation?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are the Python types for numerical values?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precise are computers?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is operator precedence?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can values be stored in computer’s memory?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can source code be made more readable?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C9E8-8E43-413C-8B86-BAFA55B7A88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Next practical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9514E-D124-4F2C-A9FA-DD88F63E07B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Part 1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Assessed quiz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Part 2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Assessed worksheet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3B6F-5F08-4D9D-AA93-28B015BEEF0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Further reading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2F268-B622-4F2D-81D6-957443B770E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PP, Chapter 2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>
                <a:hlinkClick r:id="rId3"/>
              </a:rPr>
              <a:t>https://www.python.org/dev/peps/pep-0008/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D9CC0-20BB-70A5-BC7D-49A6054C3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6B17F-B4BA-CF9E-BC8D-9F95F9685F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952563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7417</TotalTime>
  <Words>2298</Words>
  <Application>Microsoft Office PowerPoint</Application>
  <PresentationFormat>Custom</PresentationFormat>
  <Paragraphs>305</Paragraphs>
  <Slides>37</Slides>
  <Notes>35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Courier 10 Pitch</vt:lpstr>
      <vt:lpstr>Liberation Sans</vt:lpstr>
      <vt:lpstr>Liberation Serif</vt:lpstr>
      <vt:lpstr>StarSymbol</vt:lpstr>
      <vt:lpstr>Default</vt:lpstr>
      <vt:lpstr> Fundamentals of Programming</vt:lpstr>
      <vt:lpstr>In this class …</vt:lpstr>
      <vt:lpstr>Just to remind …</vt:lpstr>
      <vt:lpstr>Using Python</vt:lpstr>
      <vt:lpstr>Python as a calculator</vt:lpstr>
      <vt:lpstr>More operators</vt:lpstr>
      <vt:lpstr>Types</vt:lpstr>
      <vt:lpstr>PowerPoint Presentation</vt:lpstr>
      <vt:lpstr>Examples</vt:lpstr>
      <vt:lpstr>Even more operators</vt:lpstr>
      <vt:lpstr>Even more operators (cont…)</vt:lpstr>
      <vt:lpstr>Type Formal Definition</vt:lpstr>
      <vt:lpstr>Precision</vt:lpstr>
      <vt:lpstr>A tip about precision</vt:lpstr>
      <vt:lpstr>Let’s solve a problem</vt:lpstr>
      <vt:lpstr>Operator precedences</vt:lpstr>
      <vt:lpstr>Expression Evaluation</vt:lpstr>
      <vt:lpstr>Back to the problem</vt:lpstr>
      <vt:lpstr>Remembering Values</vt:lpstr>
      <vt:lpstr>A “box” in a computer</vt:lpstr>
      <vt:lpstr>Variable names</vt:lpstr>
      <vt:lpstr>A technical note</vt:lpstr>
      <vt:lpstr>What happens</vt:lpstr>
      <vt:lpstr>Augmented Assignment</vt:lpstr>
      <vt:lpstr>Examples</vt:lpstr>
      <vt:lpstr>When something goes wrong</vt:lpstr>
      <vt:lpstr>More examples</vt:lpstr>
      <vt:lpstr>Debugging</vt:lpstr>
      <vt:lpstr>Multi-line statements</vt:lpstr>
      <vt:lpstr>Describing the code</vt:lpstr>
      <vt:lpstr>Making code readable</vt:lpstr>
      <vt:lpstr>Let’s solve a problem</vt:lpstr>
      <vt:lpstr>PowerPoint Presentation</vt:lpstr>
      <vt:lpstr>Going back to the questions</vt:lpstr>
      <vt:lpstr>Next practical</vt:lpstr>
      <vt:lpstr>Further reading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Programming</dc:title>
  <dc:creator>António Anjos</dc:creator>
  <cp:lastModifiedBy>Hamid Reza Shahbazkia</cp:lastModifiedBy>
  <cp:revision>290</cp:revision>
  <cp:lastPrinted>2017-10-10T11:12:52Z</cp:lastPrinted>
  <dcterms:created xsi:type="dcterms:W3CDTF">2016-08-02T15:42:55Z</dcterms:created>
  <dcterms:modified xsi:type="dcterms:W3CDTF">2025-09-16T07:38:02Z</dcterms:modified>
</cp:coreProperties>
</file>