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91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</p:sldIdLst>
  <p:sldSz cx="10080625" cy="7559675"/>
  <p:notesSz cx="7559675" cy="10691813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F5B362-FE6E-48DE-B7B7-DBBE5D7D9138}" v="33" dt="2025-09-12T05:39:59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56" d="100"/>
          <a:sy n="56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AF5D19A9-1D78-42C6-A953-298330F4403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2D08142-A6E0-46C6-A95A-99E23361540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98CAF05-4358-45F7-8AF1-35E46156D0F0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D7D5215-E1EB-4998-8E81-16EE3E2444D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59C0B01A-1D3E-454B-94DB-7426EE857DDC}" type="slidenum">
              <a:t>‹#›</a:t>
            </a:fld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829220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2A038A4-5C5B-48BF-8EDF-2E83DA354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4635B4D-04CD-4FDC-8B59-EE286FB05E4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Marcador de Posição do Cabeçalho 3">
            <a:extLst>
              <a:ext uri="{FF2B5EF4-FFF2-40B4-BE49-F238E27FC236}">
                <a16:creationId xmlns:a16="http://schemas.microsoft.com/office/drawing/2014/main" id="{0C60E329-7BEF-493E-B4B3-09E65DECE56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7A30DA1-AB9B-49DA-B75B-FA869222114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7BEB9E6-5922-4644-8BF2-00FFA379C7D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E23FD12-8D18-4FAC-B131-4F560CF571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D161033E-7C5B-4177-918A-AEA97B9C005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1241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216000" marR="0" indent="-216000" rtl="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66B4698-F270-43F4-90F3-0C7CAB5B62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5B87223-EFE8-4FBF-B4A1-81703B276C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4109FDA-6E65-4977-939E-F4CEEB1643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83DCAD8-2F60-4DBC-9F43-7798BFCF4B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B9BF917-20D4-4B0E-8984-46D8C65F1D0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461A977-309F-4171-98C9-F2A62A954F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0000C61-4E61-48B0-A297-4958067218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87324ED-C852-4535-919C-3746B50519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BBACC06-2AFB-40FA-B5BA-DCCA7F6E32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BB26572-843E-40DE-93B8-7CC322ADAC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5CCC783-EDAF-4743-98FB-4FF2A007BC6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D5E79EF-73D7-44B4-97AE-F7B4A9D657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D87081D-791F-459B-80D7-0C05A562C9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0E73A6E-90F2-406B-8B9D-B57C2D3C412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58CF666-5771-4F20-85CC-456EFE665A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AB90A9F-39AA-432A-9397-81D4D8B8E6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83D545C-7D4F-4E6D-95EF-9D7FBF1798C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8B70846-AFC6-4904-9315-FAECF2E9A9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A1A8344-C7AB-44D6-8F5C-9944B3BF61F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B60F2A1-2393-43C3-B835-EF2553298E7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1D9F0B1-1013-4808-B198-8ACE2E0342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B9FD34A-F8EB-4929-A0BE-27492A1A09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AE89692-5DF2-4174-9BC7-DA99A4D9C2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750365D-5C6C-4A8B-882A-A885B851D2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568E870-A53A-4FDA-A7AF-D2A3FF9C83F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80129CC-55C3-4F2F-88BC-60D3808063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4A1067C-5ED1-47ED-B633-C83D6CDBD4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07DB6C4-3F9A-4469-A2FE-DE21F711789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6A5E1CC-FBA1-4C73-985F-3DA5CBA6CD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4482964-6DED-41F7-A297-4D059CEFE4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B5284D0-DAFA-4431-90E3-9DA70C9084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2852585-BF2F-4730-93FE-8163B98D98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23EBDB1-B1FC-49F4-94E7-A59363DD4A1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51FA545-A525-4D69-898C-9DF5486744E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F783AFA-C39F-4403-96DC-463CB2DE67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0D40883-AB3A-45C5-9FB4-E351849EEA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DD81B9D-275E-4286-A27F-D9BBA60970A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592249A-E21F-495F-9CE8-2E9998876A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B304E43-9EBB-473F-B22B-287E0745E5D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03A2BBF-4321-4DD4-8EB9-579B777347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BC81BE4-3AC7-423B-9417-54D01419D9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5B14896-E75C-4E60-AD21-08FB9AE47BB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1263287-27C0-49B3-AD8A-51F474A5434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F3A735E-686E-461B-9977-88CA230F5D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5A3F0AB-8D3A-40E5-976D-F2782B21C44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F0A4D7E-DF99-41FE-B8A8-C32DE79BFF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638C23E-F096-4BF7-A8F1-088F50A328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19B4D1A-FEBF-4CB2-A16F-67BF63E98D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C3416D3-2462-470C-AC28-3A01593A419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90E6F8D-E521-4282-80BE-967561B761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0A40DFD-3999-4D63-BF06-3E3E21AD4AD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F1996B6-0A5C-462F-BD97-CC95995F330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DC667B2-CBFB-4FA1-80ED-7D8A9219484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F92D4B0-0962-4B42-AB5D-49FAA49E43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25B3A3E-C222-4C0E-8BDA-FC8ACD09C44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7EDD932-35EC-443A-8E3B-DD437E73DAF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C82984D-9F6A-4CA3-8254-86DC0111870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2F316DF-9D38-414C-90ED-2EF4784A54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93559FC-27F0-4276-A88A-6E045F48D0A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EEFF65-36F3-4476-BE8C-9D0C7DEDA3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63996FF-B7E3-4393-8C6B-6119D9C519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C9A5011-B805-40EB-AFB7-3C9CEDE104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E7ABD4B-4D02-4416-9E3C-5ED82BA601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A74CDC3-F22A-430F-8248-3EC027D64D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AD9A563-FE49-40C3-8637-C77814726D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E8DB119-FFC1-435E-AC89-FE3CDC7638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31DC1-AC52-436B-A0E8-E9BE8E42D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74D8BC-21CC-4415-BF4B-C458DEF01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B3C28ED-8385-4E9A-A645-63CA40DC93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437A6B5-611D-4CAB-8205-14AEA211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6CA7229-7E3D-4B08-87F6-A5263E1A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72EB5980-276D-4E27-BF7F-97F44C15918C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45687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2520B-A458-4AC9-B25B-6CE08772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A0CA95B-828C-47B3-8E3A-2275682D3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7AFC84E-6C7B-4D5A-86CF-8A89C3DD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0F62343-CF6A-48EF-937E-625AADFA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112DFF0-4869-42EC-950C-D55F0867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7C0E5483-05F9-4C9D-A80E-6FF19DF414B7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4035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239AD-52B5-4272-B0C9-19743321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119EBBB-42EE-47FB-999F-3B2C98478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1E427C4-56AB-4B30-973B-90DFBF8F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F8741D8-DAE4-4794-BB58-56E75FCF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BCC8FA7-2749-4611-81FA-B751BD03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5914A508-F2E9-4AB7-ACB7-49BD1CD5FDA8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3112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1F346-E014-4257-AC44-CBBA073A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B5CCD03-F294-46A0-B1DB-531BE4BD6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93AE042-5EFC-4029-8A9F-4B8A52ED3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10077A8-9B67-40C9-8733-E14728A9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3A518C6-538F-4602-A602-BF3B3D0F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3160073-CC4B-495F-B72B-433C7987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E7EA1472-48CD-4A13-B5F6-7590CD845ECC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3480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1FF0B-AC22-45ED-BD01-A744699B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369361A-5C01-48DF-8E04-AD1D06422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0B9EAB6-891E-48C2-B6D8-8905ED166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23D3A7A2-3517-4A9C-9A97-D07BF37B7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0AFE9C1-64F8-4902-8599-880CCBF7C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58C00A0-FFC3-47AD-AD5D-90E79251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CBA71E4-3D2D-4571-A0D1-CEDF1B6F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28E5188-8BAB-4B16-A96F-89360C65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DEE02365-E8C0-44F5-84FD-2BF3A86FD795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2785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216A0-5581-4DF6-999F-D2A594EF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7DB77AF-E8A1-401F-8408-37278E94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EA5745D-438E-4CC1-8D82-ACB6B944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9987EA8-9798-49F0-B73C-D3880670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FD1F19E0-78E6-4FB5-A26E-89F0ECE488DB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577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0BAD0C5-F042-4E4E-8BA7-F7C594A6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6140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3DDF9-0F11-4083-8B77-CD2197F0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B15695B-EE6D-4B57-8DAB-748BB8507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9F7BF9C-5387-4C77-8F1F-C0298C985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1B815BF-C6B1-4508-B220-E252F330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37D02F7-D663-4F06-BBFA-0DCAD934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C27B239-C19E-42A9-995B-E9BB57AC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C2EA37D0-04D5-4FDC-BD4D-85716C750CAE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866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B1DDF-CCB8-4E22-AF16-F835AA4B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9D371396-7EC4-480D-86F2-DA3986F7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D27ACD2-CFFF-4678-A756-CB0071DD0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C1868ED-96E9-4107-BE8D-3699A4FC0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7391299-ACBA-4F75-983C-1F216994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BBF3A11-F007-45AC-86AC-520F1202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5ED3EB6F-26E3-4746-B3BB-31C7E19DAD6D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61441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595BB-A8F3-46A4-8486-0A4CAF15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69EC344-1FCB-4023-8CB9-EA76A61EA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628F259-1386-4462-86A7-35717910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9EE88AB-98D6-436B-8F18-04A8228E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31FA48C-2448-471F-9A4E-1449E57FF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67F894AA-CDEA-4E96-8333-92EDB1F4E952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2299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6B0AA7-3BE2-4A70-B309-3C746D746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4205EE9-8AA1-4307-A0CC-C1F5004DB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6A2BB76-5990-400B-9A3B-238A142A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1F62C4F-0288-4795-A87C-7465C316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D229E46-9560-4FB3-8D20-6E4F3F17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2B5B2A51-3E06-41E7-BE0C-4E94ECE5E96D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9471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1000"/>
            <a:lum/>
          </a:blip>
          <a:srcRect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E98EB64-194A-4C94-9D12-7E8FBB4AA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BF697F7-6210-47B7-B517-BB7F639F8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C93BEC7-B194-48B0-87B4-0E4A05CC2C1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r>
              <a:rPr lang="pt-PT" dirty="0"/>
              <a:t>UCA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6AEF751-F426-426F-B4C0-6D2B970B96D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0" y="5146675"/>
            <a:ext cx="9072563" cy="1836738"/>
          </a:xfrm>
        </p:spPr>
        <p:txBody>
          <a:bodyPr anchor="ctr">
            <a:spAutoFit/>
          </a:bodyPr>
          <a:lstStyle/>
          <a:p>
            <a:pPr lvl="0" algn="ctr"/>
            <a:r>
              <a:rPr lang="en-GB" dirty="0"/>
              <a:t>Hamid Reza </a:t>
            </a:r>
            <a:r>
              <a:rPr lang="en-GB" dirty="0" err="1"/>
              <a:t>Shahbazkia</a:t>
            </a:r>
            <a:endParaRPr lang="en-GB" dirty="0"/>
          </a:p>
          <a:p>
            <a:pPr lvl="0" algn="ctr"/>
            <a:r>
              <a:rPr lang="en-GB" dirty="0"/>
              <a:t>h.r.shahbazkia@wiut.uz</a:t>
            </a:r>
          </a:p>
          <a:p>
            <a:pPr lvl="0"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D7652-DE6F-2ED1-6FFF-B27DD8A3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459" y="692824"/>
            <a:ext cx="6910217" cy="4453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F3527-849A-47FB-A284-459C2BCB15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593846"/>
            <a:ext cx="9071640" cy="677108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About CS FOP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CEBF476-EBBB-499C-B19E-086C96282B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No </a:t>
            </a:r>
            <a:r>
              <a:rPr lang="en-US" dirty="0"/>
              <a:t>programming</a:t>
            </a:r>
            <a:r>
              <a:rPr lang="en-GB" dirty="0"/>
              <a:t> experience required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Boring for someone that already knows how to program, but that is life attendance is monitored!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Helps with other courses that require programming, Your basic for all CS majors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Provides useful skills that will help through the degree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C49DF-FFBB-4D96-A4DE-2A95A9D43C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Main objectives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D63C76D-4ECF-4AE0-955D-ABEC9BD3D9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Think in a way that eases the use of computers to solve problems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Understand how a computer “thinks”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Know the strengths of computers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Know the limitations of computers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Learn a simple computer programming language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Learn how to make simple computer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13EA2-54B7-44A0-96EE-CED36604EB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144035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Overview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EF31A6C-5ABB-4B77-A4DA-B3F8819962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Introduction to Computational Thinking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Variables / Types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Functions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Working with text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Making decisions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Modules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Classes and Methods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Lists of objects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Repeating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7941C-2849-4D05-BA70-49C7927703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Class format</a:t>
            </a:r>
            <a:br>
              <a:rPr lang="en-GB"/>
            </a:br>
            <a:r>
              <a:rPr lang="en-GB"/>
              <a:t>(weekly)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E9C503D-C53B-4705-AB7E-7BC89248597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2h lecture (gain knowledge)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Presentation and active coding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Very small problems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Bring paper and pen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2h practical (apply knowledge)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Assessed quiz/assignment 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May include demonstration by the lecturer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Active coding</a:t>
            </a:r>
          </a:p>
          <a:p>
            <a:pPr marL="457200" lvl="1" indent="0" hangingPunct="0">
              <a:spcBef>
                <a:spcPts val="1417"/>
              </a:spcBef>
              <a:buSzPct val="75000"/>
              <a:buNone/>
            </a:pPr>
            <a:endParaRPr lang="en-GB" sz="32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C712E-6FFC-403B-84F6-C71B24617A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492" y="2427433"/>
            <a:ext cx="9071640" cy="3385542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Assessment</a:t>
            </a:r>
            <a:br>
              <a:rPr lang="en-GB" dirty="0"/>
            </a:br>
            <a:r>
              <a:rPr lang="en-GB" dirty="0"/>
              <a:t>READ Proformas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 E A D   Y O U R    E M A I L S</a:t>
            </a:r>
            <a:br>
              <a:rPr lang="en-GB" dirty="0"/>
            </a:br>
            <a:endParaRPr lang="en-GB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316A88-C846-42F2-A7DB-CE252AC7B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53092" y="2550706"/>
            <a:ext cx="32329282" cy="1569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B3285-79A5-457C-88ED-58DE83354E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164123"/>
            <a:ext cx="9071640" cy="930434"/>
          </a:xfrm>
        </p:spPr>
        <p:txBody>
          <a:bodyPr/>
          <a:lstStyle/>
          <a:p>
            <a:pPr lvl="0"/>
            <a:r>
              <a:rPr lang="en-GB" dirty="0"/>
              <a:t>Resources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1FC4DCB-269C-4AF8-A1F6-B680221628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094557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 LMS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Lecture slides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Recorded lectures 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Handouts/Quizzes/Exercises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b="1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ractical </a:t>
            </a:r>
            <a:r>
              <a:rPr lang="en-GB" sz="2800" b="1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rogramming (2nd edition)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 Introduction to Computer Science Using Python 3 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by Paul 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Gries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Jennifer Campbell, Jason 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Montojo</a:t>
            </a:r>
            <a:endParaRPr lang="en-GB" sz="2800" dirty="0"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course is self-contained, it is not mandatory to purchase the bibliography, available in PDF format somewhere!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E535F-6877-4BF0-AB9E-77464B9C47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Recommendations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63FECE1-3272-450C-B294-0F7AA8F4FE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Take notes of the important topics of each class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Missing one class is enough to lose the “trail”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If you miss a class, then, </a:t>
            </a:r>
            <a:r>
              <a:rPr lang="en-GB" b="1" dirty="0"/>
              <a:t>before the next class</a:t>
            </a:r>
            <a:r>
              <a:rPr lang="en-GB" dirty="0"/>
              <a:t>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Check emails, 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lms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etc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Complete the handouts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Read the notes from a colleague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To learn how to program one </a:t>
            </a:r>
            <a:r>
              <a:rPr lang="en-GB" b="1" dirty="0"/>
              <a:t>must program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Complete the handouts before the next lesson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Repeat, repeat, and repeat at home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9698-8151-4518-8881-643E37936A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 dirty="0"/>
              <a:t>Miscellaneous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F65450B-AD7B-417B-B69F-B2553AD478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39"/>
            <a:ext cx="9071640" cy="5489315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Your feedback is welcome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Let me know about typos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All suggestions are welcome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Handouts might be provided to be solved on your own time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Recording lectures has legal implications</a:t>
            </a:r>
          </a:p>
          <a:p>
            <a:pPr>
              <a:buSzPct val="45000"/>
              <a:buFont typeface="StarSymbol"/>
              <a:buChar char="●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being minimalist, fight for excellence </a:t>
            </a:r>
          </a:p>
          <a:p>
            <a:pPr>
              <a:buSzPct val="45000"/>
              <a:buFont typeface="StarSymbol"/>
              <a:buChar char="●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computer specialist, you will be judged by your skills not by your certificate!</a:t>
            </a:r>
          </a:p>
          <a:p>
            <a:pPr lvl="0">
              <a:buSzPct val="45000"/>
              <a:buFont typeface="StarSymbol"/>
              <a:buChar char="●"/>
            </a:pP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29918-34F9-4751-81F7-E2A6B71211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Let’s begin …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B7755F-9637-42D4-95C5-56892BF93B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12000" y="1278360"/>
            <a:ext cx="7056000" cy="5291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37B8F-0A12-4FF1-B9F1-3E6BCD611E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In this class…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B3A8D1E-A20F-4EB8-9B00-6B268B84B9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are the four cornerstones of CT?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is the relation between Algorithm and Pseudocode?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is the relation between Programming Language and Program?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are the differences between High- and Low-Level programming languages?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What is the big advantage of using an Interpreted programming language?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2C45-2585-4BBF-80AC-692EE23E82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 dirty="0"/>
              <a:t>Computational Thinking (CT)</a:t>
            </a:r>
            <a:br>
              <a:rPr lang="en-GB" dirty="0"/>
            </a:br>
            <a:r>
              <a:rPr lang="en-GB" sz="2800" dirty="0"/>
              <a:t>(https://computationalthinkingcourse.withgoogle.com)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0B6677F-7A11-45C5-AABB-84333C1873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Computational Thinking (CT) is a problem solving process that includes a number of characteristics and dispositions. CT is </a:t>
            </a:r>
            <a:r>
              <a:rPr lang="en-GB" sz="2800" b="1" dirty="0"/>
              <a:t>essential to the development of computer applications</a:t>
            </a:r>
            <a:r>
              <a:rPr lang="en-GB" sz="2800" dirty="0"/>
              <a:t>, but it can also be used to support problem solving across all disciplines, including the humanities, math, and science. Students who learn CT across the curriculum can begin to see a relationship between academic subjects, as well as between life inside and outside of the classroom</a:t>
            </a:r>
            <a:r>
              <a:rPr lang="en-GB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D0CA95-61FB-49E8-839A-C563D9DAB640}"/>
              </a:ext>
            </a:extLst>
          </p:cNvPr>
          <p:cNvSpPr/>
          <p:nvPr/>
        </p:nvSpPr>
        <p:spPr>
          <a:xfrm>
            <a:off x="0" y="710775"/>
            <a:ext cx="10080625" cy="5242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… </a:t>
            </a:r>
            <a:r>
              <a:rPr lang="en-GB" sz="3200" dirty="0"/>
              <a:t>some of the elements of CT, </a:t>
            </a:r>
            <a:r>
              <a:rPr lang="en-GB" sz="3200" dirty="0" err="1"/>
              <a:t>includ</a:t>
            </a:r>
            <a:r>
              <a:rPr lang="en-GB" sz="3200" dirty="0"/>
              <a:t>[e]: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Decomposition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: Breaking down data, processes, or problems into smaller, manageable parts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Pattern Recognition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: Observing patterns, trends, and regularities in data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Abstraction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: Identifying the general principles that generate these patterns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Algorithm Design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: Developing the step by step instructions for solving this and similar problems</a:t>
            </a:r>
          </a:p>
        </p:txBody>
      </p:sp>
    </p:spTree>
    <p:extLst>
      <p:ext uri="{BB962C8B-B14F-4D97-AF65-F5344CB8AC3E}">
        <p14:creationId xmlns:p14="http://schemas.microsoft.com/office/powerpoint/2010/main" val="526594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EA7E6-4FD4-43FE-943A-41BF06788A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Who should learn CT?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36549C9-D67F-4017-BDAF-0EAF4C7D3DC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/>
              <a:t>“It represents a universally applicable attitude and skill set everyone, not just computer scientists, would be eager to learn and use” [1].</a:t>
            </a:r>
          </a:p>
          <a:p>
            <a:pPr lvl="0"/>
            <a:endParaRPr lang="en-GB"/>
          </a:p>
          <a:p>
            <a:pPr lvl="0"/>
            <a:br>
              <a:rPr lang="en-GB" sz="2800"/>
            </a:br>
            <a:br>
              <a:rPr lang="en-GB" sz="2800"/>
            </a:br>
            <a:r>
              <a:rPr lang="en-GB" sz="2800"/>
              <a:t>[1] Jeannette M. Wing. 2006. Computational thinking. Commun. ACM 49, 3 (March 2006), 33-35.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14AA5-8BB6-47F6-AD96-84277FC32F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My (simplistic) definition of Computational Thinking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D6BAB72-55BB-4B82-B964-8820323484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Thinking in a way that ease solving complex problems easily, by applying techniques such as: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Problem decomposition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Identification of patterns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Abstraction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Algorithm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DDD48-7F56-47A8-9ACF-E8A269B30B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0"/>
            <a:ext cx="9071640" cy="797169"/>
          </a:xfrm>
        </p:spPr>
        <p:txBody>
          <a:bodyPr/>
          <a:lstStyle/>
          <a:p>
            <a:pPr lvl="0"/>
            <a:r>
              <a:rPr lang="en-GB" dirty="0"/>
              <a:t>Problem Decomposition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8C68A88-6AB1-4411-A1CB-A4C918D970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971871"/>
            <a:ext cx="9071640" cy="6587804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Break down a complex problem in smaller parts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Problem: Having a meal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Approach 1: Eat dessert, appetizer, main course at once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Approach 2:</a:t>
            </a:r>
          </a:p>
          <a:p>
            <a:pPr lvl="2" hangingPunct="0">
              <a:spcBef>
                <a:spcPts val="1417"/>
              </a:spcBef>
              <a:buSzPct val="45000"/>
              <a:buFont typeface="StarSymbol"/>
              <a:buChar char="●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Separate meal in:</a:t>
            </a:r>
          </a:p>
          <a:p>
            <a:pPr lvl="3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Appetizer</a:t>
            </a:r>
          </a:p>
          <a:p>
            <a:pPr lvl="3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Main course</a:t>
            </a:r>
          </a:p>
          <a:p>
            <a:pPr lvl="3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Dessert</a:t>
            </a:r>
          </a:p>
          <a:p>
            <a:pPr lvl="2" hangingPunct="0">
              <a:spcBef>
                <a:spcPts val="1417"/>
              </a:spcBef>
              <a:buSzPct val="45000"/>
              <a:buFont typeface="StarSymbol"/>
              <a:buChar char="●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Eat: Appetizer, then main course, finally the dessert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C4B5173F-CE34-4672-ADB0-C34B18D6FB08}"/>
              </a:ext>
            </a:extLst>
          </p:cNvPr>
          <p:cNvSpPr/>
          <p:nvPr/>
        </p:nvSpPr>
        <p:spPr>
          <a:xfrm>
            <a:off x="6156000" y="4176000"/>
            <a:ext cx="2880000" cy="576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Which approach is easier?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(and makes more sense)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762D1-E445-43DD-A47B-DFC6E791D3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Divide-and-Conquer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AD876DC-453D-4457-A159-FD60275615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Latin: </a:t>
            </a:r>
            <a:r>
              <a:rPr lang="en-GB" i="1"/>
              <a:t>Divide et impera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Military strategy with the objective to destroy a huge opponent army, by attacking small portions of it (instead of attacking at once)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Politicians also use this strategy</a:t>
            </a:r>
          </a:p>
          <a:p>
            <a:pPr lvl="0">
              <a:buSzPct val="45000"/>
              <a:buFont typeface="StarSymbol"/>
              <a:buChar char="●"/>
            </a:pPr>
            <a:endParaRPr lang="en-GB"/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We can use this strategy to break our problems into more manageable 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67F80-CCB3-4EF7-BD7B-6C1936514D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Identification of Patterns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255286C-DBBD-44A1-A643-C668A01C617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Find similarities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Among sub-problems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Inside each sub-problem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Avoids the development of the same solution many times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If one problem is similar to another, the same solution can be applied to both problems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0EDE7-F2D0-4177-B1A0-8FFE54CC3D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8723" y="52650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Pattern example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11E3362-F897-4353-82B7-89F92FA927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1092746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Two sub-problems: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Move a heap of sand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Move a heap of gravel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Where is the pattern here?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Approach 1: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Use a shovel to </a:t>
            </a: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move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sand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Use a digger to </a:t>
            </a: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move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the gravel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Approach 2: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Use the digger to </a:t>
            </a:r>
            <a:r>
              <a:rPr lang="en-GB" sz="32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move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each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B696362-7054-4F1F-B4AB-04B1D44826E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136000" y="2592000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7FF5788-36A1-4EBD-9892-2ACF27B0D98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21286" y="3492000"/>
            <a:ext cx="4876560" cy="319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97B3D-486E-4250-9A41-AFED1C03A7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Abstraction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CC20A9E-B7F6-4EC2-8CFC-2EBC10B4F4D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Put the focus on the global and not on the details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Filters out what is not important in the problem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The solutions become more general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Looks like the contrary of Decomposition, but it comes </a:t>
            </a:r>
            <a:r>
              <a:rPr lang="en-GB" b="1"/>
              <a:t>after</a:t>
            </a:r>
            <a:r>
              <a:rPr lang="en-GB"/>
              <a:t> Decomposition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0B294-2F35-4C6E-A685-14879AC4D5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Abstraction example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51AFC62-2D9E-4456-B3CC-442AE48188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563480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I need to move a heap of yellow sand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 need to move a heap of black sand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Approach 1: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Build a machine that moves yellow sand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Build a machine that moves black sand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Approach 2: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Build a machine that moves sand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Where is the abstraction part?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E4100-C355-4566-8C8B-1E73BC3777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Algorithm Design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F88D2F4-685C-4ADC-8563-D95D37E151A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37719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Definition of the set of steps required to solve the problem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 </a:t>
            </a:r>
            <a:r>
              <a:rPr lang="en-GB" b="1" dirty="0"/>
              <a:t>algorithm is the set of steps</a:t>
            </a:r>
            <a:r>
              <a:rPr lang="en-GB" dirty="0"/>
              <a:t> (loose definition)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Another definition: sequence of instructions that solves a well defined (computational) problem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Definition of algorithm according to 9gag.com: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“Word used by programmers when they do not want to explain what they did”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92DCA10-E0B2-469F-B013-185FFACA1B4D}"/>
              </a:ext>
            </a:extLst>
          </p:cNvPr>
          <p:cNvSpPr/>
          <p:nvPr/>
        </p:nvSpPr>
        <p:spPr>
          <a:xfrm>
            <a:off x="6146031" y="7025615"/>
            <a:ext cx="3671999" cy="4654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 dirty="0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Ignore the definition by 9gag.com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972A9-ADD4-4FF1-81B5-432F56B9D4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Algorithm </a:t>
            </a:r>
            <a:r>
              <a:rPr lang="en-GB" i="1"/>
              <a:t>vs</a:t>
            </a:r>
            <a:r>
              <a:rPr lang="en-GB"/>
              <a:t> Recipe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F62F8D5-4DBA-40D4-AA39-0AC3348C2A1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37719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An algorithm can be seen as a recipe, but ...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 steps of a recipe are too ambiguous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E.g. put the pan inside the oven</a:t>
            </a:r>
          </a:p>
          <a:p>
            <a:pPr lvl="2" hangingPunct="0">
              <a:spcBef>
                <a:spcPts val="1417"/>
              </a:spcBef>
              <a:buSzPct val="45000"/>
              <a:buFont typeface="StarSymbol"/>
              <a:buChar char="●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What size? In what position? Which material? Etc…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We can make a “recipe” for the computer by using either of: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Flowchart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Pseudocode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4B527-7C79-4F94-B5A0-FFEA489477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 dirty="0"/>
              <a:t>Flowchart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9C9715-DB78-415C-9275-6CC63B3E40E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563480"/>
            <a:ext cx="5533944" cy="5996103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Diagram used to design a solution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Allows the diagrammatic representation of the algorithm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More details: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http://www4.uwsp.edu/geo/faculty/gmartin/geog476/Lecture/flowchart_symbols.html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428BC2-A9E3-41C3-9D9C-AF03A49C4B5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368040" y="1818360"/>
            <a:ext cx="2160000" cy="42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E6D9D-B53A-45C9-A452-FB2CA87D30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Pseudocode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8698613-C5EE-4899-9ED0-20A9A109FD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Alternative/Complement to flowcharts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Specify the steps of the solution to the problem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Intended for human reading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Usually, a subset of English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Close to a high-level programming language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It is what is usually translated to a PL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4B307-BBFE-4B88-89B6-043A197F2A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Pseudocode</a:t>
            </a:r>
            <a:br>
              <a:rPr lang="en-GB"/>
            </a:br>
            <a:r>
              <a:rPr lang="en-GB"/>
              <a:t>Example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E49F052-3121-43A1-8523-B885BA72B86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>
                <a:latin typeface="Courier 10 Pitch" pitchFamily="17"/>
              </a:rPr>
              <a:t>AddValues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val1 = input ‘Insert value:’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val2 = input ‘Insert value:’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total = val1 + val2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print ‘The total is: ’ + total</a:t>
            </a:r>
          </a:p>
          <a:p>
            <a:pPr lvl="0"/>
            <a:endParaRPr lang="en-GB">
              <a:latin typeface="Courier 10 Pitch" pitchFamily="17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does it do?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1F6E6-6876-4C48-92C7-30287E511B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GB"/>
              <a:t>Programming Language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2CFD4CE-5B38-44DA-AEB1-0C96E2ECEC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769040"/>
            <a:ext cx="9071640" cy="5328446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Like an idiom (English), but for computers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Allows us to </a:t>
            </a:r>
            <a:r>
              <a:rPr lang="en-GB" sz="2800" b="1" dirty="0"/>
              <a:t>program the computer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give instructions to the computer, so that it does what we require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The set of instructions is called </a:t>
            </a:r>
            <a:r>
              <a:rPr lang="en-GB" sz="2800" b="1" dirty="0"/>
              <a:t>Program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Example of a program: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	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val1 = float(input('Insert value:'))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val2 = float(input('Insert value:'))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total = val1 + val2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print('The total is: ' + total)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10B3C-0DBF-4332-8CA5-D031F32260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How to make a program</a:t>
            </a:r>
            <a:br>
              <a:rPr lang="en-GB"/>
            </a:br>
            <a:r>
              <a:rPr lang="en-GB"/>
              <a:t>Summary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BA6C63F-4470-4D2D-828A-D2B893BDE8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100000"/>
              <a:buAutoNum type="arabicPeriod"/>
            </a:pPr>
            <a:r>
              <a:rPr lang="en-GB"/>
              <a:t>Decompose the problem</a:t>
            </a:r>
          </a:p>
          <a:p>
            <a:pPr lvl="0">
              <a:buSzPct val="100000"/>
              <a:buAutoNum type="arabicPeriod"/>
            </a:pPr>
            <a:r>
              <a:rPr lang="en-GB"/>
              <a:t>Find patterns</a:t>
            </a:r>
          </a:p>
          <a:p>
            <a:pPr lvl="0">
              <a:buSzPct val="100000"/>
              <a:buAutoNum type="arabicPeriod"/>
            </a:pPr>
            <a:r>
              <a:rPr lang="en-GB"/>
              <a:t>Filter out unnecessary details (abstraction)</a:t>
            </a:r>
          </a:p>
          <a:p>
            <a:pPr lvl="0">
              <a:buSzPct val="100000"/>
              <a:buAutoNum type="arabicPeriod"/>
            </a:pPr>
            <a:r>
              <a:rPr lang="en-GB"/>
              <a:t>Write the algorithm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Using a flowchart and/or pseudocode</a:t>
            </a:r>
          </a:p>
          <a:p>
            <a:pPr lvl="0">
              <a:buSzPct val="100000"/>
              <a:buAutoNum type="arabicPeriod"/>
            </a:pPr>
            <a:r>
              <a:rPr lang="en-GB"/>
              <a:t>Write the program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Using a Programming Language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F3C08-5EBD-45DE-9738-4268482AB9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“Talking” to a computer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6C8C46E-7151-4876-A944-A0A334268C8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In reality, a computer only understands on and off switching (machine code)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Programming languages exist to make our communication with the computer easier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There are PL that look like English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These are called High-Level Languages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There are others that are closer to machine code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These are called Low-Level Languages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DD2F1-DA22-4023-91BC-2A3D454EB16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Programming Languages</a:t>
            </a:r>
            <a:br>
              <a:rPr lang="en-GB"/>
            </a:br>
            <a:r>
              <a:rPr lang="en-GB"/>
              <a:t>Examples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D4FE1C-F223-4C92-9DB4-A1B14C4FED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High-Level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Python; Java; C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More “friendly” to the programmer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Hardware independent (relatively)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Low-Level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Called assembly languages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Play directly with the CPU registers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Each CPU architecture has its own flavour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4CAC9-AD65-40B4-9E3C-B000130711F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Just one technical detail …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70CCB2F-4072-4BE6-8B8F-75701C65C3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The program is written in </a:t>
            </a:r>
            <a:r>
              <a:rPr lang="en-GB" b="1"/>
              <a:t>plain text</a:t>
            </a:r>
            <a:r>
              <a:rPr lang="en-GB"/>
              <a:t> (AKA source code)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The computer only understands on/off (AKA binary)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Our program must be converted into machine code (on/off), by either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Compilation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Interpretation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CC6F1-8775-4787-973B-C6B28201BF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Compilation vs Interpretation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1352833-E08F-4165-9528-2A42FA64FF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Compilation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print(“Hello”) → 010111 → CPU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Advantages: faster to run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Disadvantages: every change requires compilation; one program compiled for PC does not work on Mac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Interpretation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print(“Hello”) → Interpreter/VM → 010111 → CPU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Advantage: </a:t>
            </a:r>
            <a:r>
              <a:rPr lang="en-GB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EXPERIMENTATION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; runs “everywhere”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Disadvantages: a bit slower; requires more resources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D6998D2E-D701-4D17-82EB-9C726855DC46}"/>
              </a:ext>
            </a:extLst>
          </p:cNvPr>
          <p:cNvSpPr/>
          <p:nvPr/>
        </p:nvSpPr>
        <p:spPr>
          <a:xfrm>
            <a:off x="7056000" y="2196000"/>
            <a:ext cx="2736000" cy="576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C is a compiled language!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89E70F0-4CC9-4235-A5A2-3FEFFB92EC08}"/>
              </a:ext>
            </a:extLst>
          </p:cNvPr>
          <p:cNvSpPr/>
          <p:nvPr/>
        </p:nvSpPr>
        <p:spPr>
          <a:xfrm>
            <a:off x="6263999" y="5865480"/>
            <a:ext cx="3528000" cy="576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Python is an interpreted language!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8C9E2666-A1BF-4C81-9DC3-2CE2429BCBFE}"/>
              </a:ext>
            </a:extLst>
          </p:cNvPr>
          <p:cNvSpPr/>
          <p:nvPr/>
        </p:nvSpPr>
        <p:spPr>
          <a:xfrm>
            <a:off x="3168000" y="1835999"/>
            <a:ext cx="1349640" cy="360000"/>
          </a:xfrm>
          <a:custGeom>
            <a:avLst>
              <a:gd name="f0" fmla="val -7701"/>
              <a:gd name="f1" fmla="val 0"/>
              <a:gd name="f2" fmla="val 23304"/>
              <a:gd name="f3" fmla="val -3663"/>
              <a:gd name="f4" fmla="val 12968"/>
              <a:gd name="f5" fmla="val -1440"/>
              <a:gd name="f6" fmla="val 11954"/>
              <a:gd name="f7" fmla="val 0"/>
            </a:avLst>
            <a:gdLst>
              <a:gd name="f8" fmla="val w"/>
              <a:gd name="f9" fmla="val h"/>
              <a:gd name="f10" fmla="val 0"/>
              <a:gd name="f11" fmla="val 21600"/>
              <a:gd name="f12" fmla="val -2147483647"/>
              <a:gd name="f13" fmla="val 2147483647"/>
              <a:gd name="f14" fmla="*/ f8 1 21600"/>
              <a:gd name="f15" fmla="*/ f9 1 21600"/>
              <a:gd name="f16" fmla="pin -2147483647 f0 2147483647"/>
              <a:gd name="f17" fmla="pin -2147483647 f2 2147483647"/>
              <a:gd name="f18" fmla="pin -2147483647 f3 2147483647"/>
              <a:gd name="f19" fmla="pin -2147483647 f4 2147483647"/>
              <a:gd name="f20" fmla="pin -2147483647 f5 2147483647"/>
              <a:gd name="f21" fmla="pin -2147483647 f6 2147483647"/>
              <a:gd name="f22" fmla="val f16"/>
              <a:gd name="f23" fmla="val f17"/>
              <a:gd name="f24" fmla="val f18"/>
              <a:gd name="f25" fmla="val f19"/>
              <a:gd name="f26" fmla="val f20"/>
              <a:gd name="f27" fmla="val f21"/>
              <a:gd name="f28" fmla="*/ f16 f14 1"/>
              <a:gd name="f29" fmla="*/ f17 f15 1"/>
              <a:gd name="f30" fmla="*/ f18 f14 1"/>
              <a:gd name="f31" fmla="*/ f19 f15 1"/>
              <a:gd name="f32" fmla="*/ f20 f14 1"/>
              <a:gd name="f33" fmla="*/ f21 f15 1"/>
            </a:gdLst>
            <a:ahLst>
              <a:ahXY gdRefX="f0" minX="f12" maxX="f13" gdRefY="f2" minY="f12" maxY="f13">
                <a:pos x="f28" y="f29"/>
              </a:ahXY>
              <a:ahXY gdRefX="f3" minX="f12" maxX="f13" gdRefY="f4" minY="f12" maxY="f13">
                <a:pos x="f30" y="f31"/>
              </a:ahXY>
              <a:ahXY gdRefX="f5" minX="f12" maxX="f13" gdRefY="f6" minY="f12" maxY="f13">
                <a:pos x="f32" y="f3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10" y="f10"/>
                </a:moveTo>
                <a:lnTo>
                  <a:pt x="f11" y="f10"/>
                </a:lnTo>
                <a:lnTo>
                  <a:pt x="f11" y="f11"/>
                </a:lnTo>
                <a:lnTo>
                  <a:pt x="f10" y="f11"/>
                </a:lnTo>
                <a:close/>
              </a:path>
              <a:path w="21600" h="21600">
                <a:moveTo>
                  <a:pt x="f22" y="f23"/>
                </a:moveTo>
                <a:lnTo>
                  <a:pt x="f24" y="f25"/>
                </a:lnTo>
              </a:path>
              <a:path w="21600" h="21600">
                <a:moveTo>
                  <a:pt x="f24" y="f25"/>
                </a:moveTo>
                <a:lnTo>
                  <a:pt x="f26" y="f27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Source code</a:t>
            </a: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012AEC8-DBC8-43EC-A21D-1C8F6653A024}"/>
              </a:ext>
            </a:extLst>
          </p:cNvPr>
          <p:cNvSpPr/>
          <p:nvPr/>
        </p:nvSpPr>
        <p:spPr>
          <a:xfrm>
            <a:off x="5094360" y="1728000"/>
            <a:ext cx="1205640" cy="503999"/>
          </a:xfrm>
          <a:custGeom>
            <a:avLst>
              <a:gd name="f0" fmla="val -6170"/>
              <a:gd name="f1" fmla="val 0"/>
              <a:gd name="f2" fmla="val 21337"/>
              <a:gd name="f3" fmla="val -3501"/>
              <a:gd name="f4" fmla="val 10530"/>
              <a:gd name="f5" fmla="val -1611"/>
              <a:gd name="f6" fmla="val 8541"/>
              <a:gd name="f7" fmla="val 0"/>
            </a:avLst>
            <a:gdLst>
              <a:gd name="f8" fmla="val w"/>
              <a:gd name="f9" fmla="val h"/>
              <a:gd name="f10" fmla="val 0"/>
              <a:gd name="f11" fmla="val 21600"/>
              <a:gd name="f12" fmla="val -2147483647"/>
              <a:gd name="f13" fmla="val 2147483647"/>
              <a:gd name="f14" fmla="*/ f8 1 21600"/>
              <a:gd name="f15" fmla="*/ f9 1 21600"/>
              <a:gd name="f16" fmla="pin -2147483647 f0 2147483647"/>
              <a:gd name="f17" fmla="pin -2147483647 f2 2147483647"/>
              <a:gd name="f18" fmla="pin -2147483647 f3 2147483647"/>
              <a:gd name="f19" fmla="pin -2147483647 f4 2147483647"/>
              <a:gd name="f20" fmla="pin -2147483647 f5 2147483647"/>
              <a:gd name="f21" fmla="pin -2147483647 f6 2147483647"/>
              <a:gd name="f22" fmla="val f16"/>
              <a:gd name="f23" fmla="val f17"/>
              <a:gd name="f24" fmla="val f18"/>
              <a:gd name="f25" fmla="val f19"/>
              <a:gd name="f26" fmla="val f20"/>
              <a:gd name="f27" fmla="val f21"/>
              <a:gd name="f28" fmla="*/ f16 f14 1"/>
              <a:gd name="f29" fmla="*/ f17 f15 1"/>
              <a:gd name="f30" fmla="*/ f18 f14 1"/>
              <a:gd name="f31" fmla="*/ f19 f15 1"/>
              <a:gd name="f32" fmla="*/ f20 f14 1"/>
              <a:gd name="f33" fmla="*/ f21 f15 1"/>
            </a:gdLst>
            <a:ahLst>
              <a:ahXY gdRefX="f0" minX="f12" maxX="f13" gdRefY="f2" minY="f12" maxY="f13">
                <a:pos x="f28" y="f29"/>
              </a:ahXY>
              <a:ahXY gdRefX="f3" minX="f12" maxX="f13" gdRefY="f4" minY="f12" maxY="f13">
                <a:pos x="f30" y="f31"/>
              </a:ahXY>
              <a:ahXY gdRefX="f5" minX="f12" maxX="f13" gdRefY="f6" minY="f12" maxY="f13">
                <a:pos x="f32" y="f3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10" y="f10"/>
                </a:moveTo>
                <a:lnTo>
                  <a:pt x="f11" y="f10"/>
                </a:lnTo>
                <a:lnTo>
                  <a:pt x="f11" y="f11"/>
                </a:lnTo>
                <a:lnTo>
                  <a:pt x="f10" y="f11"/>
                </a:lnTo>
                <a:close/>
              </a:path>
              <a:path w="21600" h="21600">
                <a:moveTo>
                  <a:pt x="f22" y="f23"/>
                </a:moveTo>
                <a:lnTo>
                  <a:pt x="f24" y="f25"/>
                </a:lnTo>
              </a:path>
              <a:path w="21600" h="21600">
                <a:moveTo>
                  <a:pt x="f24" y="f25"/>
                </a:moveTo>
                <a:lnTo>
                  <a:pt x="f26" y="f27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Compiled</a:t>
            </a:r>
            <a:b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(binary)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70830-9363-41F3-92C9-75F4686B4E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Back to the questions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F46D728-392D-4FF2-8B3E-835CCB1DA9A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54972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What are the four cornerstones of CT?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What is the relation between Algorithm and Pseudocode?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What is the relation between Programming Language and Program?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What are the differences between High- and Low-Level programming languages?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What is the big advantage of using an Interpreted programming language?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59E66-1F34-417A-97FD-6A10C4DE86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Further reading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74F0243-8535-446C-A69A-9F213FDE0F6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PP, Chapter 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/>
              <a:t>Jeannette M. Wing. 2006. Computational thinking. Commun. ACM 49, 3 (March 2006), 33-35.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1652</Words>
  <Application>Microsoft Office PowerPoint</Application>
  <PresentationFormat>Custom</PresentationFormat>
  <Paragraphs>221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Courier 10 Pitch</vt:lpstr>
      <vt:lpstr>Liberation Sans</vt:lpstr>
      <vt:lpstr>Liberation Serif</vt:lpstr>
      <vt:lpstr>StarSymbol</vt:lpstr>
      <vt:lpstr>Times New Roman</vt:lpstr>
      <vt:lpstr>Default</vt:lpstr>
      <vt:lpstr>PowerPoint Presentation</vt:lpstr>
      <vt:lpstr>About CS FOP</vt:lpstr>
      <vt:lpstr>Main objectives</vt:lpstr>
      <vt:lpstr>Overview</vt:lpstr>
      <vt:lpstr>Class format (weekly)</vt:lpstr>
      <vt:lpstr>Assessment READ Proformas  R E A D   Y O U R    E M A I L S </vt:lpstr>
      <vt:lpstr>Resources</vt:lpstr>
      <vt:lpstr>Recommendations</vt:lpstr>
      <vt:lpstr>Miscellaneous</vt:lpstr>
      <vt:lpstr>Let’s begin …</vt:lpstr>
      <vt:lpstr>In this class…</vt:lpstr>
      <vt:lpstr>Computational Thinking (CT) (https://computationalthinkingcourse.withgoogle.com)</vt:lpstr>
      <vt:lpstr>PowerPoint Presentation</vt:lpstr>
      <vt:lpstr>Who should learn CT?</vt:lpstr>
      <vt:lpstr>My (simplistic) definition of Computational Thinking</vt:lpstr>
      <vt:lpstr>Problem Decomposition</vt:lpstr>
      <vt:lpstr>Divide-and-Conquer</vt:lpstr>
      <vt:lpstr>Identification of Patterns</vt:lpstr>
      <vt:lpstr>Pattern example</vt:lpstr>
      <vt:lpstr>Abstraction</vt:lpstr>
      <vt:lpstr>Abstraction example</vt:lpstr>
      <vt:lpstr>Algorithm Design</vt:lpstr>
      <vt:lpstr>Algorithm vs Recipe</vt:lpstr>
      <vt:lpstr>Flowchart</vt:lpstr>
      <vt:lpstr>Pseudocode</vt:lpstr>
      <vt:lpstr>Pseudocode Example</vt:lpstr>
      <vt:lpstr>Programming Language</vt:lpstr>
      <vt:lpstr>How to make a program Summary</vt:lpstr>
      <vt:lpstr>“Talking” to a computer</vt:lpstr>
      <vt:lpstr>Programming Languages Examples</vt:lpstr>
      <vt:lpstr>Just one technical detail …</vt:lpstr>
      <vt:lpstr>Compilation vs Interpretation</vt:lpstr>
      <vt:lpstr>Back to the questions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 Fundamentals of programming</dc:title>
  <dc:creator>António Anjos</dc:creator>
  <cp:lastModifiedBy>Hamid Reza Shahbazkia</cp:lastModifiedBy>
  <cp:revision>243</cp:revision>
  <cp:lastPrinted>2017-10-03T14:59:00Z</cp:lastPrinted>
  <dcterms:created xsi:type="dcterms:W3CDTF">2016-08-02T15:42:55Z</dcterms:created>
  <dcterms:modified xsi:type="dcterms:W3CDTF">2025-09-16T07:13:54Z</dcterms:modified>
</cp:coreProperties>
</file>