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86" r:id="rId22"/>
    <p:sldId id="287" r:id="rId23"/>
    <p:sldId id="288" r:id="rId24"/>
    <p:sldId id="277" r:id="rId25"/>
    <p:sldId id="278" r:id="rId26"/>
    <p:sldId id="279" r:id="rId27"/>
    <p:sldId id="280" r:id="rId28"/>
    <p:sldId id="289" r:id="rId29"/>
    <p:sldId id="281" r:id="rId30"/>
    <p:sldId id="282" r:id="rId31"/>
    <p:sldId id="283" r:id="rId32"/>
    <p:sldId id="284" r:id="rId33"/>
    <p:sldId id="290" r:id="rId34"/>
    <p:sldId id="285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91" autoAdjust="0"/>
  </p:normalViewPr>
  <p:slideViewPr>
    <p:cSldViewPr snapToGrid="0">
      <p:cViewPr varScale="1">
        <p:scale>
          <a:sx n="58" d="100"/>
          <a:sy n="58" d="100"/>
        </p:scale>
        <p:origin x="414" y="66"/>
      </p:cViewPr>
      <p:guideLst/>
    </p:cSldViewPr>
  </p:slideViewPr>
  <p:outlineViewPr>
    <p:cViewPr>
      <p:scale>
        <a:sx n="33" d="100"/>
        <a:sy n="33" d="100"/>
      </p:scale>
      <p:origin x="0" y="-1204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FAD162-384B-4B56-BA8E-4CC948E1DD2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C1D1CE-416B-41F4-967C-E6DA9439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79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EAF4A-01DB-473E-A7D8-90FE2235405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4C8F9A9-6128-443F-88B8-B62C140B6643}" type="slidenum">
              <a:t>1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020E9-9F1F-45D7-B1A9-CBB36B74BD0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2381B9-15D2-40DB-895D-4B13F40B980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854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2B2C3-99EF-4A61-BF5B-2895D68EECE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5CB237C-0922-4AF4-9AC8-321D9961D4CE}" type="slidenum">
              <a:t>2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2B420E-58C5-46A0-895C-42830362CB6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1E9D2E-7626-4204-8367-7629522CDA4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0776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AE286-550A-44FE-8275-38062DB1ED6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ABA7130-A6A9-4307-85E9-797118F3860E}" type="slidenum">
              <a:t>3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13C8D7-C14E-4043-A918-D815FEC6CAB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8280C-6013-4FF8-9175-FFCF0470223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375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8A01C-272E-4A38-826F-439881AAF69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3B656045-13DB-4DE9-A516-EE2A79337E72}" type="slidenum">
              <a:t>4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06352-B2B7-42D1-AEB2-1D1F822846D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6677E1-9FD2-4225-9F9D-7BBB6354F09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0597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FA02A-CE98-4AD6-AFFA-9959FAB0555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6E1B28D8-89AA-4DAF-81AE-97EAB35304D5}" type="slidenum">
              <a:t>5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4F4400-1D57-4CCD-B6AB-E286FB69452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3B8EB-2038-474A-ADD4-82EC8CB8967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6600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A2597-1B0D-4844-AF2C-C4C5104BAF8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1D30501-FEC5-48E5-855B-A9129633F7D5}" type="slidenum">
              <a:t>6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F12ED2-8AA1-4E34-920F-1957A3B2231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B50B8-A98B-421B-9C1C-022726C7014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3652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0E45F-9312-457A-B091-7B4A4315A77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309A7640-090D-4A50-8373-DC37DEE10BE6}" type="slidenum">
              <a:t>7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D15193-69ED-4C9C-BD09-6A7B6D429FA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F2FCF-3C71-4F77-B74D-B9B966D8DC8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47244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03F545-26DD-4445-ACE8-CD892667BB7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2D89369-BA74-437D-94BE-4A55AF5D45A6}" type="slidenum">
              <a:t>8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CDDB91-F349-4C4F-998A-05FD6A19152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AF868A-7C38-4AFC-A1EE-3D60B1ADCE1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4714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CEE757-F285-4535-B7F2-0830E296703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A0D005B-278F-44ED-B99D-22947315A730}" type="slidenum">
              <a:t>9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2C7213-C410-4F83-AF82-DF2A0D3E4CB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B1E59D-5C07-4F4F-96D9-00FF9D8C756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624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318AF-EA31-43B4-8AD5-0CD4B3CDC9B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35020864-550B-41B2-9A1F-3FD7DBEC0C50}" type="slidenum">
              <a:t>10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D9A21-62F0-4749-8466-B2A1DB6D2CE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5D6C0B-1B0E-403E-B0FD-F284ABBD23F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52511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DBB53-20F9-441B-AE09-D22BE5D3AD7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A42030F-5C18-4B7A-BF5F-A0C649D59BBF}" type="slidenum">
              <a:t>11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DE740B-9F57-4AA2-9A6B-76DA9C3CE4E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5BFD8-942B-4162-951D-702D71C5DBD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82209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AB8D1-8C9B-439D-9956-88FD0193D00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BD83360-8A15-4494-BB11-145491ABA111}" type="slidenum">
              <a:t>12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CBAE68-6F2C-4F01-892A-CD83B39B522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37D225-D2D7-43FC-945C-2C74AF53716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5569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205E5-F6EC-4736-9037-A06447F4A95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F76995D-C90F-43ED-80E0-94EB78873511}" type="slidenum">
              <a:t>13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0C5AE3-24E4-4DF2-8797-3C9503D03E6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DB1B1F-E38D-4FF8-8A74-34DADCE3841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54139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5541D-7D76-4D52-875A-34E8F507CE2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0E10136-623C-42E2-8159-E8E498FFD1BC}" type="slidenum">
              <a:t>14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DC5E51-90BB-4B73-96AF-A4527CF6745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482F08-5108-41AA-BF4D-E9843C4786C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2808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0A189-D827-40C7-8D43-9416D32C5D6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6EF7AF0-AFBE-4DC9-B20C-EE63AB0134EE}" type="slidenum">
              <a:t>15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9D1EDE-3BAB-41E9-86E4-63FDE8884D7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E8A4F7-60F2-4B88-9309-A302F5238D6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1136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12081C-4695-4EFB-8FB4-80B3F2AED2F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37E998FA-D6DA-4879-B312-D1BF912AE527}" type="slidenum">
              <a:t>16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D7D80-C4D9-4761-9557-9B143278661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D2AB19-3999-48DA-83CB-38403248C7B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3368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3E9B1A-54EA-4845-B41F-AF6A60261DF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B45BF814-5C81-415D-A4A4-75DB57C94D4B}" type="slidenum">
              <a:t>17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3DB54C-565B-431D-A519-D1AA081009F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1C3392-9885-4F39-8F9D-E4D8B6A619F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70430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F6408-EDA7-4B54-B5BD-AC47A5342FC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D024DEAE-3C36-49DC-A7D9-7E6B6FCD0C73}" type="slidenum">
              <a:t>18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D23E57-E5C4-47D3-9965-2CF7B1A6D5D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ADBE22-723C-40B9-A3C0-146A33DF552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018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E01AD-D35A-4528-BAAD-3E8F66F9DA3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2E0DE6A-52BB-45F1-9DC7-035A7D8FD1AE}" type="slidenum">
              <a:t>19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DF3F3F-A278-474A-AA7C-0C8CCBB256D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2A3DC3-DE38-4867-9AD5-D66610BF88C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6715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2B3EA4-FCD4-417A-B08E-B4125D65097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B23B4BCD-505D-40BD-8AF1-5A097D0B3A79}" type="slidenum">
              <a:t>20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CD6B3E-CD46-4701-9747-5C47BA9D024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A244A-C2BF-4063-ACB9-F766ACB73FC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0961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A36E2-8A50-44F3-97D5-A7A2F74EEC9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E8BC223-F2CB-4AA3-91A5-2CE92F08AB26}" type="slidenum">
              <a:t>22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7395C2-71FF-4435-A88E-016EED43174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4FB5E8-4490-4EF0-A66C-13DCCD50B6D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21745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FE849-9E54-407F-A510-17F715149C9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D9002B3-0055-4AC9-A943-4D8E11E0EA4B}" type="slidenum">
              <a:t>24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691DB7-9E66-4E0C-97B2-5177C7DFE17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86F706-EA1B-4DE8-805E-E40973B110A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88909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3253B-9074-480F-981D-5B2FA443484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48AAC036-67F4-4C3C-A4D6-DF798F0356B8}" type="slidenum">
              <a:t>25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C436B-B1EE-4A81-823C-3953293DE3F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752ED7-8DAD-4CFF-99EA-1E867CD36E4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99265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24DD4-6417-4E41-BA3D-CD885C06429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49F64778-154F-4A3B-BD7C-BBB0815C2A28}" type="slidenum">
              <a:t>26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517310-C293-488B-849B-3CDC85DABCA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77078-C20C-4811-81EF-380B3A4B155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79937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D65B5-DDAC-4E70-A457-524551A6618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160D8E5B-2960-409C-8D7B-B6EEE35ADAB2}" type="slidenum">
              <a:t>27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A508E-1D81-4C76-8B82-4ABEFBA9A9C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0B171C-E24E-4F94-9178-8D8E5488F51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9745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BAE05-84DF-4BE0-9164-655D7007F68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1F174EB7-C2A7-4DA5-AF46-C29C802C5BD2}" type="slidenum">
              <a:t>29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42A86B-3630-4DFC-9E85-A731D5807BA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C72A2E-585C-40CE-A238-6D5D28976D5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587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4BAAE-BAAD-4402-8174-3CE4F956ADE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649AC6D5-1FAC-466E-B0A6-CF200FEFA7FD}" type="slidenum">
              <a:t>30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FA8B19-F9B6-43D1-BD79-C9F4372A2E1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899BB-C7BA-4E50-A488-AD4839335F9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73518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A2321-F33D-4D71-9E14-19F01856D06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810A0B11-FCC6-4D49-BFF8-D212B65B458F}" type="slidenum">
              <a:t>31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E46858-DFF4-4A97-B331-96B13626735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AD077-BF6C-474C-AFE9-3488E7F498F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84999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6B4247-E258-473B-B3EE-2E31B8426D6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C8FDFA9-B9DD-4EC1-99A0-06607CC3F816}" type="slidenum">
              <a:t>32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000FD-1F9D-469D-8D42-BB41F9823A3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42E3D-780E-484C-916B-63A146D84F4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83833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C4C8C-5776-52CC-F4D5-FC4FC249C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D8789-D66E-82B1-8D86-CC4F82733B4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13768650-CC82-476E-808A-1D706087A497}" type="slidenum">
              <a:t>33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AEF90E-FB02-FF76-EE39-95B675C073D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88943-C244-3378-F8E1-0E80D32F5DA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24680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6B9FB-CE8F-4F62-928C-0EEA6792B4B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13768650-CC82-476E-808A-1D706087A497}" type="slidenum">
              <a:t>34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217D1-0C56-4062-A508-85E1834C6CF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F9248-5B78-48B9-A0B4-435F76307F5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365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9C1B7-8B6E-40A4-8E33-E18266740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EF121F-5168-42FF-88A2-F5FC33732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1ECAF-8328-4801-A7C2-D14C5CD62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6A4C-A09B-4FA9-BF1B-42F0F042511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6D0DD-4E5D-43D5-9FA0-508E7DE47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8E224-3DCC-492E-A613-2226A8D8B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8DEC6-748A-431C-8AEB-EA2D2EC65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149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0DA3C-F822-4F44-A576-0D6050C2B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94CC1-C612-45A8-9EA1-6C60B7350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3DD7A-3371-4D55-8CB3-1364DF871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6A4C-A09B-4FA9-BF1B-42F0F042511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CB18B-8493-48E1-B47D-90137B0D6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D67E6-5A6C-4E41-B973-2DFBB0C1A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8DEC6-748A-431C-8AEB-EA2D2EC65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312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95C3B-2E70-46EF-8BD9-FC717EBCE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5D4D9-6ADF-4AB1-9682-817FDEB15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BA85F-AD23-4884-88C6-FE939327C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6A4C-A09B-4FA9-BF1B-42F0F042511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0B703-E431-4F94-828C-F43B179AE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5DCEB-2426-447B-8A48-FB3ED0313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8DEC6-748A-431C-8AEB-EA2D2EC65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914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E67BC-D91D-47FC-97E0-E1693AE5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D419B-FF42-4854-9C26-13DDF76748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E9B962-6DA8-4ED0-B2B5-EE98E2029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10935-15F7-4D80-B43A-3F7159122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6A4C-A09B-4FA9-BF1B-42F0F042511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A9B69-64ED-41B3-816F-99F4E2FE6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B2C5B-1758-4296-A933-54D31E64B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8DEC6-748A-431C-8AEB-EA2D2EC65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90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EAF11-967B-43B2-A214-6186EB9F3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6017D-611C-4336-B551-F084AAACE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63706-2CF1-47C1-9F7E-11F8F9975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AD1050-EC71-46FF-8DE6-1BA7FD679B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DBC9D2-69FB-452D-9100-6C0E463104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9F3252-65B8-4107-AFC6-133201E42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6A4C-A09B-4FA9-BF1B-42F0F042511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A35B37-A225-4400-AFE7-887D74891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8D1820-410D-4253-BA81-7C783ECBB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8DEC6-748A-431C-8AEB-EA2D2EC65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5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0CFD-635B-4E15-93BD-AEE88436F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836BCC-8B91-4C60-8524-44624D2C2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6A4C-A09B-4FA9-BF1B-42F0F042511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331A51-BAC9-4089-A8EA-D1BBA98D1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A9C5B-9644-438C-BFA4-099974CA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8DEC6-748A-431C-8AEB-EA2D2EC65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31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43A18F-1FA7-4072-B326-BE5495D53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6A4C-A09B-4FA9-BF1B-42F0F042511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49548B-A1B3-436F-852F-6394098D0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AB313-FECB-4720-BEA7-712F56B94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8DEC6-748A-431C-8AEB-EA2D2EC65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177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5AB60-C4AC-4D81-89AD-86E8A2F44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659C8-FC49-4B6C-9093-CBE388D63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C64905-2D7C-4BE4-B8CA-597217558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D8263-44D2-459D-A694-D8E296BDB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6A4C-A09B-4FA9-BF1B-42F0F042511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2C2B1-07CF-45DC-A54A-A6392E67D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298B1B-EA1C-4F73-87DA-FEE4BA76F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8DEC6-748A-431C-8AEB-EA2D2EC65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7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D3BEB-BE5B-433E-82D8-E8C08D852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DBC832-C4D5-4FFB-AE98-6E713C418D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7B539-883F-409D-AD70-E6E0581C86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EEDE7-BDA6-4BC8-B2D0-B86B3C73C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6A4C-A09B-4FA9-BF1B-42F0F042511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FB7B2-F8C0-4B99-AE60-8E054235E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E2D380-AB74-498E-823C-3A4DDBCA3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8DEC6-748A-431C-8AEB-EA2D2EC65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534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C084-2E4C-43BC-8D78-F32496187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814C1-4EF6-43AF-9B9D-BEC918222A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AD69B-7D21-4346-A378-3764D393D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6A4C-A09B-4FA9-BF1B-42F0F042511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0EE19-D9AE-4B4D-954B-DBB0F1A8A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116E0-A8AB-4E8B-AB2D-DFA47A191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8DEC6-748A-431C-8AEB-EA2D2EC65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53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CD577E-FF9C-4F81-ACDC-BFA4D5E8E9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FDF73B-E0C8-427D-AD23-BD0AF6880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7F02C-0DCE-44AB-B9EB-303088B03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6A4C-A09B-4FA9-BF1B-42F0F042511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0202C-F5E3-468E-82C8-A91687FA5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442C1-68F8-43F1-8A02-38854199A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8DEC6-748A-431C-8AEB-EA2D2EC65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215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6000"/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D35288-1E4B-46A9-BF0B-F5492AF3C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69EA9-D9AC-42DF-B644-A36F7E142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0F58D-AC8F-41EA-8D6B-E20212C18B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E6A4C-A09B-4FA9-BF1B-42F0F042511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6EE41-E004-4BA4-BBCC-7480F6618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DDF88-8E86-4942-91C8-012C2C0570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78DEC6-748A-431C-8AEB-EA2D2EC65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999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82A40-A208-4429-B3BE-C0D93655B47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0739" y="2494134"/>
            <a:ext cx="8229627" cy="1145009"/>
          </a:xfrm>
        </p:spPr>
        <p:txBody>
          <a:bodyPr>
            <a:normAutofit fontScale="90000"/>
          </a:bodyPr>
          <a:lstStyle/>
          <a:p>
            <a:pPr lvl="0"/>
            <a:r>
              <a:rPr lang="en-GB" dirty="0"/>
              <a:t>FUN PRO     2025-26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FA1930-3630-4251-8EE4-BED8AC1663B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980739" y="5261595"/>
            <a:ext cx="8229627" cy="480131"/>
          </a:xfrm>
        </p:spPr>
        <p:txBody>
          <a:bodyPr anchor="ctr">
            <a:spAutoFit/>
          </a:bodyPr>
          <a:lstStyle/>
          <a:p>
            <a:pPr lvl="0" algn="ctr"/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84B314-8F4F-4377-AB54-4C89041EF5F6}"/>
              </a:ext>
            </a:extLst>
          </p:cNvPr>
          <p:cNvSpPr txBox="1"/>
          <p:nvPr/>
        </p:nvSpPr>
        <p:spPr>
          <a:xfrm>
            <a:off x="5598224" y="3955258"/>
            <a:ext cx="994987" cy="564050"/>
          </a:xfrm>
          <a:prstGeom prst="rect">
            <a:avLst/>
          </a:prstGeom>
          <a:noFill/>
          <a:ln>
            <a:noFill/>
          </a:ln>
        </p:spPr>
        <p:txBody>
          <a:bodyPr vert="horz" wrap="none" lIns="81646" tIns="40823" rIns="81646" bIns="40823" anchor="ctr" anchorCtr="1" compatLnSpc="0">
            <a:spAutoFit/>
          </a:bodyPr>
          <a:lstStyle/>
          <a:p>
            <a:pPr algn="ctr" hangingPunct="0"/>
            <a:r>
              <a:rPr lang="en-GB" sz="3266" b="1">
                <a:latin typeface="Liberation Sans" pitchFamily="18"/>
                <a:ea typeface="DejaVu Sans" pitchFamily="2"/>
                <a:cs typeface="FreeSans" pitchFamily="2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422534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FBD0A-0870-47E1-A9FD-9AA9E635DD1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In this class 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B4C35-5027-4BB3-9CE3-FCE534F0890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How does Python represent text?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Can we add text together, or multiply text by a number?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Can I add text to a number?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How to find the length of a piece of text?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How to create a number from text?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What is an escape sequence?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How to print text to the screen?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How to read text from the keyboard?</a:t>
            </a:r>
          </a:p>
        </p:txBody>
      </p:sp>
    </p:spTree>
    <p:extLst>
      <p:ext uri="{BB962C8B-B14F-4D97-AF65-F5344CB8AC3E}">
        <p14:creationId xmlns:p14="http://schemas.microsoft.com/office/powerpoint/2010/main" val="2959555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2C45-707B-49C8-8E09-6D0E93C7B87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Working with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164A8-AE1D-4800-94E4-8A40A35B294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Although computers were first made to do arithmetic, today they spend a lot of time working with text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In Python, text is represented as a </a:t>
            </a:r>
            <a:r>
              <a:rPr lang="en-GB" b="1" dirty="0"/>
              <a:t>string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A string is a sequence of characters (letters, digits, and symbols)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In Python we say that a value is a string (text) by placing it between single or double quotes</a:t>
            </a:r>
          </a:p>
        </p:txBody>
      </p:sp>
    </p:spTree>
    <p:extLst>
      <p:ext uri="{BB962C8B-B14F-4D97-AF65-F5344CB8AC3E}">
        <p14:creationId xmlns:p14="http://schemas.microsoft.com/office/powerpoint/2010/main" val="1327252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EFE02-2613-4FC7-A9AA-C8B104F7822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0739" y="0"/>
            <a:ext cx="8229627" cy="843897"/>
          </a:xfrm>
        </p:spPr>
        <p:txBody>
          <a:bodyPr/>
          <a:lstStyle/>
          <a:p>
            <a:pPr lvl="0"/>
            <a:r>
              <a:rPr lang="en-GB" dirty="0"/>
              <a:t>Examples of strings (text)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A2C5A-EBDE-4253-B374-F5FDA5ECD0C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80739" y="790664"/>
            <a:ext cx="8229627" cy="3977484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GB" dirty="0">
                <a:latin typeface="Courier 10 Pitch" pitchFamily="17"/>
              </a:rPr>
              <a:t>&gt;&gt;&gt; '123'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'123'</a:t>
            </a:r>
          </a:p>
          <a:p>
            <a:pPr lvl="0"/>
            <a:r>
              <a:rPr lang="en-GB" dirty="0">
                <a:latin typeface="Courier 10 Pitch" pitchFamily="17"/>
              </a:rPr>
              <a:t>&gt;&gt;&gt; "250"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'250'</a:t>
            </a:r>
          </a:p>
          <a:p>
            <a:pPr lvl="0"/>
            <a:r>
              <a:rPr lang="en-GB" dirty="0">
                <a:latin typeface="Courier 10 Pitch" pitchFamily="17"/>
              </a:rPr>
              <a:t>&gt;&gt;&gt; 'Hello!'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'Hello!'</a:t>
            </a:r>
          </a:p>
          <a:p>
            <a:pPr lvl="0"/>
            <a:r>
              <a:rPr lang="en-GB" dirty="0">
                <a:latin typeface="Courier 10 Pitch" pitchFamily="17"/>
              </a:rPr>
              <a:t>&gt;&gt;&gt; 'Hi, my name is António, and I am 41.'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'Hi, my name is António, and I am 41.'</a:t>
            </a:r>
          </a:p>
          <a:p>
            <a:r>
              <a:rPr lang="en-GB" dirty="0">
                <a:latin typeface="Courier 10 Pitch" pitchFamily="17"/>
              </a:rPr>
              <a:t>&gt;&gt;&gt; '2 + 5’				&gt;&gt;&gt; ''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'2 + 5’					‘’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DAEE599-649C-445C-BB63-F2DB5EB8A410}"/>
              </a:ext>
            </a:extLst>
          </p:cNvPr>
          <p:cNvSpPr/>
          <p:nvPr/>
        </p:nvSpPr>
        <p:spPr>
          <a:xfrm>
            <a:off x="8556217" y="4098228"/>
            <a:ext cx="1224369" cy="326585"/>
          </a:xfrm>
          <a:custGeom>
            <a:avLst>
              <a:gd name="f0" fmla="val -22176"/>
              <a:gd name="f1" fmla="val 0"/>
              <a:gd name="f2" fmla="val 21578"/>
              <a:gd name="f3" fmla="val -14457"/>
              <a:gd name="f4" fmla="val 21319"/>
              <a:gd name="f5" fmla="val -1440"/>
              <a:gd name="f6" fmla="val 11954"/>
              <a:gd name="f7" fmla="val 0"/>
            </a:avLst>
            <a:gdLst>
              <a:gd name="f8" fmla="val w"/>
              <a:gd name="f9" fmla="val h"/>
              <a:gd name="f10" fmla="val 0"/>
              <a:gd name="f11" fmla="val 21600"/>
              <a:gd name="f12" fmla="val -2147483647"/>
              <a:gd name="f13" fmla="val 2147483647"/>
              <a:gd name="f14" fmla="*/ f8 1 21600"/>
              <a:gd name="f15" fmla="*/ f9 1 21600"/>
              <a:gd name="f16" fmla="pin -2147483647 f0 2147483647"/>
              <a:gd name="f17" fmla="pin -2147483647 f2 2147483647"/>
              <a:gd name="f18" fmla="pin -2147483647 f3 2147483647"/>
              <a:gd name="f19" fmla="pin -2147483647 f4 2147483647"/>
              <a:gd name="f20" fmla="pin -2147483647 f5 2147483647"/>
              <a:gd name="f21" fmla="pin -2147483647 f6 2147483647"/>
              <a:gd name="f22" fmla="val f16"/>
              <a:gd name="f23" fmla="val f17"/>
              <a:gd name="f24" fmla="val f18"/>
              <a:gd name="f25" fmla="val f19"/>
              <a:gd name="f26" fmla="val f20"/>
              <a:gd name="f27" fmla="val f21"/>
              <a:gd name="f28" fmla="*/ f16 f14 1"/>
              <a:gd name="f29" fmla="*/ f17 f15 1"/>
              <a:gd name="f30" fmla="*/ f18 f14 1"/>
              <a:gd name="f31" fmla="*/ f19 f15 1"/>
              <a:gd name="f32" fmla="*/ f20 f14 1"/>
              <a:gd name="f33" fmla="*/ f21 f15 1"/>
            </a:gdLst>
            <a:ahLst>
              <a:ahXY gdRefX="f0" minX="f12" maxX="f13" gdRefY="f2" minY="f12" maxY="f13">
                <a:pos x="f28" y="f29"/>
              </a:ahXY>
              <a:ahXY gdRefX="f3" minX="f12" maxX="f13" gdRefY="f4" minY="f12" maxY="f13">
                <a:pos x="f30" y="f31"/>
              </a:ahXY>
              <a:ahXY gdRefX="f5" minX="f12" maxX="f13" gdRefY="f6" minY="f12" maxY="f13">
                <a:pos x="f32" y="f33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10" y="f10"/>
                </a:moveTo>
                <a:lnTo>
                  <a:pt x="f11" y="f10"/>
                </a:lnTo>
                <a:lnTo>
                  <a:pt x="f11" y="f11"/>
                </a:lnTo>
                <a:lnTo>
                  <a:pt x="f10" y="f11"/>
                </a:lnTo>
                <a:close/>
              </a:path>
              <a:path w="21600" h="21600">
                <a:moveTo>
                  <a:pt x="f22" y="f23"/>
                </a:moveTo>
                <a:lnTo>
                  <a:pt x="f24" y="f25"/>
                </a:lnTo>
              </a:path>
              <a:path w="21600" h="21600">
                <a:moveTo>
                  <a:pt x="f24" y="f25"/>
                </a:moveTo>
                <a:lnTo>
                  <a:pt x="f26" y="f27"/>
                </a:lnTo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algn="ctr" hangingPunct="0"/>
            <a:r>
              <a:rPr lang="en-GB" sz="1633" dirty="0">
                <a:latin typeface="Liberation Sans" pitchFamily="18"/>
                <a:ea typeface="DejaVu Sans" pitchFamily="2"/>
                <a:cs typeface="FreeSans" pitchFamily="2"/>
              </a:rPr>
              <a:t>Empty string.</a:t>
            </a:r>
          </a:p>
        </p:txBody>
      </p:sp>
    </p:spTree>
    <p:extLst>
      <p:ext uri="{BB962C8B-B14F-4D97-AF65-F5344CB8AC3E}">
        <p14:creationId xmlns:p14="http://schemas.microsoft.com/office/powerpoint/2010/main" val="3293417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3492E-F3DD-4E4D-99DD-A0B78E4B0D6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Quotes must match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4F66E-3220-43E0-B8B0-C61BD0B8F45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GB">
                <a:latin typeface="Courier 10 Pitch" pitchFamily="17"/>
              </a:rPr>
              <a:t>&gt;&gt;&gt; '2 + 5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SyntaxError: EOL while scanning string literal</a:t>
            </a:r>
          </a:p>
          <a:p>
            <a:pPr lvl="0"/>
            <a:r>
              <a:rPr lang="en-GB">
                <a:latin typeface="Courier 10 Pitch" pitchFamily="17"/>
              </a:rPr>
              <a:t>&gt;&gt;&gt; '2 + 5"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SyntaxError: EOL while scanning string literal</a:t>
            </a:r>
          </a:p>
          <a:p>
            <a:pPr lvl="0"/>
            <a:r>
              <a:rPr lang="en-GB">
                <a:latin typeface="Courier 10 Pitch" pitchFamily="17"/>
              </a:rPr>
              <a:t>&gt;&gt;&gt; "2 + 5'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SyntaxError: EOL while scanning string literal</a:t>
            </a:r>
          </a:p>
          <a:p>
            <a:pPr lvl="0"/>
            <a:r>
              <a:rPr lang="en-GB">
                <a:latin typeface="Courier 10 Pitch" pitchFamily="17"/>
              </a:rPr>
              <a:t>&gt;&gt;&gt; '2 + 5'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'2 + 5'</a:t>
            </a:r>
          </a:p>
          <a:p>
            <a:pPr lvl="0"/>
            <a:r>
              <a:rPr lang="en-GB">
                <a:latin typeface="Courier 10 Pitch" pitchFamily="17"/>
              </a:rPr>
              <a:t>&gt;&gt;&gt; "2 + 5"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'2 + 5'</a:t>
            </a:r>
          </a:p>
        </p:txBody>
      </p:sp>
    </p:spTree>
    <p:extLst>
      <p:ext uri="{BB962C8B-B14F-4D97-AF65-F5344CB8AC3E}">
        <p14:creationId xmlns:p14="http://schemas.microsoft.com/office/powerpoint/2010/main" val="151941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6B808-382F-462B-9D3F-9885E7DD54A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27663" y="221639"/>
            <a:ext cx="8229627" cy="701731"/>
          </a:xfrm>
        </p:spPr>
        <p:txBody>
          <a:bodyPr>
            <a:spAutoFit/>
          </a:bodyPr>
          <a:lstStyle/>
          <a:p>
            <a:pPr lvl="0"/>
            <a:r>
              <a:rPr lang="en-GB" dirty="0"/>
              <a:t>Operations on Strings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834C4-5641-48B6-92FD-A94BBC670C3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78041" y="929973"/>
            <a:ext cx="4016022" cy="3977484"/>
          </a:xfrm>
        </p:spPr>
        <p:txBody>
          <a:bodyPr>
            <a:normAutofit fontScale="92500" lnSpcReduction="2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The built-in function </a:t>
            </a:r>
            <a:r>
              <a:rPr lang="en-GB" dirty="0" err="1">
                <a:latin typeface="Courier 10 Pitch" pitchFamily="17"/>
              </a:rPr>
              <a:t>len</a:t>
            </a:r>
            <a:r>
              <a:rPr lang="en-GB" dirty="0"/>
              <a:t> returns the length of a string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latin typeface="Courier 10 Pitch" pitchFamily="17"/>
              </a:rPr>
              <a:t>&gt;&gt;&gt; </a:t>
            </a:r>
            <a:r>
              <a:rPr lang="en-GB" dirty="0" err="1">
                <a:latin typeface="Courier 10 Pitch" pitchFamily="17"/>
              </a:rPr>
              <a:t>len</a:t>
            </a:r>
            <a:r>
              <a:rPr lang="en-GB" dirty="0">
                <a:latin typeface="Courier 10 Pitch" pitchFamily="17"/>
              </a:rPr>
              <a:t>("Hello")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5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latin typeface="Courier 10 Pitch" pitchFamily="17"/>
              </a:rPr>
              <a:t>&gt;&gt;&gt; </a:t>
            </a:r>
            <a:r>
              <a:rPr lang="en-GB" dirty="0" err="1">
                <a:latin typeface="Courier 10 Pitch" pitchFamily="17"/>
              </a:rPr>
              <a:t>len</a:t>
            </a:r>
            <a:r>
              <a:rPr lang="en-GB" dirty="0">
                <a:latin typeface="Courier 10 Pitch" pitchFamily="17"/>
              </a:rPr>
              <a:t>("")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0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latin typeface="Courier 10 Pitch" pitchFamily="17"/>
              </a:rPr>
              <a:t>&gt;&gt;&gt; </a:t>
            </a:r>
            <a:r>
              <a:rPr lang="en-GB" dirty="0" err="1">
                <a:latin typeface="Courier 10 Pitch" pitchFamily="17"/>
              </a:rPr>
              <a:t>len</a:t>
            </a:r>
            <a:r>
              <a:rPr lang="en-GB" dirty="0">
                <a:latin typeface="Courier 10 Pitch" pitchFamily="17"/>
              </a:rPr>
              <a:t>(" ")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1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latin typeface="Courier 10 Pitch" pitchFamily="17"/>
              </a:rPr>
              <a:t>&gt;&gt;&gt; </a:t>
            </a:r>
            <a:r>
              <a:rPr lang="en-GB" dirty="0" err="1">
                <a:latin typeface="Courier 10 Pitch" pitchFamily="17"/>
              </a:rPr>
              <a:t>len</a:t>
            </a:r>
            <a:r>
              <a:rPr lang="en-GB" dirty="0">
                <a:latin typeface="Courier 10 Pitch" pitchFamily="17"/>
              </a:rPr>
              <a:t>("!.:&gt;@*")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6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77F53-AD8B-435F-AC2D-A2BC6C916D9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91647" y="929973"/>
            <a:ext cx="4476834" cy="3977484"/>
          </a:xfrm>
        </p:spPr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Strings can be added (concatenated) using the operator </a:t>
            </a:r>
            <a:r>
              <a:rPr lang="en-GB" sz="2400" dirty="0">
                <a:latin typeface="Courier 10 Pitch" pitchFamily="17"/>
              </a:rPr>
              <a:t>+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>
                <a:latin typeface="Courier 10 Pitch" pitchFamily="17"/>
              </a:rPr>
              <a:t>&gt;&gt;&gt; "James" + "Bond"</a:t>
            </a:r>
            <a:br>
              <a:rPr lang="en-GB" sz="2400" dirty="0">
                <a:latin typeface="Courier 10 Pitch" pitchFamily="17"/>
              </a:rPr>
            </a:br>
            <a:r>
              <a:rPr lang="en-GB" sz="2400" dirty="0">
                <a:latin typeface="Courier 10 Pitch" pitchFamily="17"/>
              </a:rPr>
              <a:t>'</a:t>
            </a:r>
            <a:r>
              <a:rPr lang="en-GB" sz="2400" dirty="0" err="1">
                <a:latin typeface="Courier 10 Pitch" pitchFamily="17"/>
              </a:rPr>
              <a:t>JamesBond</a:t>
            </a:r>
            <a:r>
              <a:rPr lang="en-GB" sz="2400" dirty="0">
                <a:latin typeface="Courier 10 Pitch" pitchFamily="17"/>
              </a:rPr>
              <a:t>'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>
                <a:latin typeface="Courier 10 Pitch" pitchFamily="17"/>
              </a:rPr>
              <a:t>&gt;&gt;&gt; "James" + " Bond"</a:t>
            </a:r>
            <a:br>
              <a:rPr lang="en-GB" sz="2400" dirty="0">
                <a:latin typeface="Courier 10 Pitch" pitchFamily="17"/>
              </a:rPr>
            </a:br>
            <a:r>
              <a:rPr lang="en-GB" sz="2400" dirty="0">
                <a:latin typeface="Courier 10 Pitch" pitchFamily="17"/>
              </a:rPr>
              <a:t>'James Bond'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>
                <a:latin typeface="Courier 10 Pitch" pitchFamily="17"/>
              </a:rPr>
              <a:t>&gt;&gt;&gt; "James " + "Bond"</a:t>
            </a:r>
            <a:br>
              <a:rPr lang="en-GB" sz="2400" dirty="0">
                <a:latin typeface="Courier 10 Pitch" pitchFamily="17"/>
              </a:rPr>
            </a:br>
            <a:r>
              <a:rPr lang="en-GB" sz="2400" dirty="0">
                <a:latin typeface="Courier 10 Pitch" pitchFamily="17"/>
              </a:rPr>
              <a:t>'James Bond'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>
                <a:latin typeface="Courier 10 Pitch" pitchFamily="17"/>
              </a:rPr>
              <a:t>&gt;&gt;&gt; "Height: " + "1.20m"</a:t>
            </a:r>
            <a:br>
              <a:rPr lang="en-GB" sz="2400" dirty="0">
                <a:latin typeface="Courier 10 Pitch" pitchFamily="17"/>
              </a:rPr>
            </a:br>
            <a:r>
              <a:rPr lang="en-GB" sz="2400" dirty="0">
                <a:latin typeface="Courier 10 Pitch" pitchFamily="17"/>
              </a:rPr>
              <a:t>'Height: 1.20m'</a:t>
            </a:r>
          </a:p>
        </p:txBody>
      </p:sp>
    </p:spTree>
    <p:extLst>
      <p:ext uri="{BB962C8B-B14F-4D97-AF65-F5344CB8AC3E}">
        <p14:creationId xmlns:p14="http://schemas.microsoft.com/office/powerpoint/2010/main" val="3201237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83EA6-A083-43BE-A17F-BC0423BC84C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67704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en-GB"/>
              <a:t>Adding a string and a number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1277C-8AE4-45F3-9BF5-696CA20983A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rmAutofit fontScale="92500" lnSpcReduction="2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What will happen?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"Hello" + 41</a:t>
            </a: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endParaRPr lang="en-GB" sz="2903">
              <a:highlight>
                <a:scrgbClr r="0" g="0" b="0">
                  <a:alpha val="0"/>
                </a:scrgbClr>
              </a:highlight>
              <a:latin typeface="Courier 10 Pitch" pitchFamily="17"/>
            </a:endParaRP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What will happen?  Is it the same situation?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41 + "Hello"</a:t>
            </a: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endParaRPr lang="en-GB" sz="2903">
              <a:highlight>
                <a:scrgbClr r="0" g="0" b="0">
                  <a:alpha val="0"/>
                </a:scrgbClr>
              </a:highlight>
              <a:latin typeface="Courier 10 Pitch" pitchFamily="17"/>
            </a:endParaRPr>
          </a:p>
        </p:txBody>
      </p:sp>
    </p:spTree>
    <p:extLst>
      <p:ext uri="{BB962C8B-B14F-4D97-AF65-F5344CB8AC3E}">
        <p14:creationId xmlns:p14="http://schemas.microsoft.com/office/powerpoint/2010/main" val="2074949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50758-9C21-412A-9E1D-7CA6A03D90D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0739" y="221639"/>
            <a:ext cx="8229627" cy="701731"/>
          </a:xfrm>
        </p:spPr>
        <p:txBody>
          <a:bodyPr>
            <a:spAutoFit/>
          </a:bodyPr>
          <a:lstStyle/>
          <a:p>
            <a:pPr lvl="0"/>
            <a:r>
              <a:rPr lang="en-GB" dirty="0"/>
              <a:t>Adding a string and a number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526E8-86DA-4B85-8E97-271F52BC9E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80739" y="929972"/>
            <a:ext cx="8229627" cy="3977484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GB" dirty="0">
                <a:latin typeface="Courier 10 Pitch" pitchFamily="17"/>
              </a:rPr>
              <a:t>&gt;&gt;&gt; "Hello" + 41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Traceback (most recent call last):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  File "&lt;pyshell#41&gt;", line 1, in &lt;module&gt;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    "Hello" + 41</a:t>
            </a:r>
            <a:br>
              <a:rPr lang="en-GB" dirty="0">
                <a:latin typeface="Courier 10 Pitch" pitchFamily="17"/>
              </a:rPr>
            </a:br>
            <a:r>
              <a:rPr lang="en-GB" dirty="0" err="1">
                <a:latin typeface="Courier 10 Pitch" pitchFamily="17"/>
              </a:rPr>
              <a:t>TypeError</a:t>
            </a:r>
            <a:r>
              <a:rPr lang="en-GB" dirty="0">
                <a:latin typeface="Courier 10 Pitch" pitchFamily="17"/>
              </a:rPr>
              <a:t>: Can't convert '</a:t>
            </a:r>
            <a:r>
              <a:rPr lang="en-GB" dirty="0" err="1">
                <a:latin typeface="Courier 10 Pitch" pitchFamily="17"/>
              </a:rPr>
              <a:t>int</a:t>
            </a:r>
            <a:r>
              <a:rPr lang="en-GB" dirty="0">
                <a:latin typeface="Courier 10 Pitch" pitchFamily="17"/>
              </a:rPr>
              <a:t>' object to </a:t>
            </a:r>
            <a:r>
              <a:rPr lang="en-GB" dirty="0" err="1">
                <a:latin typeface="Courier 10 Pitch" pitchFamily="17"/>
              </a:rPr>
              <a:t>str</a:t>
            </a:r>
            <a:r>
              <a:rPr lang="en-GB" dirty="0">
                <a:latin typeface="Courier 10 Pitch" pitchFamily="17"/>
              </a:rPr>
              <a:t> implicitly</a:t>
            </a:r>
          </a:p>
          <a:p>
            <a:pPr lvl="0">
              <a:buSzPct val="45000"/>
              <a:buFont typeface="StarSymbol"/>
              <a:buChar char="●"/>
            </a:pPr>
            <a:endParaRPr lang="en-GB" dirty="0"/>
          </a:p>
          <a:p>
            <a:pPr lvl="0">
              <a:buSzPct val="45000"/>
              <a:buFont typeface="StarSymbol"/>
              <a:buChar char="●"/>
            </a:pPr>
            <a:r>
              <a:rPr lang="en-GB" dirty="0">
                <a:latin typeface="Courier 10 Pitch" pitchFamily="17"/>
              </a:rPr>
              <a:t>&gt;&gt;&gt; 41 + "Hello"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Traceback (most recent call last):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  File "&lt;pyshell#42&gt;", line 1, in &lt;module&gt;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    41 + "Hello"</a:t>
            </a:r>
            <a:br>
              <a:rPr lang="en-GB" dirty="0">
                <a:latin typeface="Courier 10 Pitch" pitchFamily="17"/>
              </a:rPr>
            </a:br>
            <a:r>
              <a:rPr lang="en-GB" dirty="0" err="1">
                <a:latin typeface="Courier 10 Pitch" pitchFamily="17"/>
              </a:rPr>
              <a:t>TypeError</a:t>
            </a:r>
            <a:r>
              <a:rPr lang="en-GB" dirty="0">
                <a:latin typeface="Courier 10 Pitch" pitchFamily="17"/>
              </a:rPr>
              <a:t>: unsupported operand type(s) for +: '</a:t>
            </a:r>
            <a:r>
              <a:rPr lang="en-GB" dirty="0" err="1">
                <a:latin typeface="Courier 10 Pitch" pitchFamily="17"/>
              </a:rPr>
              <a:t>int</a:t>
            </a:r>
            <a:r>
              <a:rPr lang="en-GB" dirty="0">
                <a:latin typeface="Courier 10 Pitch" pitchFamily="17"/>
              </a:rPr>
              <a:t>' and '</a:t>
            </a:r>
            <a:r>
              <a:rPr lang="en-GB" dirty="0" err="1">
                <a:latin typeface="Courier 10 Pitch" pitchFamily="17"/>
              </a:rPr>
              <a:t>str</a:t>
            </a:r>
            <a:r>
              <a:rPr lang="en-GB" dirty="0">
                <a:latin typeface="Courier 10 Pitch" pitchFamily="17"/>
              </a:rPr>
              <a:t>'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9DD9DEE-8311-4FED-BB0C-1D91CA2AEFA5}"/>
              </a:ext>
            </a:extLst>
          </p:cNvPr>
          <p:cNvSpPr/>
          <p:nvPr/>
        </p:nvSpPr>
        <p:spPr>
          <a:xfrm>
            <a:off x="5790753" y="4527612"/>
            <a:ext cx="5142290" cy="2108749"/>
          </a:xfrm>
          <a:custGeom>
            <a:avLst>
              <a:gd name="f0" fmla="val 4007"/>
              <a:gd name="f1" fmla="val 0"/>
              <a:gd name="f2" fmla="val -2834"/>
              <a:gd name="f3" fmla="val -893"/>
              <a:gd name="f4" fmla="val -1538"/>
              <a:gd name="f5" fmla="val -659"/>
              <a:gd name="f6" fmla="val 3738"/>
              <a:gd name="f7" fmla="val 0"/>
            </a:avLst>
            <a:gdLst>
              <a:gd name="f8" fmla="val w"/>
              <a:gd name="f9" fmla="val h"/>
              <a:gd name="f10" fmla="val 0"/>
              <a:gd name="f11" fmla="val 21600"/>
              <a:gd name="f12" fmla="val -2147483647"/>
              <a:gd name="f13" fmla="val 2147483647"/>
              <a:gd name="f14" fmla="*/ f8 1 21600"/>
              <a:gd name="f15" fmla="*/ f9 1 21600"/>
              <a:gd name="f16" fmla="pin -2147483647 f0 2147483647"/>
              <a:gd name="f17" fmla="pin -2147483647 f2 2147483647"/>
              <a:gd name="f18" fmla="pin -2147483647 f3 2147483647"/>
              <a:gd name="f19" fmla="pin -2147483647 f4 2147483647"/>
              <a:gd name="f20" fmla="pin -2147483647 f5 2147483647"/>
              <a:gd name="f21" fmla="pin -2147483647 f6 2147483647"/>
              <a:gd name="f22" fmla="val f16"/>
              <a:gd name="f23" fmla="val f17"/>
              <a:gd name="f24" fmla="val f18"/>
              <a:gd name="f25" fmla="val f19"/>
              <a:gd name="f26" fmla="val f20"/>
              <a:gd name="f27" fmla="val f21"/>
              <a:gd name="f28" fmla="*/ f16 f14 1"/>
              <a:gd name="f29" fmla="*/ f17 f15 1"/>
              <a:gd name="f30" fmla="*/ f18 f14 1"/>
              <a:gd name="f31" fmla="*/ f19 f15 1"/>
              <a:gd name="f32" fmla="*/ f20 f14 1"/>
              <a:gd name="f33" fmla="*/ f21 f15 1"/>
            </a:gdLst>
            <a:ahLst>
              <a:ahXY gdRefX="f0" minX="f12" maxX="f13" gdRefY="f2" minY="f12" maxY="f13">
                <a:pos x="f28" y="f29"/>
              </a:ahXY>
              <a:ahXY gdRefX="f3" minX="f12" maxX="f13" gdRefY="f4" minY="f12" maxY="f13">
                <a:pos x="f30" y="f31"/>
              </a:ahXY>
              <a:ahXY gdRefX="f5" minX="f12" maxX="f13" gdRefY="f6" minY="f12" maxY="f13">
                <a:pos x="f32" y="f33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10" y="f10"/>
                </a:moveTo>
                <a:lnTo>
                  <a:pt x="f11" y="f10"/>
                </a:lnTo>
                <a:lnTo>
                  <a:pt x="f11" y="f11"/>
                </a:lnTo>
                <a:lnTo>
                  <a:pt x="f10" y="f11"/>
                </a:lnTo>
                <a:close/>
              </a:path>
              <a:path w="21600" h="21600">
                <a:moveTo>
                  <a:pt x="f22" y="f23"/>
                </a:moveTo>
                <a:lnTo>
                  <a:pt x="f24" y="f25"/>
                </a:lnTo>
              </a:path>
              <a:path w="21600" h="21600">
                <a:moveTo>
                  <a:pt x="f24" y="f25"/>
                </a:moveTo>
                <a:lnTo>
                  <a:pt x="f26" y="f27"/>
                </a:lnTo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r>
              <a:rPr lang="en-GB" sz="3200" dirty="0">
                <a:latin typeface="Liberation Sans" pitchFamily="18"/>
                <a:ea typeface="DejaVu Sans" pitchFamily="2"/>
                <a:cs typeface="FreeSans" pitchFamily="2"/>
              </a:rPr>
              <a:t>By the way, </a:t>
            </a:r>
            <a:r>
              <a:rPr lang="en-GB" sz="3200" dirty="0" err="1">
                <a:latin typeface="Courier 10 Pitch" pitchFamily="17"/>
                <a:ea typeface="DejaVu Sans" pitchFamily="2"/>
                <a:cs typeface="FreeSans" pitchFamily="2"/>
              </a:rPr>
              <a:t>str</a:t>
            </a:r>
            <a:r>
              <a:rPr lang="en-GB" sz="3200" dirty="0">
                <a:latin typeface="Liberation Sans" pitchFamily="18"/>
                <a:ea typeface="DejaVu Sans" pitchFamily="2"/>
                <a:cs typeface="FreeSans" pitchFamily="2"/>
              </a:rPr>
              <a:t> is Python’s</a:t>
            </a:r>
            <a:br>
              <a:rPr lang="en-GB" sz="3200" dirty="0"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3200" dirty="0">
                <a:latin typeface="Liberation Sans" pitchFamily="18"/>
                <a:ea typeface="DejaVu Sans" pitchFamily="2"/>
                <a:cs typeface="FreeSans" pitchFamily="2"/>
              </a:rPr>
              <a:t>way of saying String, in the</a:t>
            </a:r>
            <a:br>
              <a:rPr lang="en-GB" sz="3200" dirty="0"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3200" dirty="0">
                <a:latin typeface="Liberation Sans" pitchFamily="18"/>
                <a:ea typeface="DejaVu Sans" pitchFamily="2"/>
                <a:cs typeface="FreeSans" pitchFamily="2"/>
              </a:rPr>
              <a:t>same way it says </a:t>
            </a:r>
            <a:r>
              <a:rPr lang="en-GB" sz="3200" dirty="0" err="1">
                <a:latin typeface="Courier 10 Pitch" pitchFamily="17"/>
                <a:ea typeface="DejaVu Sans" pitchFamily="2"/>
                <a:cs typeface="FreeSans" pitchFamily="2"/>
              </a:rPr>
              <a:t>int</a:t>
            </a:r>
            <a:r>
              <a:rPr lang="en-GB" sz="3200" dirty="0">
                <a:latin typeface="Liberation Sans" pitchFamily="18"/>
                <a:ea typeface="DejaVu Sans" pitchFamily="2"/>
                <a:cs typeface="FreeSans" pitchFamily="2"/>
              </a:rPr>
              <a:t> for</a:t>
            </a:r>
            <a:br>
              <a:rPr lang="en-GB" sz="3200" dirty="0"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3200" dirty="0">
                <a:latin typeface="Liberation Sans" pitchFamily="18"/>
                <a:ea typeface="DejaVu Sans" pitchFamily="2"/>
                <a:cs typeface="FreeSans" pitchFamily="2"/>
              </a:rPr>
              <a:t>integers.</a:t>
            </a:r>
          </a:p>
        </p:txBody>
      </p:sp>
    </p:spTree>
    <p:extLst>
      <p:ext uri="{BB962C8B-B14F-4D97-AF65-F5344CB8AC3E}">
        <p14:creationId xmlns:p14="http://schemas.microsoft.com/office/powerpoint/2010/main" val="3498122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3BEBA-207E-47CB-BEF9-76E88E6D4F8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So, is it possible?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077C9-1DBA-4A79-9426-C8A5D5886E2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Remember function </a:t>
            </a:r>
            <a:r>
              <a:rPr lang="en-GB">
                <a:latin typeface="Courier 10 Pitch" pitchFamily="17"/>
              </a:rPr>
              <a:t>int</a:t>
            </a:r>
            <a:r>
              <a:rPr lang="en-GB"/>
              <a:t> and </a:t>
            </a:r>
            <a:r>
              <a:rPr lang="en-GB">
                <a:latin typeface="Courier 10 Pitch" pitchFamily="17"/>
              </a:rPr>
              <a:t>float</a:t>
            </a:r>
            <a:r>
              <a:rPr lang="en-GB"/>
              <a:t>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What did they do?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Do we have something similar for </a:t>
            </a:r>
            <a:r>
              <a:rPr lang="en-GB">
                <a:latin typeface="Courier 10 Pitch" pitchFamily="17"/>
              </a:rPr>
              <a:t>str</a:t>
            </a:r>
            <a:r>
              <a:rPr lang="en-GB"/>
              <a:t>?</a:t>
            </a:r>
          </a:p>
          <a:p>
            <a:pPr lvl="1" hangingPunct="0">
              <a:spcBef>
                <a:spcPts val="1286"/>
              </a:spcBef>
              <a:buSzPct val="75000"/>
              <a:buFont typeface="StarSymbol"/>
              <a:buChar char="–"/>
            </a:pP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Yes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The number must be explicitly converted to a string, then it may be concatenated to another </a:t>
            </a:r>
            <a:r>
              <a:rPr lang="en-GB">
                <a:latin typeface="Courier 10 Pitch" pitchFamily="17"/>
              </a:rPr>
              <a:t>str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"I am " + str(41) + " years old"</a:t>
            </a: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'I am 41 years old'</a:t>
            </a:r>
          </a:p>
        </p:txBody>
      </p:sp>
    </p:spTree>
    <p:extLst>
      <p:ext uri="{BB962C8B-B14F-4D97-AF65-F5344CB8AC3E}">
        <p14:creationId xmlns:p14="http://schemas.microsoft.com/office/powerpoint/2010/main" val="392212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03D4-868F-4B5E-9ED2-AC4D8A32C0D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67704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en-GB"/>
              <a:t>Creating numbers from strings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DA6A1-A0A3-49B9-9778-8310F3CA561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80739" y="1604842"/>
            <a:ext cx="4016022" cy="3977484"/>
          </a:xfrm>
        </p:spPr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sz="3200" dirty="0"/>
              <a:t>Using the </a:t>
            </a:r>
            <a:r>
              <a:rPr lang="en-GB" sz="3200" dirty="0" err="1">
                <a:latin typeface="Courier 10 Pitch" pitchFamily="17"/>
              </a:rPr>
              <a:t>int</a:t>
            </a:r>
            <a:r>
              <a:rPr lang="en-GB" sz="3200" dirty="0"/>
              <a:t> and </a:t>
            </a:r>
            <a:r>
              <a:rPr lang="en-GB" sz="3200" dirty="0">
                <a:latin typeface="Courier 10 Pitch" pitchFamily="17"/>
              </a:rPr>
              <a:t>float</a:t>
            </a:r>
            <a:r>
              <a:rPr lang="en-GB" sz="3200" dirty="0"/>
              <a:t> conversion functions, numbers can be created from strings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3200" dirty="0">
                <a:latin typeface="Courier 10 Pitch" pitchFamily="17"/>
              </a:rPr>
              <a:t>&gt;&gt;&gt; </a:t>
            </a:r>
            <a:r>
              <a:rPr lang="en-GB" sz="3200" dirty="0" err="1">
                <a:latin typeface="Courier 10 Pitch" pitchFamily="17"/>
              </a:rPr>
              <a:t>int</a:t>
            </a:r>
            <a:r>
              <a:rPr lang="en-GB" sz="3200" dirty="0">
                <a:latin typeface="Courier 10 Pitch" pitchFamily="17"/>
              </a:rPr>
              <a:t>("10")</a:t>
            </a:r>
            <a:br>
              <a:rPr lang="en-GB" sz="3200" dirty="0">
                <a:latin typeface="Courier 10 Pitch" pitchFamily="17"/>
              </a:rPr>
            </a:br>
            <a:r>
              <a:rPr lang="en-GB" sz="3200" dirty="0">
                <a:latin typeface="Courier 10 Pitch" pitchFamily="17"/>
              </a:rPr>
              <a:t>10</a:t>
            </a:r>
            <a:br>
              <a:rPr lang="en-GB" sz="3200" dirty="0">
                <a:latin typeface="Courier 10 Pitch" pitchFamily="17"/>
              </a:rPr>
            </a:br>
            <a:r>
              <a:rPr lang="en-GB" sz="3200" dirty="0">
                <a:latin typeface="Courier 10 Pitch" pitchFamily="17"/>
              </a:rPr>
              <a:t>&gt;&gt;&gt; float("5.5")</a:t>
            </a:r>
            <a:br>
              <a:rPr lang="en-GB" sz="3200" dirty="0">
                <a:latin typeface="Courier 10 Pitch" pitchFamily="17"/>
              </a:rPr>
            </a:br>
            <a:r>
              <a:rPr lang="en-GB" sz="3200" dirty="0">
                <a:latin typeface="Courier 10 Pitch" pitchFamily="17"/>
              </a:rPr>
              <a:t>5.5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518971-AAEF-4E51-BC02-0DCA8BA7B9D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97938" y="1604842"/>
            <a:ext cx="4016022" cy="3977484"/>
          </a:xfrm>
        </p:spPr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sz="3200" dirty="0"/>
              <a:t>Will these work?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3200" dirty="0">
                <a:latin typeface="Courier 10 Pitch" pitchFamily="17"/>
              </a:rPr>
              <a:t>&gt;&gt;&gt; </a:t>
            </a:r>
            <a:r>
              <a:rPr lang="en-GB" sz="3200" dirty="0" err="1">
                <a:latin typeface="Courier 10 Pitch" pitchFamily="17"/>
              </a:rPr>
              <a:t>int</a:t>
            </a:r>
            <a:r>
              <a:rPr lang="en-GB" sz="3200" dirty="0">
                <a:latin typeface="Courier 10 Pitch" pitchFamily="17"/>
              </a:rPr>
              <a:t>("Five")</a:t>
            </a:r>
            <a:br>
              <a:rPr lang="en-GB" sz="3200" dirty="0">
                <a:latin typeface="Courier 10 Pitch" pitchFamily="17"/>
              </a:rPr>
            </a:br>
            <a:r>
              <a:rPr lang="en-GB" sz="3200" dirty="0">
                <a:latin typeface="Courier 10 Pitch" pitchFamily="17"/>
              </a:rPr>
              <a:t>???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3200" dirty="0">
                <a:latin typeface="Courier 10 Pitch" pitchFamily="17"/>
              </a:rPr>
              <a:t>&gt;&gt;&gt; float("5")</a:t>
            </a:r>
            <a:br>
              <a:rPr lang="en-GB" sz="3200" dirty="0">
                <a:latin typeface="Courier 10 Pitch" pitchFamily="17"/>
              </a:rPr>
            </a:br>
            <a:r>
              <a:rPr lang="en-GB" sz="3200" dirty="0">
                <a:latin typeface="Courier 10 Pitch" pitchFamily="17"/>
              </a:rPr>
              <a:t>???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3200" dirty="0">
                <a:latin typeface="Courier 10 Pitch" pitchFamily="17"/>
              </a:rPr>
              <a:t>&gt;&gt;&gt; </a:t>
            </a:r>
            <a:r>
              <a:rPr lang="en-GB" sz="3200" dirty="0" err="1">
                <a:latin typeface="Courier 10 Pitch" pitchFamily="17"/>
              </a:rPr>
              <a:t>int</a:t>
            </a:r>
            <a:r>
              <a:rPr lang="en-GB" sz="3200" dirty="0">
                <a:latin typeface="Courier 10 Pitch" pitchFamily="17"/>
              </a:rPr>
              <a:t>("5.5")</a:t>
            </a:r>
            <a:br>
              <a:rPr lang="en-GB" sz="3200" dirty="0">
                <a:latin typeface="Courier 10 Pitch" pitchFamily="17"/>
              </a:rPr>
            </a:br>
            <a:r>
              <a:rPr lang="en-GB" sz="3200" dirty="0">
                <a:latin typeface="Courier 10 Pitch" pitchFamily="17"/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1301787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8DB6C-758C-4A7F-B863-6C1ACA21FD6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Let’s see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4892C-3058-4B4F-9556-729C1FFBA95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GB" b="1">
                <a:latin typeface="Courier 10 Pitch" pitchFamily="17"/>
              </a:rPr>
              <a:t>&gt;&gt;&gt;</a:t>
            </a:r>
            <a:r>
              <a:rPr lang="en-GB">
                <a:latin typeface="Courier 10 Pitch" pitchFamily="17"/>
              </a:rPr>
              <a:t> int("Five")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Traceback (most recent call last):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  File "&lt;pyshell#48&gt;", line 1, in &lt;module&gt;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    int("Five")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ValueError: invalid literal for int() with base 10: 'Five'</a:t>
            </a:r>
          </a:p>
          <a:p>
            <a:pPr lvl="0"/>
            <a:r>
              <a:rPr lang="en-GB" b="1">
                <a:latin typeface="Courier 10 Pitch" pitchFamily="17"/>
              </a:rPr>
              <a:t>&gt;&gt;&gt;</a:t>
            </a:r>
            <a:r>
              <a:rPr lang="en-GB">
                <a:latin typeface="Courier 10 Pitch" pitchFamily="17"/>
              </a:rPr>
              <a:t> int("5.5")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Traceback (most recent call last):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  File "&lt;pyshell#46&gt;", line 1, in &lt;module&gt;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    int("5.5")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ValueError: invalid literal for int() with base 10: '5.5'</a:t>
            </a:r>
          </a:p>
          <a:p>
            <a:pPr lvl="0"/>
            <a:r>
              <a:rPr lang="en-GB" b="1">
                <a:latin typeface="Courier 10 Pitch" pitchFamily="17"/>
              </a:rPr>
              <a:t>&gt;&gt;&gt;</a:t>
            </a:r>
            <a:r>
              <a:rPr lang="en-GB">
                <a:latin typeface="Courier 10 Pitch" pitchFamily="17"/>
              </a:rPr>
              <a:t> int(float("5.5"))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7640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7BE50-1A08-41B0-A536-125BBC4A3C5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 dirty="0"/>
              <a:t>Strings </a:t>
            </a:r>
            <a:r>
              <a:rPr lang="en-GB" i="1" dirty="0"/>
              <a:t>vs</a:t>
            </a:r>
            <a:r>
              <a:rPr lang="en-GB" dirty="0"/>
              <a:t>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F6357-D495-44CF-ACF8-2985D1B8A84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rmAutofit fontScale="92500" lnSpcReduction="2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We must figure what is what!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a = 10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a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10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"a" = 20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???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"age" = 40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???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a = "age"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a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1555642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CD272-C0B5-4264-AE76-4A1E3C953C5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0739" y="0"/>
            <a:ext cx="8229627" cy="1145009"/>
          </a:xfrm>
        </p:spPr>
        <p:txBody>
          <a:bodyPr/>
          <a:lstStyle/>
          <a:p>
            <a:pPr lvl="0"/>
            <a:r>
              <a:rPr lang="en-GB" dirty="0"/>
              <a:t>Multiplying a string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5638A-72DF-4CBE-9BCD-C2AD3D52D02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66834" y="814827"/>
            <a:ext cx="8229627" cy="3977484"/>
          </a:xfrm>
        </p:spPr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Operator * can be applied to strings if one of the operands is an </a:t>
            </a:r>
            <a:r>
              <a:rPr lang="en-GB" dirty="0" err="1">
                <a:latin typeface="Courier 10 Pitch" pitchFamily="17"/>
              </a:rPr>
              <a:t>int</a:t>
            </a:r>
            <a:endParaRPr lang="en-GB" dirty="0">
              <a:latin typeface="Courier 10 Pitch" pitchFamily="17"/>
            </a:endParaRPr>
          </a:p>
          <a:p>
            <a:pPr lvl="1" hangingPunct="0">
              <a:spcBef>
                <a:spcPts val="1286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"a" * 3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'</a:t>
            </a:r>
            <a:r>
              <a:rPr lang="en-GB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aaa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'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2 * "Hello"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'</a:t>
            </a:r>
            <a:r>
              <a:rPr lang="en-GB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HelloHello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'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If the </a:t>
            </a:r>
            <a:r>
              <a:rPr lang="en-GB" dirty="0" err="1">
                <a:latin typeface="Courier 10 Pitch" pitchFamily="17"/>
              </a:rPr>
              <a:t>int</a:t>
            </a:r>
            <a:r>
              <a:rPr lang="en-GB" dirty="0"/>
              <a:t> operand is less than or equal to 0, the result is the empty string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"Hello" * 0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''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"I wonder" * -3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''</a:t>
            </a:r>
          </a:p>
        </p:txBody>
      </p:sp>
    </p:spTree>
    <p:extLst>
      <p:ext uri="{BB962C8B-B14F-4D97-AF65-F5344CB8AC3E}">
        <p14:creationId xmlns:p14="http://schemas.microsoft.com/office/powerpoint/2010/main" val="4102317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31F9-E9EC-4BC9-9F73-0D2B0EFD798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Guess the results?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88A80-CD83-4742-9138-D1EDD42FE02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/>
            <a:r>
              <a:rPr lang="en-GB">
                <a:latin typeface="Courier 10 Pitch" pitchFamily="17"/>
              </a:rPr>
              <a:t>&gt;&gt;&gt; sequence = "AGTC"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&gt;&gt;&gt; sequence += "AA"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&gt;&gt;&gt; sequence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?</a:t>
            </a:r>
          </a:p>
          <a:p>
            <a:pPr lvl="0"/>
            <a:r>
              <a:rPr lang="en-GB">
                <a:latin typeface="Courier 10 Pitch" pitchFamily="17"/>
              </a:rPr>
              <a:t>&gt;&gt;&gt; "L" + "o" * 5 + "l"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???</a:t>
            </a:r>
          </a:p>
          <a:p>
            <a:pPr lvl="0"/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&gt;&gt;&gt; ("L" + "o") * 5 + "l"</a:t>
            </a:r>
            <a:br>
              <a:rPr lang="en-GB">
                <a:latin typeface="Courier 10 Pitch" pitchFamily="17"/>
              </a:rPr>
            </a:br>
            <a:r>
              <a:rPr lang="en-GB">
                <a:latin typeface="Courier 10 Pitch" pitchFamily="1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76443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C4165-A671-4EB3-9605-71E93874174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Using special characters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729F4-C279-48CB-8A7A-B678F9E658E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Single and double quotes have a special meaning in Python: start/end of string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What if I wanted to have the following </a:t>
            </a:r>
            <a:r>
              <a:rPr lang="en-GB">
                <a:latin typeface="Courier 10 Pitch" pitchFamily="17"/>
              </a:rPr>
              <a:t>str</a:t>
            </a:r>
            <a:r>
              <a:rPr lang="en-GB"/>
              <a:t>?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I'm António</a:t>
            </a:r>
          </a:p>
        </p:txBody>
      </p:sp>
    </p:spTree>
    <p:extLst>
      <p:ext uri="{BB962C8B-B14F-4D97-AF65-F5344CB8AC3E}">
        <p14:creationId xmlns:p14="http://schemas.microsoft.com/office/powerpoint/2010/main" val="424661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D3804-CEE8-49D0-A883-626294BB0C0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Two solutions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4AAA7-F9C8-4938-BC96-A27E6E41F95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/>
            <a:r>
              <a:rPr lang="en-GB" dirty="0">
                <a:latin typeface="Courier 10 Pitch" pitchFamily="17"/>
              </a:rPr>
              <a:t>&gt;&gt;&gt; "I'm António"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"I'm António"</a:t>
            </a:r>
          </a:p>
          <a:p>
            <a:pPr lvl="0"/>
            <a:r>
              <a:rPr lang="en-GB" dirty="0">
                <a:latin typeface="Courier 10 Pitch" pitchFamily="17"/>
              </a:rPr>
              <a:t>&gt;&gt;&gt; 'I\'m António'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"I'm António"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In the last approach an escape sequence is used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Although an escape sequence is composed of two symbols, they translate in to only one character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</a:t>
            </a:r>
            <a:r>
              <a:rPr lang="en-GB" sz="2903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len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('\'')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242BE9C-01EF-40A4-B656-7FDE9CE13DA2}"/>
              </a:ext>
            </a:extLst>
          </p:cNvPr>
          <p:cNvSpPr/>
          <p:nvPr/>
        </p:nvSpPr>
        <p:spPr>
          <a:xfrm>
            <a:off x="6096000" y="1058510"/>
            <a:ext cx="4277986" cy="132556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r>
              <a:rPr lang="en-GB" sz="2800" dirty="0">
                <a:latin typeface="Liberation Sans" pitchFamily="18"/>
                <a:ea typeface="DejaVu Sans" pitchFamily="2"/>
                <a:cs typeface="FreeSans" pitchFamily="2"/>
              </a:rPr>
              <a:t>We can also start a string</a:t>
            </a:r>
            <a:br>
              <a:rPr lang="en-GB" sz="2800" dirty="0"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2800" dirty="0">
                <a:latin typeface="Liberation Sans" pitchFamily="18"/>
                <a:ea typeface="DejaVu Sans" pitchFamily="2"/>
                <a:cs typeface="FreeSans" pitchFamily="2"/>
              </a:rPr>
              <a:t>with single quotes if we</a:t>
            </a:r>
            <a:br>
              <a:rPr lang="en-GB" sz="2800" dirty="0"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2800" dirty="0">
                <a:latin typeface="Liberation Sans" pitchFamily="18"/>
                <a:ea typeface="DejaVu Sans" pitchFamily="2"/>
                <a:cs typeface="FreeSans" pitchFamily="2"/>
              </a:rPr>
              <a:t>need to use double inside.</a:t>
            </a:r>
          </a:p>
        </p:txBody>
      </p:sp>
    </p:spTree>
    <p:extLst>
      <p:ext uri="{BB962C8B-B14F-4D97-AF65-F5344CB8AC3E}">
        <p14:creationId xmlns:p14="http://schemas.microsoft.com/office/powerpoint/2010/main" val="858709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2640B-3B14-40DA-AFFA-1EF8B7F93EF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Another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2F02B-D1F3-4503-A7F3-18C76C352C7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How would you create the following string?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He said: "I don't want to go."</a:t>
            </a:r>
          </a:p>
        </p:txBody>
      </p:sp>
    </p:spTree>
    <p:extLst>
      <p:ext uri="{BB962C8B-B14F-4D97-AF65-F5344CB8AC3E}">
        <p14:creationId xmlns:p14="http://schemas.microsoft.com/office/powerpoint/2010/main" val="4278050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690E4-5A4A-4527-A9FC-D4FF75AA99D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67704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en-GB"/>
              <a:t>More escape sequences</a:t>
            </a:r>
          </a:p>
        </p:txBody>
      </p:sp>
      <p:graphicFrame>
        <p:nvGraphicFramePr>
          <p:cNvPr id="3" name="Table Placeholder 2">
            <a:extLst>
              <a:ext uri="{FF2B5EF4-FFF2-40B4-BE49-F238E27FC236}">
                <a16:creationId xmlns:a16="http://schemas.microsoft.com/office/drawing/2014/main" id="{4748B289-2BEC-4681-B819-E84B49E055BC}"/>
              </a:ext>
            </a:extLst>
          </p:cNvPr>
          <p:cNvGraphicFramePr>
            <a:graphicFrameLocks noGrp="1"/>
          </p:cNvGraphicFramePr>
          <p:nvPr>
            <p:ph type="tbl" idx="4294967295"/>
          </p:nvPr>
        </p:nvGraphicFramePr>
        <p:xfrm>
          <a:off x="4103872" y="1604841"/>
          <a:ext cx="3984343" cy="2440901"/>
        </p:xfrm>
        <a:graphic>
          <a:graphicData uri="http://schemas.openxmlformats.org/drawingml/2006/table">
            <a:tbl>
              <a:tblPr firstRow="1" bandRow="1"/>
              <a:tblGrid>
                <a:gridCol w="1917710">
                  <a:extLst>
                    <a:ext uri="{9D8B030D-6E8A-4147-A177-3AD203B41FA5}">
                      <a16:colId xmlns:a16="http://schemas.microsoft.com/office/drawing/2014/main" val="3528822669"/>
                    </a:ext>
                  </a:extLst>
                </a:gridCol>
                <a:gridCol w="2066633">
                  <a:extLst>
                    <a:ext uri="{9D8B030D-6E8A-4147-A177-3AD203B41FA5}">
                      <a16:colId xmlns:a16="http://schemas.microsoft.com/office/drawing/2014/main" val="3813585837"/>
                    </a:ext>
                  </a:extLst>
                </a:gridCol>
              </a:tblGrid>
              <a:tr h="331811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Escape Sequence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Meaning</a:t>
                      </a:r>
                    </a:p>
                  </a:txBody>
                  <a:tcPr marL="82953" marR="82953" marT="41476" marB="41476"/>
                </a:tc>
                <a:extLst>
                  <a:ext uri="{0D108BD9-81ED-4DB2-BD59-A6C34878D82A}">
                    <a16:rowId xmlns:a16="http://schemas.microsoft.com/office/drawing/2014/main" val="717438049"/>
                  </a:ext>
                </a:extLst>
              </a:tr>
              <a:tr h="390923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\'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Single quote</a:t>
                      </a:r>
                    </a:p>
                  </a:txBody>
                  <a:tcPr marL="82953" marR="82953" marT="41476" marB="41476"/>
                </a:tc>
                <a:extLst>
                  <a:ext uri="{0D108BD9-81ED-4DB2-BD59-A6C34878D82A}">
                    <a16:rowId xmlns:a16="http://schemas.microsoft.com/office/drawing/2014/main" val="233142095"/>
                  </a:ext>
                </a:extLst>
              </a:tr>
              <a:tr h="390923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\"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Double quote</a:t>
                      </a:r>
                    </a:p>
                  </a:txBody>
                  <a:tcPr marL="82953" marR="82953" marT="41476" marB="41476"/>
                </a:tc>
                <a:extLst>
                  <a:ext uri="{0D108BD9-81ED-4DB2-BD59-A6C34878D82A}">
                    <a16:rowId xmlns:a16="http://schemas.microsoft.com/office/drawing/2014/main" val="2682947977"/>
                  </a:ext>
                </a:extLst>
              </a:tr>
              <a:tr h="331811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\\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Back slash</a:t>
                      </a:r>
                    </a:p>
                  </a:txBody>
                  <a:tcPr marL="82953" marR="82953" marT="41476" marB="41476"/>
                </a:tc>
                <a:extLst>
                  <a:ext uri="{0D108BD9-81ED-4DB2-BD59-A6C34878D82A}">
                    <a16:rowId xmlns:a16="http://schemas.microsoft.com/office/drawing/2014/main" val="683190536"/>
                  </a:ext>
                </a:extLst>
              </a:tr>
              <a:tr h="331811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\t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Tab</a:t>
                      </a:r>
                    </a:p>
                  </a:txBody>
                  <a:tcPr marL="82953" marR="82953" marT="41476" marB="41476"/>
                </a:tc>
                <a:extLst>
                  <a:ext uri="{0D108BD9-81ED-4DB2-BD59-A6C34878D82A}">
                    <a16:rowId xmlns:a16="http://schemas.microsoft.com/office/drawing/2014/main" val="144573865"/>
                  </a:ext>
                </a:extLst>
              </a:tr>
              <a:tr h="331811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\n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Newline</a:t>
                      </a:r>
                    </a:p>
                  </a:txBody>
                  <a:tcPr marL="82953" marR="82953" marT="41476" marB="41476"/>
                </a:tc>
                <a:extLst>
                  <a:ext uri="{0D108BD9-81ED-4DB2-BD59-A6C34878D82A}">
                    <a16:rowId xmlns:a16="http://schemas.microsoft.com/office/drawing/2014/main" val="758594934"/>
                  </a:ext>
                </a:extLst>
              </a:tr>
              <a:tr h="331811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Courier 10 Pitch" pitchFamily="17"/>
                          <a:ea typeface="DejaVu Sans" pitchFamily="2"/>
                          <a:cs typeface="FreeSans" pitchFamily="2"/>
                        </a:rPr>
                        <a:t>\r</a:t>
                      </a:r>
                    </a:p>
                  </a:txBody>
                  <a:tcPr marL="82953" marR="82953" marT="41476" marB="41476"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GB" sz="1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Carriage return</a:t>
                      </a:r>
                    </a:p>
                  </a:txBody>
                  <a:tcPr marL="82953" marR="82953" marT="41476" marB="41476"/>
                </a:tc>
                <a:extLst>
                  <a:ext uri="{0D108BD9-81ED-4DB2-BD59-A6C34878D82A}">
                    <a16:rowId xmlns:a16="http://schemas.microsoft.com/office/drawing/2014/main" val="2215821957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EDC26-1EEB-4AEC-AF1E-E7B6DA9A848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80739" y="4114977"/>
            <a:ext cx="8229627" cy="1464736"/>
          </a:xfrm>
        </p:spPr>
        <p:txBody>
          <a:bodyPr>
            <a:normAutofit fontScale="70000" lnSpcReduction="20000"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A note about line endings:</a:t>
            </a:r>
          </a:p>
          <a:p>
            <a:pPr lvl="1" hangingPunct="0">
              <a:spcBef>
                <a:spcPts val="1286"/>
              </a:spcBef>
              <a:buSzPct val="75000"/>
              <a:buFont typeface="StarSymbol"/>
              <a:buChar char="–"/>
            </a:pP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Linux and OS X use </a:t>
            </a: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\n</a:t>
            </a: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to identify a line break</a:t>
            </a:r>
          </a:p>
          <a:p>
            <a:pPr lvl="1" hangingPunct="0">
              <a:spcBef>
                <a:spcPts val="1286"/>
              </a:spcBef>
              <a:buSzPct val="75000"/>
              <a:buFont typeface="StarSymbol"/>
              <a:buChar char="–"/>
            </a:pP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Windows uses </a:t>
            </a: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\r\n</a:t>
            </a:r>
          </a:p>
          <a:p>
            <a:pPr lvl="1" hangingPunct="0">
              <a:spcBef>
                <a:spcPts val="1286"/>
              </a:spcBef>
              <a:buSzPct val="75000"/>
              <a:buFont typeface="StarSymbol"/>
              <a:buChar char="–"/>
            </a:pP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Python always uses </a:t>
            </a: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\n</a:t>
            </a: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no matter the OS</a:t>
            </a:r>
          </a:p>
        </p:txBody>
      </p:sp>
    </p:spTree>
    <p:extLst>
      <p:ext uri="{BB962C8B-B14F-4D97-AF65-F5344CB8AC3E}">
        <p14:creationId xmlns:p14="http://schemas.microsoft.com/office/powerpoint/2010/main" val="3460848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18CA8-4D75-42DF-BA50-81A8AE6BD0D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Printing a String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6D4572-4ADA-4838-B8E7-4F5F6387744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In the shell (interactive mode), for some escape sequences, the output is shown “raw”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"One\tTwo\nThree\tFour"</a:t>
            </a: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'One\tTwo\nThree\tFour'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For visualization, we need to explicitly tell Python to print it by using the built-in function </a:t>
            </a:r>
            <a:r>
              <a:rPr lang="en-GB">
                <a:latin typeface="Courier 10 Pitch" pitchFamily="17"/>
              </a:rPr>
              <a:t>print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print("One\tTwo\nThree\tFour")</a:t>
            </a: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One	Two</a:t>
            </a: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Three	Four</a:t>
            </a:r>
          </a:p>
        </p:txBody>
      </p:sp>
    </p:spTree>
    <p:extLst>
      <p:ext uri="{BB962C8B-B14F-4D97-AF65-F5344CB8AC3E}">
        <p14:creationId xmlns:p14="http://schemas.microsoft.com/office/powerpoint/2010/main" val="1824273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A5FE2-B486-480D-9522-5662C133C5B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0739" y="1"/>
            <a:ext cx="8229627" cy="401518"/>
          </a:xfrm>
        </p:spPr>
        <p:txBody>
          <a:bodyPr>
            <a:normAutofit fontScale="90000"/>
          </a:bodyPr>
          <a:lstStyle/>
          <a:p>
            <a:pPr lvl="0"/>
            <a:r>
              <a:rPr lang="en-GB" dirty="0"/>
              <a:t>More on printing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9B3D4-6A9F-434E-8F96-0F2AA8E46DB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769779" y="1440258"/>
            <a:ext cx="8229627" cy="3977484"/>
          </a:xfrm>
        </p:spPr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dirty="0">
                <a:latin typeface="Courier 10 Pitch" pitchFamily="17"/>
              </a:rPr>
              <a:t>print</a:t>
            </a:r>
            <a:r>
              <a:rPr lang="en-GB" dirty="0"/>
              <a:t> is a function that can take a variable number of arguments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print(1)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print(1, 2)		# separated by comma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 2					# prints separated by space, by default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print(10 + 20)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431735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25AD0E-2A74-43D1-B01D-B6DD8F08618D}"/>
              </a:ext>
            </a:extLst>
          </p:cNvPr>
          <p:cNvSpPr/>
          <p:nvPr/>
        </p:nvSpPr>
        <p:spPr>
          <a:xfrm>
            <a:off x="1664119" y="864929"/>
            <a:ext cx="9004361" cy="3608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sz="3266" dirty="0"/>
              <a:t>The arguments may be of different types</a:t>
            </a:r>
          </a:p>
          <a:p>
            <a:pPr lvl="1" hangingPunct="0">
              <a:spcBef>
                <a:spcPts val="1286"/>
              </a:spcBef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print("Age:", 20)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Age: 20</a:t>
            </a:r>
          </a:p>
          <a:p>
            <a:pPr lvl="1" hangingPunct="0">
              <a:spcBef>
                <a:spcPts val="1286"/>
              </a:spcBef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value = 2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print("The square of", value, "is", value**2)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The square of 2 is 4</a:t>
            </a:r>
          </a:p>
        </p:txBody>
      </p:sp>
    </p:spTree>
    <p:extLst>
      <p:ext uri="{BB962C8B-B14F-4D97-AF65-F5344CB8AC3E}">
        <p14:creationId xmlns:p14="http://schemas.microsoft.com/office/powerpoint/2010/main" val="2420053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AD4C6-B525-4D03-A2F3-2B8C4930E5B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Changing </a:t>
            </a:r>
            <a:r>
              <a:rPr lang="en-GB">
                <a:latin typeface="Courier 10 Pitch" pitchFamily="17"/>
              </a:rPr>
              <a:t>print</a:t>
            </a:r>
            <a:r>
              <a:rPr lang="en-GB"/>
              <a:t> defaults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B9D85-9D05-42AE-995C-8C98A681C41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By default, </a:t>
            </a:r>
            <a:r>
              <a:rPr lang="en-GB" dirty="0">
                <a:latin typeface="Courier 10 Pitch" pitchFamily="17"/>
              </a:rPr>
              <a:t>print</a:t>
            </a:r>
            <a:r>
              <a:rPr lang="en-GB" dirty="0"/>
              <a:t> prints values separated by spaces, and introduces a </a:t>
            </a:r>
            <a:r>
              <a:rPr lang="en-GB" dirty="0">
                <a:latin typeface="Courier 10 Pitch" pitchFamily="17"/>
              </a:rPr>
              <a:t>\n</a:t>
            </a:r>
            <a:r>
              <a:rPr lang="en-GB" dirty="0"/>
              <a:t> in the end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How to change that behaviour?</a:t>
            </a:r>
          </a:p>
          <a:p>
            <a:pPr lvl="0"/>
            <a:r>
              <a:rPr lang="en-GB" dirty="0">
                <a:latin typeface="Courier 10 Pitch" pitchFamily="17"/>
              </a:rPr>
              <a:t>&gt;&gt;&gt; help(print)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Help on built-in function print in module </a:t>
            </a:r>
            <a:r>
              <a:rPr lang="en-GB" dirty="0" err="1">
                <a:latin typeface="Courier 10 Pitch" pitchFamily="17"/>
              </a:rPr>
              <a:t>builtins</a:t>
            </a:r>
            <a:r>
              <a:rPr lang="en-GB" dirty="0">
                <a:latin typeface="Courier 10 Pitch" pitchFamily="1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62373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581C56-B0A8-4B6A-BA37-14B9D91DDEAD}"/>
              </a:ext>
            </a:extLst>
          </p:cNvPr>
          <p:cNvSpPr/>
          <p:nvPr/>
        </p:nvSpPr>
        <p:spPr>
          <a:xfrm>
            <a:off x="1523521" y="2"/>
            <a:ext cx="9144960" cy="6346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sz="2903" dirty="0">
                <a:latin typeface="Courier 10 Pitch" pitchFamily="17"/>
              </a:rPr>
              <a:t>print(…)</a:t>
            </a:r>
            <a:br>
              <a:rPr lang="en-GB" sz="2903" dirty="0">
                <a:latin typeface="Courier 10 Pitch" pitchFamily="17"/>
              </a:rPr>
            </a:br>
            <a:r>
              <a:rPr lang="en-GB" sz="2903" dirty="0">
                <a:latin typeface="Courier 10 Pitch" pitchFamily="17"/>
              </a:rPr>
              <a:t>    print(value, ..., </a:t>
            </a:r>
            <a:r>
              <a:rPr lang="en-GB" sz="2903" b="1" dirty="0" err="1">
                <a:latin typeface="Courier 10 Pitch" pitchFamily="17"/>
              </a:rPr>
              <a:t>sep</a:t>
            </a:r>
            <a:r>
              <a:rPr lang="en-GB" sz="2903" dirty="0">
                <a:latin typeface="Courier 10 Pitch" pitchFamily="17"/>
              </a:rPr>
              <a:t>=' ', </a:t>
            </a:r>
            <a:r>
              <a:rPr lang="en-GB" sz="2903" b="1" dirty="0">
                <a:latin typeface="Courier 10 Pitch" pitchFamily="17"/>
              </a:rPr>
              <a:t>end</a:t>
            </a:r>
            <a:r>
              <a:rPr lang="en-GB" sz="2903" dirty="0">
                <a:latin typeface="Courier 10 Pitch" pitchFamily="17"/>
              </a:rPr>
              <a:t>='\n', file=</a:t>
            </a:r>
            <a:r>
              <a:rPr lang="en-GB" sz="2903" dirty="0" err="1">
                <a:latin typeface="Courier 10 Pitch" pitchFamily="17"/>
              </a:rPr>
              <a:t>sys.stdout</a:t>
            </a:r>
            <a:r>
              <a:rPr lang="en-GB" sz="2903" dirty="0">
                <a:latin typeface="Courier 10 Pitch" pitchFamily="17"/>
              </a:rPr>
              <a:t>, flush=False)</a:t>
            </a:r>
            <a:br>
              <a:rPr lang="en-GB" sz="2903" dirty="0">
                <a:latin typeface="Courier 10 Pitch" pitchFamily="17"/>
              </a:rPr>
            </a:br>
            <a:r>
              <a:rPr lang="en-GB" sz="2903" dirty="0">
                <a:latin typeface="Courier 10 Pitch" pitchFamily="17"/>
              </a:rPr>
              <a:t>    Prints the values to a stream, or to </a:t>
            </a:r>
            <a:r>
              <a:rPr lang="en-GB" sz="2903" dirty="0" err="1">
                <a:latin typeface="Courier 10 Pitch" pitchFamily="17"/>
              </a:rPr>
              <a:t>sys.stdout</a:t>
            </a:r>
            <a:r>
              <a:rPr lang="en-GB" sz="2903" dirty="0">
                <a:latin typeface="Courier 10 Pitch" pitchFamily="17"/>
              </a:rPr>
              <a:t> by default.</a:t>
            </a:r>
            <a:br>
              <a:rPr lang="en-GB" sz="2903" dirty="0">
                <a:latin typeface="Courier 10 Pitch" pitchFamily="17"/>
              </a:rPr>
            </a:br>
            <a:r>
              <a:rPr lang="en-GB" sz="2903" dirty="0">
                <a:latin typeface="Courier 10 Pitch" pitchFamily="17"/>
              </a:rPr>
              <a:t>    Optional keyword arguments:</a:t>
            </a:r>
            <a:br>
              <a:rPr lang="en-GB" sz="2903" dirty="0">
                <a:latin typeface="Courier 10 Pitch" pitchFamily="17"/>
              </a:rPr>
            </a:br>
            <a:r>
              <a:rPr lang="en-GB" sz="2903" dirty="0">
                <a:latin typeface="Courier 10 Pitch" pitchFamily="17"/>
              </a:rPr>
              <a:t>    file:  a file-like object (stream); defaults to the current </a:t>
            </a:r>
            <a:r>
              <a:rPr lang="en-GB" sz="2903" dirty="0" err="1">
                <a:latin typeface="Courier 10 Pitch" pitchFamily="17"/>
              </a:rPr>
              <a:t>sys.stdout</a:t>
            </a:r>
            <a:r>
              <a:rPr lang="en-GB" sz="2903" dirty="0">
                <a:latin typeface="Courier 10 Pitch" pitchFamily="17"/>
              </a:rPr>
              <a:t>.</a:t>
            </a:r>
            <a:br>
              <a:rPr lang="en-GB" sz="2903" dirty="0">
                <a:latin typeface="Courier 10 Pitch" pitchFamily="17"/>
              </a:rPr>
            </a:br>
            <a:r>
              <a:rPr lang="en-GB" sz="2903" dirty="0">
                <a:latin typeface="Courier 10 Pitch" pitchFamily="17"/>
              </a:rPr>
              <a:t>    </a:t>
            </a:r>
            <a:r>
              <a:rPr lang="en-GB" sz="2903" b="1" dirty="0" err="1">
                <a:latin typeface="Courier 10 Pitch" pitchFamily="17"/>
              </a:rPr>
              <a:t>sep</a:t>
            </a:r>
            <a:r>
              <a:rPr lang="en-GB" sz="2903" dirty="0">
                <a:latin typeface="Courier 10 Pitch" pitchFamily="17"/>
              </a:rPr>
              <a:t>:   string inserted between values, default a space.</a:t>
            </a:r>
            <a:br>
              <a:rPr lang="en-GB" sz="2903" dirty="0">
                <a:latin typeface="Courier 10 Pitch" pitchFamily="17"/>
              </a:rPr>
            </a:br>
            <a:r>
              <a:rPr lang="en-GB" sz="2903" dirty="0">
                <a:latin typeface="Courier 10 Pitch" pitchFamily="17"/>
              </a:rPr>
              <a:t>    </a:t>
            </a:r>
            <a:r>
              <a:rPr lang="en-GB" sz="2903" b="1" dirty="0">
                <a:latin typeface="Courier 10 Pitch" pitchFamily="17"/>
              </a:rPr>
              <a:t>end</a:t>
            </a:r>
            <a:r>
              <a:rPr lang="en-GB" sz="2903" dirty="0">
                <a:latin typeface="Courier 10 Pitch" pitchFamily="17"/>
              </a:rPr>
              <a:t>:   string appended after the last value, default a newline.</a:t>
            </a:r>
            <a:br>
              <a:rPr lang="en-GB" sz="2903" dirty="0">
                <a:latin typeface="Courier 10 Pitch" pitchFamily="17"/>
              </a:rPr>
            </a:br>
            <a:r>
              <a:rPr lang="en-GB" sz="2903" dirty="0">
                <a:latin typeface="Courier 10 Pitch" pitchFamily="17"/>
              </a:rPr>
              <a:t>    flush: whether to forcibly flush the stream.</a:t>
            </a:r>
          </a:p>
        </p:txBody>
      </p:sp>
    </p:spTree>
    <p:extLst>
      <p:ext uri="{BB962C8B-B14F-4D97-AF65-F5344CB8AC3E}">
        <p14:creationId xmlns:p14="http://schemas.microsoft.com/office/powerpoint/2010/main" val="1456050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EFF82-A57A-4F6A-A75E-9FEC8763B33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Getting input from the user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FAD06-53B5-4062-8284-28B2B65DFDF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To get text from the keyboard, use the built-in function </a:t>
            </a:r>
            <a:r>
              <a:rPr lang="en-GB" dirty="0">
                <a:latin typeface="Courier 10 Pitch" pitchFamily="17"/>
              </a:rPr>
              <a:t>input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Function </a:t>
            </a:r>
            <a:r>
              <a:rPr lang="en-GB" dirty="0">
                <a:latin typeface="Courier 10 Pitch" pitchFamily="17"/>
              </a:rPr>
              <a:t>input</a:t>
            </a:r>
            <a:r>
              <a:rPr lang="en-GB" dirty="0"/>
              <a:t> reads the text from the keyboard and </a:t>
            </a:r>
            <a:r>
              <a:rPr lang="en-GB" b="1" dirty="0"/>
              <a:t>returns a string</a:t>
            </a:r>
            <a:r>
              <a:rPr lang="en-GB" dirty="0"/>
              <a:t> with the text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Example: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text = input()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Hello world!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print(text)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Hello world!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0C562D5-B410-431D-9B45-91DEDF5FD862}"/>
              </a:ext>
            </a:extLst>
          </p:cNvPr>
          <p:cNvSpPr/>
          <p:nvPr/>
        </p:nvSpPr>
        <p:spPr>
          <a:xfrm>
            <a:off x="6739638" y="4498245"/>
            <a:ext cx="1681589" cy="522537"/>
          </a:xfrm>
          <a:custGeom>
            <a:avLst>
              <a:gd name="f0" fmla="val -14469"/>
              <a:gd name="f1" fmla="val 0"/>
              <a:gd name="f2" fmla="val 13491"/>
              <a:gd name="f3" fmla="val -6723"/>
              <a:gd name="f4" fmla="val 10901"/>
              <a:gd name="f5" fmla="val -1044"/>
              <a:gd name="f6" fmla="val 7474"/>
              <a:gd name="f7" fmla="val 0"/>
            </a:avLst>
            <a:gdLst>
              <a:gd name="f8" fmla="val w"/>
              <a:gd name="f9" fmla="val h"/>
              <a:gd name="f10" fmla="val 0"/>
              <a:gd name="f11" fmla="val 21600"/>
              <a:gd name="f12" fmla="val -2147483647"/>
              <a:gd name="f13" fmla="val 2147483647"/>
              <a:gd name="f14" fmla="*/ f8 1 21600"/>
              <a:gd name="f15" fmla="*/ f9 1 21600"/>
              <a:gd name="f16" fmla="pin -2147483647 f0 2147483647"/>
              <a:gd name="f17" fmla="pin -2147483647 f2 2147483647"/>
              <a:gd name="f18" fmla="pin -2147483647 f3 2147483647"/>
              <a:gd name="f19" fmla="pin -2147483647 f4 2147483647"/>
              <a:gd name="f20" fmla="pin -2147483647 f5 2147483647"/>
              <a:gd name="f21" fmla="pin -2147483647 f6 2147483647"/>
              <a:gd name="f22" fmla="val f16"/>
              <a:gd name="f23" fmla="val f17"/>
              <a:gd name="f24" fmla="val f18"/>
              <a:gd name="f25" fmla="val f19"/>
              <a:gd name="f26" fmla="val f20"/>
              <a:gd name="f27" fmla="val f21"/>
              <a:gd name="f28" fmla="*/ f16 f14 1"/>
              <a:gd name="f29" fmla="*/ f17 f15 1"/>
              <a:gd name="f30" fmla="*/ f18 f14 1"/>
              <a:gd name="f31" fmla="*/ f19 f15 1"/>
              <a:gd name="f32" fmla="*/ f20 f14 1"/>
              <a:gd name="f33" fmla="*/ f21 f15 1"/>
            </a:gdLst>
            <a:ahLst>
              <a:ahXY gdRefX="f0" minX="f12" maxX="f13" gdRefY="f2" minY="f12" maxY="f13">
                <a:pos x="f28" y="f29"/>
              </a:ahXY>
              <a:ahXY gdRefX="f3" minX="f12" maxX="f13" gdRefY="f4" minY="f12" maxY="f13">
                <a:pos x="f30" y="f31"/>
              </a:ahXY>
              <a:ahXY gdRefX="f5" minX="f12" maxX="f13" gdRefY="f6" minY="f12" maxY="f13">
                <a:pos x="f32" y="f33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10" y="f10"/>
                </a:moveTo>
                <a:lnTo>
                  <a:pt x="f11" y="f10"/>
                </a:lnTo>
                <a:lnTo>
                  <a:pt x="f11" y="f11"/>
                </a:lnTo>
                <a:lnTo>
                  <a:pt x="f10" y="f11"/>
                </a:lnTo>
                <a:close/>
              </a:path>
              <a:path w="21600" h="21600">
                <a:moveTo>
                  <a:pt x="f22" y="f23"/>
                </a:moveTo>
                <a:lnTo>
                  <a:pt x="f24" y="f25"/>
                </a:lnTo>
              </a:path>
              <a:path w="21600" h="21600">
                <a:moveTo>
                  <a:pt x="f24" y="f25"/>
                </a:moveTo>
                <a:lnTo>
                  <a:pt x="f26" y="f27"/>
                </a:lnTo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r>
              <a:rPr lang="en-GB" sz="1633" dirty="0">
                <a:latin typeface="Liberation Sans" pitchFamily="18"/>
                <a:ea typeface="DejaVu Sans" pitchFamily="2"/>
                <a:cs typeface="FreeSans" pitchFamily="2"/>
              </a:rPr>
              <a:t>This is me typing</a:t>
            </a:r>
            <a:br>
              <a:rPr lang="en-GB" sz="1633" dirty="0">
                <a:latin typeface="Liberation Sans" pitchFamily="18"/>
                <a:ea typeface="DejaVu Sans" pitchFamily="2"/>
                <a:cs typeface="FreeSans" pitchFamily="2"/>
              </a:rPr>
            </a:br>
            <a:r>
              <a:rPr lang="en-GB" sz="1633" dirty="0">
                <a:latin typeface="Liberation Sans" pitchFamily="18"/>
                <a:ea typeface="DejaVu Sans" pitchFamily="2"/>
                <a:cs typeface="FreeSans" pitchFamily="2"/>
              </a:rPr>
              <a:t>in the keyboard.</a:t>
            </a:r>
          </a:p>
        </p:txBody>
      </p:sp>
    </p:spTree>
    <p:extLst>
      <p:ext uri="{BB962C8B-B14F-4D97-AF65-F5344CB8AC3E}">
        <p14:creationId xmlns:p14="http://schemas.microsoft.com/office/powerpoint/2010/main" val="2147397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8AF48-4905-4184-927A-8946EA1188E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Input of numbers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CC957-BADC-4F3D-A948-C76224C3B0B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The input of a number results in a string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value = input()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1975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value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'1975'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The single quotes let us know that the type of the value is a string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There is a built-in function that explicitly tells us the type of a value</a:t>
            </a:r>
          </a:p>
          <a:p>
            <a:pPr lvl="1" hangingPunct="0">
              <a:spcBef>
                <a:spcPts val="1286"/>
              </a:spcBef>
              <a:buSzPct val="75000"/>
              <a:buFont typeface="StarSymbol"/>
              <a:buChar char="–"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Can you guess the name of that function?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FC4705D-D3EB-4834-84B5-806817C6BF05}"/>
              </a:ext>
            </a:extLst>
          </p:cNvPr>
          <p:cNvSpPr/>
          <p:nvPr/>
        </p:nvSpPr>
        <p:spPr>
          <a:xfrm>
            <a:off x="5289725" y="2796434"/>
            <a:ext cx="1028418" cy="391903"/>
          </a:xfrm>
          <a:custGeom>
            <a:avLst>
              <a:gd name="f0" fmla="val -20770"/>
              <a:gd name="f1" fmla="val 0"/>
              <a:gd name="f2" fmla="val 9999"/>
              <a:gd name="f3" fmla="val -11369"/>
              <a:gd name="f4" fmla="val 9999"/>
              <a:gd name="f5" fmla="val -1714"/>
              <a:gd name="f6" fmla="val 9963"/>
              <a:gd name="f7" fmla="val 0"/>
            </a:avLst>
            <a:gdLst>
              <a:gd name="f8" fmla="val w"/>
              <a:gd name="f9" fmla="val h"/>
              <a:gd name="f10" fmla="val 0"/>
              <a:gd name="f11" fmla="val 21600"/>
              <a:gd name="f12" fmla="val -2147483647"/>
              <a:gd name="f13" fmla="val 2147483647"/>
              <a:gd name="f14" fmla="*/ f8 1 21600"/>
              <a:gd name="f15" fmla="*/ f9 1 21600"/>
              <a:gd name="f16" fmla="pin -2147483647 f0 2147483647"/>
              <a:gd name="f17" fmla="pin -2147483647 f2 2147483647"/>
              <a:gd name="f18" fmla="pin -2147483647 f3 2147483647"/>
              <a:gd name="f19" fmla="pin -2147483647 f4 2147483647"/>
              <a:gd name="f20" fmla="pin -2147483647 f5 2147483647"/>
              <a:gd name="f21" fmla="pin -2147483647 f6 2147483647"/>
              <a:gd name="f22" fmla="val f16"/>
              <a:gd name="f23" fmla="val f17"/>
              <a:gd name="f24" fmla="val f18"/>
              <a:gd name="f25" fmla="val f19"/>
              <a:gd name="f26" fmla="val f20"/>
              <a:gd name="f27" fmla="val f21"/>
              <a:gd name="f28" fmla="*/ f16 f14 1"/>
              <a:gd name="f29" fmla="*/ f17 f15 1"/>
              <a:gd name="f30" fmla="*/ f18 f14 1"/>
              <a:gd name="f31" fmla="*/ f19 f15 1"/>
              <a:gd name="f32" fmla="*/ f20 f14 1"/>
              <a:gd name="f33" fmla="*/ f21 f15 1"/>
            </a:gdLst>
            <a:ahLst>
              <a:ahXY gdRefX="f0" minX="f12" maxX="f13" gdRefY="f2" minY="f12" maxY="f13">
                <a:pos x="f28" y="f29"/>
              </a:ahXY>
              <a:ahXY gdRefX="f3" minX="f12" maxX="f13" gdRefY="f4" minY="f12" maxY="f13">
                <a:pos x="f30" y="f31"/>
              </a:ahXY>
              <a:ahXY gdRefX="f5" minX="f12" maxX="f13" gdRefY="f6" minY="f12" maxY="f13">
                <a:pos x="f32" y="f33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10" y="f10"/>
                </a:moveTo>
                <a:lnTo>
                  <a:pt x="f11" y="f10"/>
                </a:lnTo>
                <a:lnTo>
                  <a:pt x="f11" y="f11"/>
                </a:lnTo>
                <a:lnTo>
                  <a:pt x="f10" y="f11"/>
                </a:lnTo>
                <a:close/>
              </a:path>
              <a:path w="21600" h="21600">
                <a:moveTo>
                  <a:pt x="f22" y="f23"/>
                </a:moveTo>
                <a:lnTo>
                  <a:pt x="f24" y="f25"/>
                </a:lnTo>
              </a:path>
              <a:path w="21600" h="21600">
                <a:moveTo>
                  <a:pt x="f24" y="f25"/>
                </a:moveTo>
                <a:lnTo>
                  <a:pt x="f26" y="f27"/>
                </a:lnTo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algn="ctr" hangingPunct="0"/>
            <a:r>
              <a:rPr lang="en-GB" sz="1633">
                <a:latin typeface="Liberation Sans" pitchFamily="18"/>
                <a:ea typeface="DejaVu Sans" pitchFamily="2"/>
                <a:cs typeface="FreeSans" pitchFamily="2"/>
              </a:rPr>
              <a:t>Me typing.</a:t>
            </a:r>
          </a:p>
        </p:txBody>
      </p:sp>
    </p:spTree>
    <p:extLst>
      <p:ext uri="{BB962C8B-B14F-4D97-AF65-F5344CB8AC3E}">
        <p14:creationId xmlns:p14="http://schemas.microsoft.com/office/powerpoint/2010/main" val="18168949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13E9C-7254-4286-9E30-B05FEAB3211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0739" y="1"/>
            <a:ext cx="8229627" cy="429637"/>
          </a:xfrm>
        </p:spPr>
        <p:txBody>
          <a:bodyPr>
            <a:normAutofit fontScale="90000"/>
          </a:bodyPr>
          <a:lstStyle/>
          <a:p>
            <a:pPr lvl="0"/>
            <a:r>
              <a:rPr lang="en-GB" dirty="0">
                <a:latin typeface="Courier 10 Pitch" pitchFamily="17"/>
              </a:rPr>
              <a:t>type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FC229-B37D-457F-B9FA-8CAC91738EF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80739" y="578478"/>
            <a:ext cx="8229627" cy="3977484"/>
          </a:xfrm>
        </p:spPr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sz="3200" dirty="0"/>
              <a:t>A clever way of figuring out the type of a value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type(2.5)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&lt;class 'float'&gt;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type(1975)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&lt;class '</a:t>
            </a:r>
            <a:r>
              <a:rPr lang="en-GB" sz="32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int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'&gt;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type('1975')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&lt;class '</a:t>
            </a:r>
            <a:r>
              <a:rPr lang="en-GB" sz="32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str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'&gt;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value = input()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1975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type(value)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&lt;class '</a:t>
            </a:r>
            <a:r>
              <a:rPr lang="en-GB" sz="32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str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'&gt;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3200" dirty="0"/>
              <a:t>So, how can we have a number from the user?</a:t>
            </a:r>
          </a:p>
        </p:txBody>
      </p:sp>
    </p:spTree>
    <p:extLst>
      <p:ext uri="{BB962C8B-B14F-4D97-AF65-F5344CB8AC3E}">
        <p14:creationId xmlns:p14="http://schemas.microsoft.com/office/powerpoint/2010/main" val="9375636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22752-465F-4819-8732-14CB9FF68BF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677041"/>
            <a:ext cx="10515600" cy="701731"/>
          </a:xfrm>
        </p:spPr>
        <p:txBody>
          <a:bodyPr>
            <a:spAutoFit/>
          </a:bodyPr>
          <a:lstStyle/>
          <a:p>
            <a:pPr lvl="0"/>
            <a:r>
              <a:rPr lang="en-GB"/>
              <a:t>Getting a number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FAEFA-7552-419F-9407-210E10480A5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80739" y="1604842"/>
            <a:ext cx="4016022" cy="3977484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Since </a:t>
            </a:r>
            <a:r>
              <a:rPr lang="en-GB" dirty="0">
                <a:latin typeface="Courier 10 Pitch" pitchFamily="17"/>
              </a:rPr>
              <a:t>input</a:t>
            </a:r>
            <a:r>
              <a:rPr lang="en-GB" dirty="0"/>
              <a:t> always returns a </a:t>
            </a:r>
            <a:r>
              <a:rPr lang="en-GB" dirty="0" err="1">
                <a:latin typeface="Courier 10 Pitch" pitchFamily="17"/>
              </a:rPr>
              <a:t>str</a:t>
            </a:r>
            <a:r>
              <a:rPr lang="en-GB" dirty="0"/>
              <a:t>, we must convert it to the numeric type we wish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value = input()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1975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FE3B17-5CC9-40CA-BDF6-E62C638F26D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97938" y="1604842"/>
            <a:ext cx="4016022" cy="3977484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We can even take a short-cut:</a:t>
            </a:r>
          </a:p>
          <a:p>
            <a:pPr lvl="0"/>
            <a:r>
              <a:rPr lang="en-GB" sz="1996" dirty="0"/>
              <a:t> </a:t>
            </a:r>
            <a:r>
              <a:rPr lang="en-GB" dirty="0">
                <a:latin typeface="Courier 10 Pitch" pitchFamily="17"/>
              </a:rPr>
              <a:t>&gt;&gt;&gt; value = </a:t>
            </a:r>
            <a:r>
              <a:rPr lang="en-GB" dirty="0" err="1">
                <a:latin typeface="Courier 10 Pitch" pitchFamily="17"/>
              </a:rPr>
              <a:t>int</a:t>
            </a:r>
            <a:r>
              <a:rPr lang="en-GB" dirty="0">
                <a:latin typeface="Courier 10 Pitch" pitchFamily="17"/>
              </a:rPr>
              <a:t>(input())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1975</a:t>
            </a:r>
          </a:p>
          <a:p>
            <a:pPr lvl="0"/>
            <a:r>
              <a:rPr lang="en-GB" dirty="0">
                <a:latin typeface="Courier 10 Pitch" pitchFamily="17"/>
              </a:rPr>
              <a:t>&gt;&gt;&gt; type(value)</a:t>
            </a:r>
            <a:br>
              <a:rPr lang="en-GB" dirty="0">
                <a:latin typeface="Courier 10 Pitch" pitchFamily="17"/>
              </a:rPr>
            </a:br>
            <a:r>
              <a:rPr lang="en-GB" dirty="0">
                <a:latin typeface="Courier 10 Pitch" pitchFamily="17"/>
              </a:rPr>
              <a:t>&lt;class '</a:t>
            </a:r>
            <a:r>
              <a:rPr lang="en-GB" dirty="0" err="1">
                <a:latin typeface="Courier 10 Pitch" pitchFamily="17"/>
              </a:rPr>
              <a:t>int</a:t>
            </a:r>
            <a:r>
              <a:rPr lang="en-GB" dirty="0">
                <a:latin typeface="Courier 10 Pitch" pitchFamily="17"/>
              </a:rPr>
              <a:t>'&gt;</a:t>
            </a:r>
          </a:p>
        </p:txBody>
      </p:sp>
    </p:spTree>
    <p:extLst>
      <p:ext uri="{BB962C8B-B14F-4D97-AF65-F5344CB8AC3E}">
        <p14:creationId xmlns:p14="http://schemas.microsoft.com/office/powerpoint/2010/main" val="16202390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A9E10C-7410-4CA1-BD83-55E3C020C2B3}"/>
              </a:ext>
            </a:extLst>
          </p:cNvPr>
          <p:cNvSpPr/>
          <p:nvPr/>
        </p:nvSpPr>
        <p:spPr>
          <a:xfrm>
            <a:off x="1692239" y="168718"/>
            <a:ext cx="8562406" cy="50597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hangingPunct="0">
              <a:spcBef>
                <a:spcPts val="1286"/>
              </a:spcBef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value = input()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1975</a:t>
            </a:r>
          </a:p>
          <a:p>
            <a:pPr lvl="1" hangingPunct="0">
              <a:spcBef>
                <a:spcPts val="1286"/>
              </a:spcBef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type(value)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&lt;class '</a:t>
            </a:r>
            <a:r>
              <a:rPr lang="en-GB" sz="2903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str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'&gt;</a:t>
            </a:r>
          </a:p>
          <a:p>
            <a:pPr lvl="1" hangingPunct="0">
              <a:spcBef>
                <a:spcPts val="1286"/>
              </a:spcBef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</a:t>
            </a:r>
            <a:r>
              <a:rPr lang="en-GB" sz="2903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value_i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= </a:t>
            </a:r>
            <a:r>
              <a:rPr lang="en-GB" sz="2903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int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(value)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type(</a:t>
            </a:r>
            <a:r>
              <a:rPr lang="en-GB" sz="2903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value_i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&lt;class '</a:t>
            </a:r>
            <a:r>
              <a:rPr lang="en-GB" sz="2903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int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'&gt;</a:t>
            </a:r>
          </a:p>
          <a:p>
            <a:pPr lvl="1" hangingPunct="0">
              <a:spcBef>
                <a:spcPts val="1286"/>
              </a:spcBef>
            </a:pP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</a:t>
            </a:r>
            <a:r>
              <a:rPr lang="en-GB" sz="2903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value_f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= float(value)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type(</a:t>
            </a:r>
            <a:r>
              <a:rPr lang="en-GB" sz="2903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value_f</a:t>
            </a: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)</a:t>
            </a:r>
            <a:b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&lt;class 'float'&gt;</a:t>
            </a:r>
          </a:p>
        </p:txBody>
      </p:sp>
    </p:spTree>
    <p:extLst>
      <p:ext uri="{BB962C8B-B14F-4D97-AF65-F5344CB8AC3E}">
        <p14:creationId xmlns:p14="http://schemas.microsoft.com/office/powerpoint/2010/main" val="41681866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0145A-D8A8-4F45-8A36-15D9D5032E1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0739" y="0"/>
            <a:ext cx="8229627" cy="640534"/>
          </a:xfrm>
        </p:spPr>
        <p:txBody>
          <a:bodyPr>
            <a:normAutofit fontScale="90000"/>
          </a:bodyPr>
          <a:lstStyle/>
          <a:p>
            <a:pPr lvl="0"/>
            <a:r>
              <a:rPr lang="en-GB"/>
              <a:t>What input?!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984C5-35E3-441D-9F14-8484D66AC11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854202" y="640535"/>
            <a:ext cx="8229627" cy="3977484"/>
          </a:xfrm>
        </p:spPr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If a blank prompt shows up in the middle of the execution of the program, how can the user know what to input?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The programmer must inform the user about what is being requested from him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Function </a:t>
            </a:r>
            <a:r>
              <a:rPr lang="en-GB" dirty="0">
                <a:latin typeface="Courier 10 Pitch" pitchFamily="17"/>
              </a:rPr>
              <a:t>input</a:t>
            </a:r>
            <a:r>
              <a:rPr lang="en-GB" dirty="0"/>
              <a:t> allows to pass a string to present to the user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name = input("Insert your name: ")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Insert your name: António Anjos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age = </a:t>
            </a:r>
            <a:r>
              <a:rPr lang="en-GB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int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(input("Insert your age: "))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Insert your age: 41</a:t>
            </a:r>
          </a:p>
        </p:txBody>
      </p:sp>
    </p:spTree>
    <p:extLst>
      <p:ext uri="{BB962C8B-B14F-4D97-AF65-F5344CB8AC3E}">
        <p14:creationId xmlns:p14="http://schemas.microsoft.com/office/powerpoint/2010/main" val="21616199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F34D9-49FF-4FEA-BC2F-AC62FA8FE25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Problem (2 minutes)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95FD2-B00C-4342-ADC2-05E759F75ED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Write a program that, given the name and the current age of the user, will output the age the user will have next year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Save the program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Example of usage: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What's your name? António</a:t>
            </a: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Tell me your age: 41</a:t>
            </a:r>
            <a:b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903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António will be 42 next year.</a:t>
            </a:r>
          </a:p>
        </p:txBody>
      </p:sp>
    </p:spTree>
    <p:extLst>
      <p:ext uri="{BB962C8B-B14F-4D97-AF65-F5344CB8AC3E}">
        <p14:creationId xmlns:p14="http://schemas.microsoft.com/office/powerpoint/2010/main" val="33300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4D9D8-1F5C-49EC-88F1-3C9FA9CCE17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0739" y="0"/>
            <a:ext cx="8229627" cy="457757"/>
          </a:xfrm>
        </p:spPr>
        <p:txBody>
          <a:bodyPr>
            <a:normAutofit fontScale="90000"/>
          </a:bodyPr>
          <a:lstStyle/>
          <a:p>
            <a:pPr lvl="0"/>
            <a:r>
              <a:rPr lang="en-GB" dirty="0"/>
              <a:t>Problem 2 (2 minutes)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A4083-BA21-4289-889A-B77A12B52B0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980739" y="561926"/>
            <a:ext cx="8229627" cy="3977484"/>
          </a:xfrm>
        </p:spPr>
        <p:txBody>
          <a:bodyPr>
            <a:noAutofit/>
          </a:bodyPr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Write a program that requests as input the radius of two spheres. The program should output the total of the volume of the two spheres.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Note: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400" dirty="0"/>
              <a:t>Runtime simulation: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Input the radius of the 1st sphere: 1</a:t>
            </a:r>
            <a:b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Input the radius of the 2nd sphere: 20</a:t>
            </a:r>
          </a:p>
          <a:p>
            <a:pPr lvl="1" hangingPunct="0">
              <a:spcBef>
                <a:spcPts val="1286"/>
              </a:spcBef>
              <a:buNone/>
            </a:pP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The volume of the 1st sphere is: 4.188666666666666</a:t>
            </a:r>
            <a:b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The volume of the 2nd sphere is: 33509.33333333333</a:t>
            </a:r>
            <a:b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The total volume is: 33513.522</a:t>
            </a:r>
          </a:p>
        </p:txBody>
      </p:sp>
      <p:pic>
        <p:nvPicPr>
          <p:cNvPr id="4" name="Picture 3" descr="28§inline§\mathit{volume} = \frac{4}{3} \times \pi \times \mathit{radius}^3§png§600§FALSE§" title="TexMaths">
            <a:extLst>
              <a:ext uri="{FF2B5EF4-FFF2-40B4-BE49-F238E27FC236}">
                <a16:creationId xmlns:a16="http://schemas.microsoft.com/office/drawing/2014/main" id="{A1A168EC-7C32-4E7B-870B-9F1AB5EEE82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214315" y="1924795"/>
            <a:ext cx="3559782" cy="4069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35306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DC2B3-25CD-499C-B981-D5B73E8681C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Back to the questions…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65E13-7C2C-46FA-9EEB-79BE9CF5047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How does Python represent text?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Can we add text together, or multiply text by a number?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Can I add text to a number?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How to find the length of a piece of text?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How to create a number from text?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What is an escape sequence?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How to print text to the screen?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How to read text from the keyboard?</a:t>
            </a:r>
          </a:p>
        </p:txBody>
      </p:sp>
    </p:spTree>
    <p:extLst>
      <p:ext uri="{BB962C8B-B14F-4D97-AF65-F5344CB8AC3E}">
        <p14:creationId xmlns:p14="http://schemas.microsoft.com/office/powerpoint/2010/main" val="23961053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962F9-F800-3722-04E9-DE8936DA5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7BC04-7B58-6C8A-F991-6999A1B381B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 dirty="0"/>
              <a:t>Try This: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9B2D1-84A9-4925-7E99-388EE74C659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buSzPct val="45000"/>
              <a:buNone/>
            </a:pPr>
            <a:r>
              <a:rPr lang="en-GB" sz="3800" dirty="0" err="1"/>
              <a:t>dir</a:t>
            </a:r>
            <a:r>
              <a:rPr lang="en-GB" sz="3800" dirty="0"/>
              <a:t> (str)</a:t>
            </a:r>
          </a:p>
          <a:p>
            <a:pPr marL="0" lvl="0" indent="0">
              <a:buSzPct val="45000"/>
              <a:buNone/>
            </a:pPr>
            <a:endParaRPr lang="en-GB" dirty="0"/>
          </a:p>
          <a:p>
            <a:pPr marL="0" lvl="0" indent="0">
              <a:buSzPct val="45000"/>
              <a:buNone/>
            </a:pPr>
            <a:r>
              <a:rPr lang="en-GB" dirty="0"/>
              <a:t>['__add__', '__class__', '__contains__', '__</a:t>
            </a:r>
            <a:r>
              <a:rPr lang="en-GB" dirty="0" err="1"/>
              <a:t>delattr</a:t>
            </a:r>
            <a:r>
              <a:rPr lang="en-GB" dirty="0"/>
              <a:t>__', '__</a:t>
            </a:r>
            <a:r>
              <a:rPr lang="en-GB" dirty="0" err="1"/>
              <a:t>dir</a:t>
            </a:r>
            <a:r>
              <a:rPr lang="en-GB" dirty="0"/>
              <a:t>__', '__doc__', '__</a:t>
            </a:r>
            <a:r>
              <a:rPr lang="en-GB" dirty="0" err="1"/>
              <a:t>eq</a:t>
            </a:r>
            <a:r>
              <a:rPr lang="en-GB" dirty="0"/>
              <a:t>__', '__format__', '__</a:t>
            </a:r>
            <a:r>
              <a:rPr lang="en-GB" dirty="0" err="1"/>
              <a:t>ge</a:t>
            </a:r>
            <a:r>
              <a:rPr lang="en-GB" dirty="0"/>
              <a:t>__', '__</a:t>
            </a:r>
            <a:r>
              <a:rPr lang="en-GB" dirty="0" err="1"/>
              <a:t>getattribute</a:t>
            </a:r>
            <a:r>
              <a:rPr lang="en-GB" dirty="0"/>
              <a:t>__', '__</a:t>
            </a:r>
            <a:r>
              <a:rPr lang="en-GB" dirty="0" err="1"/>
              <a:t>getitem</a:t>
            </a:r>
            <a:r>
              <a:rPr lang="en-GB" dirty="0"/>
              <a:t>__', '__</a:t>
            </a:r>
            <a:r>
              <a:rPr lang="en-GB" dirty="0" err="1"/>
              <a:t>getnewargs</a:t>
            </a:r>
            <a:r>
              <a:rPr lang="en-GB" dirty="0"/>
              <a:t>__', '__</a:t>
            </a:r>
            <a:r>
              <a:rPr lang="en-GB" dirty="0" err="1"/>
              <a:t>getstate</a:t>
            </a:r>
            <a:r>
              <a:rPr lang="en-GB" dirty="0"/>
              <a:t>__', '__</a:t>
            </a:r>
            <a:r>
              <a:rPr lang="en-GB" dirty="0" err="1"/>
              <a:t>gt</a:t>
            </a:r>
            <a:r>
              <a:rPr lang="en-GB" dirty="0"/>
              <a:t>__', '__hash__', '__</a:t>
            </a:r>
            <a:r>
              <a:rPr lang="en-GB" dirty="0" err="1"/>
              <a:t>init</a:t>
            </a:r>
            <a:r>
              <a:rPr lang="en-GB" dirty="0"/>
              <a:t>__', '__</a:t>
            </a:r>
            <a:r>
              <a:rPr lang="en-GB" dirty="0" err="1"/>
              <a:t>init_subclass</a:t>
            </a:r>
            <a:r>
              <a:rPr lang="en-GB" dirty="0"/>
              <a:t>__', '__iter__', '__le__', '__</a:t>
            </a:r>
            <a:r>
              <a:rPr lang="en-GB" dirty="0" err="1"/>
              <a:t>len</a:t>
            </a:r>
            <a:r>
              <a:rPr lang="en-GB" dirty="0"/>
              <a:t>__', '__</a:t>
            </a:r>
            <a:r>
              <a:rPr lang="en-GB" dirty="0" err="1"/>
              <a:t>lt</a:t>
            </a:r>
            <a:r>
              <a:rPr lang="en-GB" dirty="0"/>
              <a:t>__', '__mod__', '__</a:t>
            </a:r>
            <a:r>
              <a:rPr lang="en-GB" dirty="0" err="1"/>
              <a:t>mul</a:t>
            </a:r>
            <a:r>
              <a:rPr lang="en-GB" dirty="0"/>
              <a:t>__', '__ne__', '__new__', '__reduce__', '__</a:t>
            </a:r>
            <a:r>
              <a:rPr lang="en-GB" dirty="0" err="1"/>
              <a:t>reduce_ex</a:t>
            </a:r>
            <a:r>
              <a:rPr lang="en-GB" dirty="0"/>
              <a:t>__', '__</a:t>
            </a:r>
            <a:r>
              <a:rPr lang="en-GB" dirty="0" err="1"/>
              <a:t>repr</a:t>
            </a:r>
            <a:r>
              <a:rPr lang="en-GB" dirty="0"/>
              <a:t>__', '__</a:t>
            </a:r>
            <a:r>
              <a:rPr lang="en-GB" dirty="0" err="1"/>
              <a:t>rmod</a:t>
            </a:r>
            <a:r>
              <a:rPr lang="en-GB" dirty="0"/>
              <a:t>__', '__</a:t>
            </a:r>
            <a:r>
              <a:rPr lang="en-GB" dirty="0" err="1"/>
              <a:t>rmul</a:t>
            </a:r>
            <a:r>
              <a:rPr lang="en-GB" dirty="0"/>
              <a:t>__', '__</a:t>
            </a:r>
            <a:r>
              <a:rPr lang="en-GB" dirty="0" err="1"/>
              <a:t>setattr</a:t>
            </a:r>
            <a:r>
              <a:rPr lang="en-GB" dirty="0"/>
              <a:t>__', '__</a:t>
            </a:r>
            <a:r>
              <a:rPr lang="en-GB" dirty="0" err="1"/>
              <a:t>sizeof</a:t>
            </a:r>
            <a:r>
              <a:rPr lang="en-GB" dirty="0"/>
              <a:t>__', '__str__', '__</a:t>
            </a:r>
            <a:r>
              <a:rPr lang="en-GB" dirty="0" err="1"/>
              <a:t>subclasshook</a:t>
            </a:r>
            <a:r>
              <a:rPr lang="en-GB" dirty="0"/>
              <a:t>__', 'capitalize', '</a:t>
            </a:r>
            <a:r>
              <a:rPr lang="en-GB" dirty="0" err="1"/>
              <a:t>casefold</a:t>
            </a:r>
            <a:r>
              <a:rPr lang="en-GB" dirty="0"/>
              <a:t>', '</a:t>
            </a:r>
            <a:r>
              <a:rPr lang="en-GB" dirty="0" err="1"/>
              <a:t>center</a:t>
            </a:r>
            <a:r>
              <a:rPr lang="en-GB" dirty="0"/>
              <a:t>', 'count', 'encode', '</a:t>
            </a:r>
            <a:r>
              <a:rPr lang="en-GB" dirty="0" err="1"/>
              <a:t>endswith</a:t>
            </a:r>
            <a:r>
              <a:rPr lang="en-GB" dirty="0"/>
              <a:t>', '</a:t>
            </a:r>
            <a:r>
              <a:rPr lang="en-GB" dirty="0" err="1"/>
              <a:t>expandtabs</a:t>
            </a:r>
            <a:r>
              <a:rPr lang="en-GB" dirty="0"/>
              <a:t>', 'find', 'format', '</a:t>
            </a:r>
            <a:r>
              <a:rPr lang="en-GB" dirty="0" err="1"/>
              <a:t>format_map</a:t>
            </a:r>
            <a:r>
              <a:rPr lang="en-GB" dirty="0"/>
              <a:t>', 'index', '</a:t>
            </a:r>
            <a:r>
              <a:rPr lang="en-GB" dirty="0" err="1"/>
              <a:t>isalnum</a:t>
            </a:r>
            <a:r>
              <a:rPr lang="en-GB" dirty="0"/>
              <a:t>', '</a:t>
            </a:r>
            <a:r>
              <a:rPr lang="en-GB" dirty="0" err="1"/>
              <a:t>isalpha</a:t>
            </a:r>
            <a:r>
              <a:rPr lang="en-GB" dirty="0"/>
              <a:t>', '</a:t>
            </a:r>
            <a:r>
              <a:rPr lang="en-GB" dirty="0" err="1"/>
              <a:t>isascii</a:t>
            </a:r>
            <a:r>
              <a:rPr lang="en-GB" dirty="0"/>
              <a:t>', '</a:t>
            </a:r>
            <a:r>
              <a:rPr lang="en-GB" dirty="0" err="1"/>
              <a:t>isdecimal</a:t>
            </a:r>
            <a:r>
              <a:rPr lang="en-GB" dirty="0"/>
              <a:t>', '</a:t>
            </a:r>
            <a:r>
              <a:rPr lang="en-GB" dirty="0" err="1"/>
              <a:t>isdigit</a:t>
            </a:r>
            <a:r>
              <a:rPr lang="en-GB" dirty="0"/>
              <a:t>', '</a:t>
            </a:r>
            <a:r>
              <a:rPr lang="en-GB" dirty="0" err="1"/>
              <a:t>isidentifier</a:t>
            </a:r>
            <a:r>
              <a:rPr lang="en-GB" dirty="0"/>
              <a:t>', '</a:t>
            </a:r>
            <a:r>
              <a:rPr lang="en-GB" dirty="0" err="1"/>
              <a:t>islower</a:t>
            </a:r>
            <a:r>
              <a:rPr lang="en-GB" dirty="0"/>
              <a:t>', '</a:t>
            </a:r>
            <a:r>
              <a:rPr lang="en-GB" dirty="0" err="1"/>
              <a:t>isnumeric</a:t>
            </a:r>
            <a:r>
              <a:rPr lang="en-GB" dirty="0"/>
              <a:t>', '</a:t>
            </a:r>
            <a:r>
              <a:rPr lang="en-GB" dirty="0" err="1"/>
              <a:t>isprintable</a:t>
            </a:r>
            <a:r>
              <a:rPr lang="en-GB" dirty="0"/>
              <a:t>', '</a:t>
            </a:r>
            <a:r>
              <a:rPr lang="en-GB" dirty="0" err="1"/>
              <a:t>isspace</a:t>
            </a:r>
            <a:r>
              <a:rPr lang="en-GB" dirty="0"/>
              <a:t>', '</a:t>
            </a:r>
            <a:r>
              <a:rPr lang="en-GB" dirty="0" err="1"/>
              <a:t>istitle</a:t>
            </a:r>
            <a:r>
              <a:rPr lang="en-GB" dirty="0"/>
              <a:t>', '</a:t>
            </a:r>
            <a:r>
              <a:rPr lang="en-GB" dirty="0" err="1"/>
              <a:t>isupper</a:t>
            </a:r>
            <a:r>
              <a:rPr lang="en-GB" dirty="0"/>
              <a:t>', 'join', '</a:t>
            </a:r>
            <a:r>
              <a:rPr lang="en-GB" dirty="0" err="1"/>
              <a:t>ljust</a:t>
            </a:r>
            <a:r>
              <a:rPr lang="en-GB" dirty="0"/>
              <a:t>', 'lower', '</a:t>
            </a:r>
            <a:r>
              <a:rPr lang="en-GB" dirty="0" err="1"/>
              <a:t>lstrip</a:t>
            </a:r>
            <a:r>
              <a:rPr lang="en-GB" dirty="0"/>
              <a:t>', '</a:t>
            </a:r>
            <a:r>
              <a:rPr lang="en-GB" dirty="0" err="1"/>
              <a:t>maketrans</a:t>
            </a:r>
            <a:r>
              <a:rPr lang="en-GB" dirty="0"/>
              <a:t>', 'partition', '</a:t>
            </a:r>
            <a:r>
              <a:rPr lang="en-GB" dirty="0" err="1"/>
              <a:t>removeprefix</a:t>
            </a:r>
            <a:r>
              <a:rPr lang="en-GB" dirty="0"/>
              <a:t>', '</a:t>
            </a:r>
            <a:r>
              <a:rPr lang="en-GB" dirty="0" err="1"/>
              <a:t>removesuffix</a:t>
            </a:r>
            <a:r>
              <a:rPr lang="en-GB" dirty="0"/>
              <a:t>', 'replace', '</a:t>
            </a:r>
            <a:r>
              <a:rPr lang="en-GB" dirty="0" err="1"/>
              <a:t>rfind</a:t>
            </a:r>
            <a:r>
              <a:rPr lang="en-GB" dirty="0"/>
              <a:t>', '</a:t>
            </a:r>
            <a:r>
              <a:rPr lang="en-GB" dirty="0" err="1"/>
              <a:t>rindex</a:t>
            </a:r>
            <a:r>
              <a:rPr lang="en-GB" dirty="0"/>
              <a:t>', '</a:t>
            </a:r>
            <a:r>
              <a:rPr lang="en-GB" dirty="0" err="1"/>
              <a:t>rjust</a:t>
            </a:r>
            <a:r>
              <a:rPr lang="en-GB" dirty="0"/>
              <a:t>', '</a:t>
            </a:r>
            <a:r>
              <a:rPr lang="en-GB" dirty="0" err="1"/>
              <a:t>rpartition</a:t>
            </a:r>
            <a:r>
              <a:rPr lang="en-GB" dirty="0"/>
              <a:t>', '</a:t>
            </a:r>
            <a:r>
              <a:rPr lang="en-GB" dirty="0" err="1"/>
              <a:t>rsplit</a:t>
            </a:r>
            <a:r>
              <a:rPr lang="en-GB" dirty="0"/>
              <a:t>', '</a:t>
            </a:r>
            <a:r>
              <a:rPr lang="en-GB" dirty="0" err="1"/>
              <a:t>rstrip</a:t>
            </a:r>
            <a:r>
              <a:rPr lang="en-GB" dirty="0"/>
              <a:t>', 'split', '</a:t>
            </a:r>
            <a:r>
              <a:rPr lang="en-GB" dirty="0" err="1"/>
              <a:t>splitlines</a:t>
            </a:r>
            <a:r>
              <a:rPr lang="en-GB" dirty="0"/>
              <a:t>', '</a:t>
            </a:r>
            <a:r>
              <a:rPr lang="en-GB" dirty="0" err="1"/>
              <a:t>startswith</a:t>
            </a:r>
            <a:r>
              <a:rPr lang="en-GB" dirty="0"/>
              <a:t>', 'strip', '</a:t>
            </a:r>
            <a:r>
              <a:rPr lang="en-GB" dirty="0" err="1"/>
              <a:t>swapcase</a:t>
            </a:r>
            <a:r>
              <a:rPr lang="en-GB" dirty="0"/>
              <a:t>', 'title', 'translate', 'upper', '</a:t>
            </a:r>
            <a:r>
              <a:rPr lang="en-GB" dirty="0" err="1"/>
              <a:t>zfill</a:t>
            </a:r>
            <a:r>
              <a:rPr lang="en-GB" dirty="0"/>
              <a:t>']</a:t>
            </a:r>
          </a:p>
        </p:txBody>
      </p:sp>
    </p:spTree>
    <p:extLst>
      <p:ext uri="{BB962C8B-B14F-4D97-AF65-F5344CB8AC3E}">
        <p14:creationId xmlns:p14="http://schemas.microsoft.com/office/powerpoint/2010/main" val="346921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2FF3E-B140-4BEB-85E6-D375621D06C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GB"/>
              <a:t>Further reading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5591E-AB64-4CB2-9EEF-38EC1C1EE05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PP, chapter 4</a:t>
            </a:r>
          </a:p>
        </p:txBody>
      </p:sp>
    </p:spTree>
    <p:extLst>
      <p:ext uri="{BB962C8B-B14F-4D97-AF65-F5344CB8AC3E}">
        <p14:creationId xmlns:p14="http://schemas.microsoft.com/office/powerpoint/2010/main" val="3855132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2331</Words>
  <Application>Microsoft Office PowerPoint</Application>
  <PresentationFormat>Widescreen</PresentationFormat>
  <Paragraphs>229</Paragraphs>
  <Slides>34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Calibri Light</vt:lpstr>
      <vt:lpstr>Courier 10 Pitch</vt:lpstr>
      <vt:lpstr>Liberation Sans</vt:lpstr>
      <vt:lpstr>StarSymbol</vt:lpstr>
      <vt:lpstr>Office Theme</vt:lpstr>
      <vt:lpstr>FUN PRO     2025-26 </vt:lpstr>
      <vt:lpstr>In this class …</vt:lpstr>
      <vt:lpstr>Working with text</vt:lpstr>
      <vt:lpstr>Examples of strings (text)</vt:lpstr>
      <vt:lpstr>Quotes must match</vt:lpstr>
      <vt:lpstr>Operations on Strings</vt:lpstr>
      <vt:lpstr>Adding a string and a number</vt:lpstr>
      <vt:lpstr>Adding a string and a number</vt:lpstr>
      <vt:lpstr>So, is it possible?</vt:lpstr>
      <vt:lpstr>Creating numbers from strings</vt:lpstr>
      <vt:lpstr>Let’s see</vt:lpstr>
      <vt:lpstr>Strings vs Variables</vt:lpstr>
      <vt:lpstr>Multiplying a string</vt:lpstr>
      <vt:lpstr>Guess the results?</vt:lpstr>
      <vt:lpstr>Using special characters</vt:lpstr>
      <vt:lpstr>Two solutions</vt:lpstr>
      <vt:lpstr>Another problem</vt:lpstr>
      <vt:lpstr>More escape sequences</vt:lpstr>
      <vt:lpstr>Printing a String</vt:lpstr>
      <vt:lpstr>More on printing</vt:lpstr>
      <vt:lpstr>PowerPoint Presentation</vt:lpstr>
      <vt:lpstr>Changing print defaults</vt:lpstr>
      <vt:lpstr>PowerPoint Presentation</vt:lpstr>
      <vt:lpstr>Getting input from the user</vt:lpstr>
      <vt:lpstr>Input of numbers</vt:lpstr>
      <vt:lpstr>type</vt:lpstr>
      <vt:lpstr>Getting a number</vt:lpstr>
      <vt:lpstr>PowerPoint Presentation</vt:lpstr>
      <vt:lpstr>What input?!</vt:lpstr>
      <vt:lpstr>Problem (2 minutes)</vt:lpstr>
      <vt:lpstr>Problem 2 (2 minutes)</vt:lpstr>
      <vt:lpstr>Back to the questions…</vt:lpstr>
      <vt:lpstr>Try This: </vt:lpstr>
      <vt:lpstr>Further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Hamid Shahbazkia</dc:creator>
  <cp:lastModifiedBy>Hamid Reza Shahbazkia</cp:lastModifiedBy>
  <cp:revision>6</cp:revision>
  <dcterms:created xsi:type="dcterms:W3CDTF">2018-09-11T06:12:55Z</dcterms:created>
  <dcterms:modified xsi:type="dcterms:W3CDTF">2025-09-16T09:56:03Z</dcterms:modified>
</cp:coreProperties>
</file>