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7" d="100"/>
          <a:sy n="47" d="100"/>
        </p:scale>
        <p:origin x="293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C2DE64-CAEF-4EEC-B6BD-4A6AF9041E5E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FD43F-C917-4F60-9190-ECD5826AAD85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46400-D215-4217-B16E-1DFDADF651F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76439-AC73-45CB-A74F-4A563832D41A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B6E1CEE-9837-41A6-9DB3-50FAAB9DDF1F}" type="slidenum">
              <a:t>‹#›</a:t>
            </a:fld>
            <a:endParaRPr lang="en-GB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983031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F97CB-A226-4923-82BD-6BD92484C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8560F-6AE8-4CBB-9D99-776749991C6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A2414CD-E3AE-4D53-9746-CC3545E2449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AAD78-F29D-4E06-815A-0489A41B9567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E0DCD-7A4B-47DD-A243-BC4092C231A6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088E3-0FC0-4691-82E5-F9B6494D590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52692965-F36A-48DD-818B-DB0D4A23737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699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GB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55E96-401F-4D0E-8A49-1A3C15FA1E1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90DA05B-A069-4B74-95EC-7A35C1864827}" type="slidenum">
              <a:t>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CD0BC-13CB-48E7-83A3-6EDE92914EC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0F52A-BFA3-436B-B2D8-3FA60BA7EF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D9EDF-8391-404F-BDE0-3366E644081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EC636E3-E385-4897-83F2-E4B31AAB55F8}" type="slidenum">
              <a:t>2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E7A07-05DF-4FCF-BAFD-20A92572FB8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FCB2F-24AC-4200-9370-607D8E9BE8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AC85F-6BE7-4DF3-92CD-59723AD625F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0BAC531-7182-421A-8772-35FDF0AD180C}" type="slidenum">
              <a:t>3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DCDB0-738D-45D4-ADA6-7AE3A692A53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374F0-8B36-4680-AC38-3D7B83582C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CACA8-5D46-4F30-85EC-193127D3A5C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F29587A-3B9E-419C-B0DF-B60C18091365}" type="slidenum">
              <a:t>5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68EAF-0A26-4048-89B5-AF8307FCA10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5637D-3E6A-4B8B-92FC-C006CE0D7F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E6864-224D-4F2A-80CE-A65F53AB4A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B86E831-F2E5-4E8A-A1BB-1D69CE69C72F}" type="slidenum">
              <a:t>6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7A969-4292-4E36-B877-1F2C1C36D25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5D0F1-C58A-44B0-ABBE-5CC1E8EA451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13119-385C-470D-83D0-3B5472F7938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B80AB8E-E800-42B2-9582-538A83A4DB21}" type="slidenum">
              <a:t>7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4A640-7A3A-48DE-966D-F4D2E59E512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1CA5D-2E3C-451B-9506-33F1095D02C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C01C9-C134-46AB-BF64-69151A3BD58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965FB70-B5F5-4EB7-8CD4-3D52E0CA32B2}" type="slidenum">
              <a:t>8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1A4E5-E9F0-4B3D-83B7-F7448E13620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72A65-FA47-4265-A5D1-037F99C2C3A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84D68-CB13-4590-B667-9E056CDE7E2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E820C5D-14F9-4000-8308-2B6C445F64BF}" type="slidenum">
              <a:t>9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CEBFA-A320-4011-BA99-67560C1F89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B82FB-3511-41E8-8946-B6C8960D4A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39D95-1DA2-447C-BEF6-DEDE93F4692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D8D7BFAB-A9A1-45D6-B0A4-0DFF7A8A7815}" type="slidenum">
              <a:t>10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E5626-795D-4476-BD27-0AADBAF76F5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2BF47-85CA-455B-90C1-360E395571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0D4C7-A4EE-4B30-A5C0-CB7A3B037AD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7E4551D-CA03-4508-A009-B5211CEA995F}" type="slidenum">
              <a:t>11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FA2B8-880C-444E-A17D-AEE12FB2B3A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7B7DF-EFFC-41F0-BAF4-304CFAF71A1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CE88-5EF7-48B1-9E39-E0FFEB859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493F5-8F04-4E8B-804D-262B931CB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491BB-E93D-4A48-94E3-3ACEFE80B1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144A4-2911-45C1-8D9B-A3EFBDEB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59387-060B-44D8-A84C-F3EF23D2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60F31430-94C5-424A-B37A-F74C9E864A1B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15715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4781-3C9D-4653-8046-09837BD3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1B1D5-9E63-4B79-BC02-782A9AD36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DABD6-A93D-4EE9-9892-FC64052D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884E-3C87-48ED-8CAC-CECD797C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8B193-465F-4183-8BD3-B645D023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ABC45C66-C6EC-476A-84E1-F70769B42106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28547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8DFD-3ED7-45D1-894B-3A71C926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0DBF4-6F90-4B21-9CFF-E1B36948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E422B-DBB4-4E06-BC93-BF4D362B77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C098A-777C-4E21-953A-09105EDD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5D06D-7B39-4E0F-8F74-0AD3EE0A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528BB789-0220-47D6-B374-47BA55855F53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861382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56F5B-82E9-490D-9768-495EA02D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303D5-3AE0-40EC-9187-4BE826994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4AF96-AA61-4EDF-A34D-3E5779316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25540-1E85-4700-AFB3-D4D54388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06E93-164E-42B9-987E-B67D0BA0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79887-CCC7-4A51-99B4-9B736CCA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0332624E-7FCC-4CEE-BB19-A13428D9D8CF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894895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0FF9-21C0-4195-82BA-C75FDAD36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D2532-992B-440C-9B2D-2592346A2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BF55C-1C22-4ECD-AE01-E5B595E43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491FA-C45A-416E-BD0C-68B1E1F93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7C9A6-ACB4-4BEE-8BD1-2D06671CA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B7AB60-593E-4C25-AC3D-9B2C2C838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BA1546-A97A-4895-8B32-A6B3B3E9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F64472-E0AD-467E-A8E1-C12E1485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C8433859-B8E8-4DFF-82AC-C81529FED128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534381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71F75-E84D-4373-85B0-0F237EF33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ED142-FB35-4172-89A3-694D997878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BE2B0-EC97-44F5-B94E-3B091BC0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020D9-9BA5-41D3-8E8A-AF52E290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067E96F2-9FAA-451B-BDAD-F1C125BCB74E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04901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FC9DF1-5B77-49AD-A7AB-BFD8C383C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8743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5943-ECB1-4600-8054-C927B475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C2851-2411-478A-BCB7-1A70F757C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4B812-6E0D-4D9B-A141-3B64C8B95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EE9DA-8D5F-46E7-BD2A-57826F0CF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71F76-017A-4658-BD66-D5C0A6D4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3727F-F8A9-4636-9E65-183C62D5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B988BB9D-09EB-42FC-8455-F57CFF945323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04462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8CA66-26C8-4CA6-8B2F-1492BB69C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54D0CF-59D6-42CD-944D-1911A48C4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C9B50-4D19-43E6-8DC0-EDF39EDA7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65DD8-8CD2-4F18-9F0A-1A75DDD7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4927E-FA3C-4B65-9A9F-1F813A5C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22DAF-6495-4603-AF1D-9324C694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07D095FB-B8EB-4AB2-9792-48D2A77047B6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304007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6540-DD14-4032-8D8D-8C83AD1C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D3BF0-A8C2-4E69-9399-3ECB24996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6E0F7-B255-4AE8-919E-D2CCE1719B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7E562-3632-4CEE-B50F-91EDFFC5F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B236A-F193-4E10-A619-3CEADA48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D628F567-4432-4A67-AB8E-1CFD706339C3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9071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B56D26-8B6B-4AAB-90E7-8AA24F19E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BEB1C-ED22-4DBE-8A93-DB9134075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3696C-0EED-4D93-A64A-3AA605A4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AA 2017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037F3-EF60-4742-86CC-4890EFBD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70EB3-8D0C-4701-AF27-21732780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/>
          <a:lstStyle/>
          <a:p>
            <a:pPr lvl="0"/>
            <a:fld id="{85828A62-9CB9-4FB9-83A7-C0EF8CDEE165}" type="slidenum">
              <a:t>‹#›</a:t>
            </a:fld>
            <a:r>
              <a:rPr lang="en-GB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50460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6E05F2-0FA1-429D-A327-471F2B2238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76AC8-94DE-483E-A92E-82E6392DA9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hangingPunct="0">
        <a:tabLst/>
        <a:defRPr lang="en-GB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GB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3F0E-2835-438E-8F59-65681B8D76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749320"/>
            <a:ext cx="9071640" cy="1262160"/>
          </a:xfrm>
        </p:spPr>
        <p:txBody>
          <a:bodyPr/>
          <a:lstStyle/>
          <a:p>
            <a:pPr lvl="0"/>
            <a:r>
              <a:rPr lang="en-GB" dirty="0"/>
              <a:t>CS FPU</a:t>
            </a:r>
            <a:br>
              <a:rPr lang="en-GB" dirty="0"/>
            </a:br>
            <a:r>
              <a:rPr lang="en-GB" dirty="0"/>
              <a:t>Computational Thinking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7D06A-BF73-41AA-9F43-259BCA0E5CE3}"/>
              </a:ext>
            </a:extLst>
          </p:cNvPr>
          <p:cNvSpPr txBox="1"/>
          <p:nvPr/>
        </p:nvSpPr>
        <p:spPr>
          <a:xfrm>
            <a:off x="1044000" y="4369679"/>
            <a:ext cx="79920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1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3600" b="1" i="0" u="none" strike="noStrike" kern="1200" cap="none">
                <a:ln>
                  <a:noFill/>
                </a:ln>
                <a:latin typeface="Liberation Sans" pitchFamily="18"/>
                <a:ea typeface="DejaVu Sans" pitchFamily="2"/>
                <a:cs typeface="FreeSans" pitchFamily="2"/>
              </a:rPr>
              <a:t>Functions -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A848-0DC6-4DE7-AD85-E4167638C59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Currently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08981-96C3-4F0C-B92A-4F3D7DAB6C1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en-GB" b="1" dirty="0">
                <a:latin typeface="Courier 10 Pitch" pitchFamily="17"/>
              </a:rPr>
              <a:t>def </a:t>
            </a:r>
            <a:r>
              <a:rPr lang="en-GB" b="1" dirty="0" err="1">
                <a:latin typeface="Courier 10 Pitch" pitchFamily="17"/>
              </a:rPr>
              <a:t>convert_to_celsius</a:t>
            </a:r>
            <a:r>
              <a:rPr lang="en-GB" b="1" dirty="0">
                <a:latin typeface="Courier 10 Pitch" pitchFamily="17"/>
              </a:rPr>
              <a:t>(</a:t>
            </a:r>
            <a:r>
              <a:rPr lang="en-GB" b="1" dirty="0" err="1">
                <a:latin typeface="Courier 10 Pitch" pitchFamily="17"/>
              </a:rPr>
              <a:t>fahrenheit</a:t>
            </a:r>
            <a:r>
              <a:rPr lang="en-GB" b="1" dirty="0">
                <a:latin typeface="Courier 10 Pitch" pitchFamily="17"/>
              </a:rPr>
              <a:t>):</a:t>
            </a:r>
            <a:br>
              <a:rPr lang="en-GB" b="1" dirty="0">
                <a:latin typeface="Courier 10 Pitch" pitchFamily="17"/>
              </a:rPr>
            </a:br>
            <a:r>
              <a:rPr lang="en-GB" b="1" dirty="0">
                <a:latin typeface="Courier 10 Pitch" pitchFamily="17"/>
              </a:rPr>
              <a:t>	return (</a:t>
            </a:r>
            <a:r>
              <a:rPr lang="en-GB" b="1" dirty="0" err="1">
                <a:latin typeface="Courier 10 Pitch" pitchFamily="17"/>
              </a:rPr>
              <a:t>fahrenheit</a:t>
            </a:r>
            <a:r>
              <a:rPr lang="en-GB" b="1" dirty="0">
                <a:latin typeface="Courier 10 Pitch" pitchFamily="17"/>
              </a:rPr>
              <a:t> - 32) * 5 / 9</a:t>
            </a:r>
          </a:p>
          <a:p>
            <a:pPr lvl="0"/>
            <a:endParaRPr lang="en-GB" dirty="0">
              <a:latin typeface="Courier 10 Pitch" pitchFamily="17"/>
            </a:endParaRPr>
          </a:p>
          <a:p>
            <a:pPr lvl="0"/>
            <a:r>
              <a:rPr lang="en-GB" dirty="0">
                <a:latin typeface="Courier 10 Pitch" pitchFamily="17"/>
              </a:rPr>
              <a:t>&gt;&gt;&gt; </a:t>
            </a:r>
            <a:r>
              <a:rPr lang="en-GB" b="1" dirty="0">
                <a:latin typeface="Courier 10 Pitch" pitchFamily="17"/>
              </a:rPr>
              <a:t>help</a:t>
            </a:r>
            <a:r>
              <a:rPr lang="en-GB" dirty="0">
                <a:latin typeface="Courier 10 Pitch" pitchFamily="17"/>
              </a:rPr>
              <a:t>(</a:t>
            </a:r>
            <a:r>
              <a:rPr lang="en-GB" dirty="0" err="1">
                <a:latin typeface="Courier 10 Pitch" pitchFamily="17"/>
              </a:rPr>
              <a:t>convert_to_celsius</a:t>
            </a:r>
            <a:r>
              <a:rPr lang="en-GB" dirty="0">
                <a:latin typeface="Courier 10 Pitch" pitchFamily="17"/>
              </a:rPr>
              <a:t>)</a:t>
            </a:r>
          </a:p>
          <a:p>
            <a:pPr lvl="0"/>
            <a:r>
              <a:rPr lang="en-GB" dirty="0">
                <a:latin typeface="Courier 10 Pitch" pitchFamily="17"/>
              </a:rPr>
              <a:t>Help on function </a:t>
            </a:r>
            <a:r>
              <a:rPr lang="en-GB" dirty="0" err="1">
                <a:latin typeface="Courier 10 Pitch" pitchFamily="17"/>
              </a:rPr>
              <a:t>convert_to_celsius</a:t>
            </a:r>
            <a:r>
              <a:rPr lang="en-GB" dirty="0">
                <a:latin typeface="Courier 10 Pitch" pitchFamily="17"/>
              </a:rPr>
              <a:t> in module __main__:</a:t>
            </a:r>
          </a:p>
          <a:p>
            <a:pPr lvl="0"/>
            <a:r>
              <a:rPr lang="en-GB" dirty="0" err="1">
                <a:latin typeface="Courier 10 Pitch" pitchFamily="17"/>
              </a:rPr>
              <a:t>convert_to_celsius</a:t>
            </a:r>
            <a:r>
              <a:rPr lang="en-GB" dirty="0">
                <a:latin typeface="Courier 10 Pitch" pitchFamily="17"/>
              </a:rPr>
              <a:t>(</a:t>
            </a:r>
            <a:r>
              <a:rPr lang="en-GB" dirty="0" err="1">
                <a:latin typeface="Courier 10 Pitch" pitchFamily="17"/>
              </a:rPr>
              <a:t>fahrenheit</a:t>
            </a:r>
            <a:r>
              <a:rPr lang="en-GB" dirty="0">
                <a:latin typeface="Courier 10 Pitch" pitchFamily="17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2F0B-96E4-4656-8AD9-4780AB48CF6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Designing a function “properly”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6C3D2-952C-478C-BDDB-47DCBD34D7A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dirty="0"/>
              <a:t>Documenting a function is almost as important as the function itself,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</a:t>
            </a:r>
            <a:r>
              <a:rPr lang="en-GB" i="1" dirty="0"/>
              <a:t>documentation string</a:t>
            </a:r>
            <a:r>
              <a:rPr lang="en-GB" dirty="0"/>
              <a:t>, or </a:t>
            </a:r>
            <a:r>
              <a:rPr lang="en-GB" b="1" i="1" u="sng" dirty="0"/>
              <a:t>docstring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Allows the help function to be used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dirty="0"/>
              <a:t>What we want??</a:t>
            </a:r>
            <a:endParaRPr lang="en-GB" sz="3200" dirty="0">
              <a:highlight>
                <a:scrgbClr r="0" g="0" b="0">
                  <a:alpha val="0"/>
                </a:scrgbClr>
              </a:highlight>
              <a:latin typeface="Courier 10 Pitch" pitchFamily="1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10752D-746F-4D73-B45B-601FE32A48CF}"/>
              </a:ext>
            </a:extLst>
          </p:cNvPr>
          <p:cNvSpPr/>
          <p:nvPr/>
        </p:nvSpPr>
        <p:spPr>
          <a:xfrm>
            <a:off x="0" y="1848806"/>
            <a:ext cx="9887919" cy="4355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45000"/>
              <a:buFont typeface="StarSymbol"/>
              <a:buChar char="●"/>
            </a:pPr>
            <a:endParaRPr lang="en-GB" dirty="0"/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&gt;&gt;&gt; help(</a:t>
            </a: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convert_to_celsius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Help on function </a:t>
            </a: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convert_to_celsius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in module __main__: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convert_to_celsius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</a:t>
            </a: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</a:t>
            </a:r>
            <a:b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   (number) -&gt; float    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   Returns the conversion of </a:t>
            </a: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in </a:t>
            </a:r>
            <a:r>
              <a:rPr lang="en-GB" sz="32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celsius</a:t>
            </a:r>
            <a:r>
              <a:rPr lang="en-GB" sz="32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698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BB77F-627B-445C-B208-5923D90C53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0"/>
            <a:ext cx="9071640" cy="697424"/>
          </a:xfrm>
        </p:spPr>
        <p:txBody>
          <a:bodyPr/>
          <a:lstStyle/>
          <a:p>
            <a:pPr lvl="0"/>
            <a:r>
              <a:rPr lang="en-GB" dirty="0"/>
              <a:t>The docstring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744DC-E5E9-447A-9FB9-DA5DBD0421A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697424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Text inserted below the header of the function, between </a:t>
            </a:r>
            <a:r>
              <a:rPr lang="en-GB" sz="2800" dirty="0">
                <a:latin typeface="Courier 10 Pitch" pitchFamily="17"/>
              </a:rPr>
              <a:t>"""</a:t>
            </a:r>
            <a:r>
              <a:rPr lang="en-GB" sz="2800" dirty="0"/>
              <a:t> and </a:t>
            </a:r>
            <a:r>
              <a:rPr lang="en-GB" sz="2800" dirty="0">
                <a:latin typeface="Courier 10 Pitch" pitchFamily="17"/>
              </a:rPr>
              <a:t>"""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It does not change the behaviour of the function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It’s just for human reading (contract + description)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Example:</a:t>
            </a:r>
          </a:p>
          <a:p>
            <a:pPr lvl="1" hangingPunct="0">
              <a:spcBef>
                <a:spcPts val="1417"/>
              </a:spcBef>
              <a:buNone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def 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convert_to_celsius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(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):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""" (number) -&gt; float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Returns the conversion of 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in 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celsius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.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"""</a:t>
            </a:r>
            <a:b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</a:b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	return (</a:t>
            </a:r>
            <a:r>
              <a:rPr lang="en-GB" sz="2800" dirty="0" err="1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fahrenheit</a:t>
            </a: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Courier 10 Pitch" pitchFamily="17"/>
              </a:rPr>
              <a:t> - 32) * 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9D0A-B9DC-4DEA-B947-6DC8184914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62795"/>
            <a:ext cx="9071640" cy="1262160"/>
          </a:xfrm>
        </p:spPr>
        <p:txBody>
          <a:bodyPr/>
          <a:lstStyle/>
          <a:p>
            <a:pPr lvl="0"/>
            <a:r>
              <a:rPr lang="en-GB" dirty="0"/>
              <a:t>Docstring with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8B00B-8422-4777-8994-E9485AFB1A8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087115"/>
            <a:ext cx="9071640" cy="4384440"/>
          </a:xfrm>
        </p:spPr>
        <p:txBody>
          <a:bodyPr/>
          <a:lstStyle/>
          <a:p>
            <a:pPr lvl="0"/>
            <a:r>
              <a:rPr lang="en-GB" sz="2800" dirty="0">
                <a:latin typeface="Courier 10 Pitch" pitchFamily="17"/>
              </a:rPr>
              <a:t>def </a:t>
            </a:r>
            <a:r>
              <a:rPr lang="en-GB" sz="2800" dirty="0" err="1">
                <a:latin typeface="Courier 10 Pitch" pitchFamily="17"/>
              </a:rPr>
              <a:t>convert_to_celsius</a:t>
            </a:r>
            <a:r>
              <a:rPr lang="en-GB" sz="2800" dirty="0">
                <a:latin typeface="Courier 10 Pitch" pitchFamily="17"/>
              </a:rPr>
              <a:t>(</a:t>
            </a:r>
            <a:r>
              <a:rPr lang="en-GB" sz="2800" dirty="0" err="1">
                <a:latin typeface="Courier 10 Pitch" pitchFamily="17"/>
              </a:rPr>
              <a:t>fahrenheit</a:t>
            </a:r>
            <a:r>
              <a:rPr lang="en-GB" sz="2800" dirty="0">
                <a:latin typeface="Courier 10 Pitch" pitchFamily="17"/>
              </a:rPr>
              <a:t>):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""" (number) -&gt; float</a:t>
            </a:r>
          </a:p>
          <a:p>
            <a:pPr lvl="0"/>
            <a:r>
              <a:rPr lang="en-GB" sz="2800" dirty="0">
                <a:latin typeface="Courier 10 Pitch" pitchFamily="17"/>
              </a:rPr>
              <a:t>	Returns the conversion of </a:t>
            </a:r>
            <a:r>
              <a:rPr lang="en-GB" sz="2800" dirty="0" err="1">
                <a:latin typeface="Courier 10 Pitch" pitchFamily="17"/>
              </a:rPr>
              <a:t>fahrenheit</a:t>
            </a:r>
            <a:r>
              <a:rPr lang="en-GB" sz="2800" dirty="0">
                <a:latin typeface="Courier 10 Pitch" pitchFamily="17"/>
              </a:rPr>
              <a:t> in </a:t>
            </a:r>
            <a:r>
              <a:rPr lang="en-GB" sz="2800" dirty="0" err="1">
                <a:latin typeface="Courier 10 Pitch" pitchFamily="17"/>
              </a:rPr>
              <a:t>celsius</a:t>
            </a:r>
            <a:r>
              <a:rPr lang="en-GB" sz="2800" dirty="0">
                <a:latin typeface="Courier 10 Pitch" pitchFamily="17"/>
              </a:rPr>
              <a:t>.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 	&gt;&gt;&gt; </a:t>
            </a:r>
            <a:r>
              <a:rPr lang="en-GB" sz="2800" dirty="0" err="1">
                <a:latin typeface="Courier 10 Pitch" pitchFamily="17"/>
              </a:rPr>
              <a:t>convert_to_celsius</a:t>
            </a:r>
            <a:r>
              <a:rPr lang="en-GB" sz="2800" dirty="0">
                <a:latin typeface="Courier 10 Pitch" pitchFamily="17"/>
              </a:rPr>
              <a:t>(-100.0)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-73.33333333333333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&gt;&gt;&gt; </a:t>
            </a:r>
            <a:r>
              <a:rPr lang="en-GB" sz="2800" dirty="0" err="1">
                <a:latin typeface="Courier 10 Pitch" pitchFamily="17"/>
              </a:rPr>
              <a:t>convert_to_celsius</a:t>
            </a:r>
            <a:r>
              <a:rPr lang="en-GB" sz="2800" dirty="0">
                <a:latin typeface="Courier 10 Pitch" pitchFamily="17"/>
              </a:rPr>
              <a:t>(0)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-17.77777777777778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&gt;&gt;&gt; </a:t>
            </a:r>
            <a:r>
              <a:rPr lang="en-GB" sz="2800" dirty="0" err="1">
                <a:latin typeface="Courier 10 Pitch" pitchFamily="17"/>
              </a:rPr>
              <a:t>convert_to_celsius</a:t>
            </a:r>
            <a:r>
              <a:rPr lang="en-GB" sz="2800" dirty="0">
                <a:latin typeface="Courier 10 Pitch" pitchFamily="17"/>
              </a:rPr>
              <a:t>(50)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10.0 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"""</a:t>
            </a:r>
            <a:br>
              <a:rPr lang="en-GB" sz="2800" dirty="0">
                <a:latin typeface="Courier 10 Pitch" pitchFamily="17"/>
              </a:rPr>
            </a:br>
            <a:r>
              <a:rPr lang="en-GB" sz="2800" dirty="0">
                <a:latin typeface="Courier 10 Pitch" pitchFamily="17"/>
              </a:rPr>
              <a:t>	return (</a:t>
            </a:r>
            <a:r>
              <a:rPr lang="en-GB" sz="2800" dirty="0" err="1">
                <a:latin typeface="Courier 10 Pitch" pitchFamily="17"/>
              </a:rPr>
              <a:t>fahrenheit</a:t>
            </a:r>
            <a:r>
              <a:rPr lang="en-GB" sz="2800" dirty="0">
                <a:latin typeface="Courier 10 Pitch" pitchFamily="17"/>
              </a:rPr>
              <a:t> - 32) * 5 </a:t>
            </a:r>
            <a:r>
              <a:rPr lang="en-GB" dirty="0">
                <a:latin typeface="Courier 10 Pitch" pitchFamily="17"/>
              </a:rPr>
              <a:t>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8A10-AA25-4586-AEB6-B2E6ABE9782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Help with docstring defined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9B2C4-1D9A-4E02-9BED-61373217A5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en-GB" sz="2000">
                <a:latin typeface="Courier 10 Pitch" pitchFamily="17"/>
              </a:rPr>
              <a:t>&gt;&gt;&gt; help(convert_to_celsius)</a:t>
            </a:r>
            <a:br>
              <a:rPr lang="en-GB" sz="2000">
                <a:latin typeface="Courier 10 Pitch" pitchFamily="17"/>
              </a:rPr>
            </a:br>
            <a:r>
              <a:rPr lang="en-GB" sz="2000">
                <a:latin typeface="Courier 10 Pitch" pitchFamily="17"/>
              </a:rPr>
              <a:t>Help on function convert_to_celsius in module __main__:</a:t>
            </a:r>
          </a:p>
          <a:p>
            <a:pPr lvl="0"/>
            <a:r>
              <a:rPr lang="en-GB" sz="2000">
                <a:latin typeface="Courier 10 Pitch" pitchFamily="17"/>
              </a:rPr>
              <a:t>convert_to_celsius(fahrenheit)</a:t>
            </a:r>
            <a:br>
              <a:rPr lang="en-GB" sz="2000">
                <a:latin typeface="Courier 10 Pitch" pitchFamily="17"/>
              </a:rPr>
            </a:br>
            <a:r>
              <a:rPr lang="en-GB" sz="2000">
                <a:latin typeface="Courier 10 Pitch" pitchFamily="17"/>
              </a:rPr>
              <a:t>    (number) -&gt; float</a:t>
            </a:r>
          </a:p>
          <a:p>
            <a:pPr lvl="0"/>
            <a:r>
              <a:rPr lang="en-GB" sz="2000">
                <a:latin typeface="Courier 10 Pitch" pitchFamily="17"/>
              </a:rPr>
              <a:t>    Returns the conversion of fahrenheit in celsius.</a:t>
            </a:r>
          </a:p>
          <a:p>
            <a:pPr lvl="0"/>
            <a:r>
              <a:rPr lang="en-GB" sz="2000">
                <a:latin typeface="Courier 10 Pitch" pitchFamily="17"/>
              </a:rPr>
              <a:t>    &gt;&gt;&gt; convert_to_celsius(-100.0)</a:t>
            </a:r>
            <a:br>
              <a:rPr lang="en-GB" sz="2000">
                <a:latin typeface="Courier 10 Pitch" pitchFamily="17"/>
              </a:rPr>
            </a:br>
            <a:r>
              <a:rPr lang="en-GB" sz="2000">
                <a:latin typeface="Courier 10 Pitch" pitchFamily="17"/>
              </a:rPr>
              <a:t>    -73.33333333333333</a:t>
            </a:r>
            <a:br>
              <a:rPr lang="en-GB" sz="2000">
                <a:latin typeface="Courier 10 Pitch" pitchFamily="17"/>
              </a:rPr>
            </a:br>
            <a:r>
              <a:rPr lang="en-GB" sz="2000">
                <a:latin typeface="Courier 10 Pitch" pitchFamily="17"/>
              </a:rPr>
              <a:t>    &gt;&gt;&gt; convert_to_celsius(0)</a:t>
            </a:r>
            <a:br>
              <a:rPr lang="en-GB" sz="2000">
                <a:latin typeface="Courier 10 Pitch" pitchFamily="17"/>
              </a:rPr>
            </a:br>
            <a:r>
              <a:rPr lang="en-GB" sz="2000">
                <a:latin typeface="Courier 10 Pitch" pitchFamily="17"/>
              </a:rPr>
              <a:t>    -17.77777777777778</a:t>
            </a:r>
            <a:br>
              <a:rPr lang="en-GB" sz="2000">
                <a:latin typeface="Courier 10 Pitch" pitchFamily="17"/>
              </a:rPr>
            </a:br>
            <a:r>
              <a:rPr lang="en-GB" sz="2000">
                <a:latin typeface="Courier 10 Pitch" pitchFamily="17"/>
              </a:rPr>
              <a:t>    &gt;&gt;&gt; convert_to_celsius(50)</a:t>
            </a:r>
            <a:br>
              <a:rPr lang="en-GB" sz="2000">
                <a:latin typeface="Courier 10 Pitch" pitchFamily="17"/>
              </a:rPr>
            </a:br>
            <a:r>
              <a:rPr lang="en-GB" sz="2000">
                <a:latin typeface="Courier 10 Pitch" pitchFamily="17"/>
              </a:rPr>
              <a:t>    10.0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FA27-DD67-41C3-874B-EABD333D3C0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Function design recipe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48221-6B5F-4C1A-A6FB-F6A42B095B8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Start with the examples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b="1"/>
              <a:t>Define the type contract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Define the header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 b="1"/>
              <a:t>Write the description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Write the body of the function</a:t>
            </a:r>
          </a:p>
          <a:p>
            <a:pPr lvl="0">
              <a:buSzPct val="45000"/>
              <a:buFont typeface="StarSymbol"/>
              <a:buChar char="●"/>
            </a:pPr>
            <a:r>
              <a:rPr lang="en-GB"/>
              <a:t>Test the function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1263-3A5B-472C-9701-715A7D7587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B8D67-E1C0-45EB-AF8F-E5F3D6521D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/>
              <a:t>Create a function that returns the difference between two days, in the same year, in the range 1-365 (i. e. 1 is the first day of the year, and 365 is the last)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7BE87-1EBD-4B38-8F21-DD66FC5722C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53A88-827F-461B-979E-0551C124F14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30128"/>
            <a:ext cx="9071640" cy="4384440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en-GB" sz="2800" dirty="0"/>
              <a:t>Create a function that returns the difference between two days, in the same year, in the range 1-365 (</a:t>
            </a:r>
            <a:r>
              <a:rPr lang="en-GB" sz="2800" dirty="0" err="1"/>
              <a:t>i</a:t>
            </a:r>
            <a:r>
              <a:rPr lang="en-GB" sz="2800" dirty="0"/>
              <a:t>. e. 1 is the first day of the year, and 365 is the last)</a:t>
            </a:r>
          </a:p>
          <a:p>
            <a:pPr lvl="1" hangingPunct="0">
              <a:spcBef>
                <a:spcPts val="1417"/>
              </a:spcBef>
              <a:buSzPct val="100000"/>
              <a:buAutoNum type="arabicParenR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Start with the examples</a:t>
            </a:r>
          </a:p>
          <a:p>
            <a:pPr lvl="1" hangingPunct="0">
              <a:spcBef>
                <a:spcPts val="1417"/>
              </a:spcBef>
              <a:buSzPct val="100000"/>
              <a:buAutoNum type="arabicParenR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Define the type contract</a:t>
            </a:r>
          </a:p>
          <a:p>
            <a:pPr lvl="1" hangingPunct="0">
              <a:spcBef>
                <a:spcPts val="1417"/>
              </a:spcBef>
              <a:buSzPct val="100000"/>
              <a:buAutoNum type="arabicParenR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Define the header</a:t>
            </a:r>
          </a:p>
          <a:p>
            <a:pPr lvl="1" hangingPunct="0">
              <a:spcBef>
                <a:spcPts val="1417"/>
              </a:spcBef>
              <a:buSzPct val="100000"/>
              <a:buAutoNum type="arabicParenR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Write the description</a:t>
            </a:r>
          </a:p>
          <a:p>
            <a:pPr lvl="1" hangingPunct="0">
              <a:spcBef>
                <a:spcPts val="1417"/>
              </a:spcBef>
              <a:buSzPct val="100000"/>
              <a:buAutoNum type="arabicParenR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Write the body of the function</a:t>
            </a:r>
          </a:p>
          <a:p>
            <a:pPr lvl="1" hangingPunct="0">
              <a:spcBef>
                <a:spcPts val="1417"/>
              </a:spcBef>
              <a:buSzPct val="100000"/>
              <a:buAutoNum type="arabicParenR"/>
            </a:pPr>
            <a:r>
              <a:rPr lang="en-GB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Test the function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FE757-899F-49DF-BA4D-A4220085D5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0"/>
            <a:ext cx="9071640" cy="1262160"/>
          </a:xfrm>
        </p:spPr>
        <p:txBody>
          <a:bodyPr/>
          <a:lstStyle/>
          <a:p>
            <a:pPr lvl="0"/>
            <a:r>
              <a:rPr lang="en-GB" dirty="0" err="1">
                <a:latin typeface="Courier 10 Pitch" pitchFamily="17"/>
              </a:rPr>
              <a:t>days_difference</a:t>
            </a:r>
            <a:endParaRPr lang="en-GB" dirty="0">
              <a:latin typeface="Courier 10 Pitch" pitchFamily="1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FC787-096A-451F-9D92-00178F9DF94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262160"/>
            <a:ext cx="9071640" cy="4384440"/>
          </a:xfrm>
        </p:spPr>
        <p:txBody>
          <a:bodyPr/>
          <a:lstStyle/>
          <a:p>
            <a:pPr lvl="0"/>
            <a:r>
              <a:rPr lang="en-GB" sz="2400" dirty="0">
                <a:latin typeface="Courier 10 Pitch" pitchFamily="17"/>
              </a:rPr>
              <a:t>def </a:t>
            </a:r>
            <a:r>
              <a:rPr lang="en-GB" sz="2400" dirty="0" err="1">
                <a:latin typeface="Courier 10 Pitch" pitchFamily="17"/>
              </a:rPr>
              <a:t>days_difference</a:t>
            </a:r>
            <a:r>
              <a:rPr lang="en-GB" sz="2400" dirty="0">
                <a:latin typeface="Courier 10 Pitch" pitchFamily="17"/>
              </a:rPr>
              <a:t>(day1, day2):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	""" (</a:t>
            </a:r>
            <a:r>
              <a:rPr lang="en-GB" sz="2400" dirty="0" err="1">
                <a:latin typeface="Courier 10 Pitch" pitchFamily="17"/>
              </a:rPr>
              <a:t>int</a:t>
            </a:r>
            <a:r>
              <a:rPr lang="en-GB" sz="2400" dirty="0">
                <a:latin typeface="Courier 10 Pitch" pitchFamily="17"/>
              </a:rPr>
              <a:t>, </a:t>
            </a:r>
            <a:r>
              <a:rPr lang="en-GB" sz="2400" dirty="0" err="1">
                <a:latin typeface="Courier 10 Pitch" pitchFamily="17"/>
              </a:rPr>
              <a:t>int</a:t>
            </a:r>
            <a:r>
              <a:rPr lang="en-GB" sz="2400" dirty="0">
                <a:latin typeface="Courier 10 Pitch" pitchFamily="17"/>
              </a:rPr>
              <a:t>) -&gt; </a:t>
            </a:r>
            <a:r>
              <a:rPr lang="en-GB" sz="2400" dirty="0" err="1">
                <a:latin typeface="Courier 10 Pitch" pitchFamily="17"/>
              </a:rPr>
              <a:t>int</a:t>
            </a:r>
            <a:endParaRPr lang="en-GB" sz="2400" dirty="0">
              <a:latin typeface="Courier 10 Pitch" pitchFamily="17"/>
            </a:endParaRPr>
          </a:p>
          <a:p>
            <a:pPr lvl="0"/>
            <a:r>
              <a:rPr lang="en-GB" sz="2400" dirty="0">
                <a:latin typeface="Courier 10 Pitch" pitchFamily="17"/>
              </a:rPr>
              <a:t>	Returns the number of days between day1 and day2,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	which are both in the range 1-365.</a:t>
            </a:r>
          </a:p>
          <a:p>
            <a:pPr lvl="0"/>
            <a:r>
              <a:rPr lang="en-GB" sz="2400" dirty="0">
                <a:latin typeface="Courier 10 Pitch" pitchFamily="17"/>
              </a:rPr>
              <a:t> 	&gt;&gt;&gt; </a:t>
            </a:r>
            <a:r>
              <a:rPr lang="en-GB" sz="2400" dirty="0" err="1">
                <a:latin typeface="Courier 10 Pitch" pitchFamily="17"/>
              </a:rPr>
              <a:t>days_difference</a:t>
            </a:r>
            <a:r>
              <a:rPr lang="en-GB" sz="2400" dirty="0">
                <a:latin typeface="Courier 10 Pitch" pitchFamily="17"/>
              </a:rPr>
              <a:t>(10, 20)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	10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	&gt;&gt;&gt; </a:t>
            </a:r>
            <a:r>
              <a:rPr lang="en-GB" sz="2400" dirty="0" err="1">
                <a:latin typeface="Courier 10 Pitch" pitchFamily="17"/>
              </a:rPr>
              <a:t>days_difference</a:t>
            </a:r>
            <a:r>
              <a:rPr lang="en-GB" sz="2400" dirty="0">
                <a:latin typeface="Courier 10 Pitch" pitchFamily="17"/>
              </a:rPr>
              <a:t>(20, 10)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	-10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	&gt;&gt;&gt; </a:t>
            </a:r>
            <a:r>
              <a:rPr lang="en-GB" sz="2400" dirty="0" err="1">
                <a:latin typeface="Courier 10 Pitch" pitchFamily="17"/>
              </a:rPr>
              <a:t>days_difference</a:t>
            </a:r>
            <a:r>
              <a:rPr lang="en-GB" sz="2400" dirty="0">
                <a:latin typeface="Courier 10 Pitch" pitchFamily="17"/>
              </a:rPr>
              <a:t>(100, 100)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	0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	"""</a:t>
            </a:r>
            <a:br>
              <a:rPr lang="en-GB" sz="2400" dirty="0">
                <a:latin typeface="Courier 10 Pitch" pitchFamily="17"/>
              </a:rPr>
            </a:br>
            <a:r>
              <a:rPr lang="en-GB" sz="2400" dirty="0">
                <a:latin typeface="Courier 10 Pitch" pitchFamily="17"/>
              </a:rPr>
              <a:t>	return day2 - day1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11885</TotalTime>
  <Words>640</Words>
  <Application>Microsoft Office PowerPoint</Application>
  <PresentationFormat>Custom</PresentationFormat>
  <Paragraphs>61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Courier 10 Pitch</vt:lpstr>
      <vt:lpstr>Liberation Sans</vt:lpstr>
      <vt:lpstr>Liberation Serif</vt:lpstr>
      <vt:lpstr>StarSymbol</vt:lpstr>
      <vt:lpstr>Wingdings</vt:lpstr>
      <vt:lpstr>Default</vt:lpstr>
      <vt:lpstr>CS FPU Computational Thinking</vt:lpstr>
      <vt:lpstr>Currently</vt:lpstr>
      <vt:lpstr>Designing a function “properly”</vt:lpstr>
      <vt:lpstr>PowerPoint Presentation</vt:lpstr>
      <vt:lpstr>The docstring</vt:lpstr>
      <vt:lpstr>Docstring with examples</vt:lpstr>
      <vt:lpstr>Help with docstring defined</vt:lpstr>
      <vt:lpstr>Function design recipe</vt:lpstr>
      <vt:lpstr>Problem</vt:lpstr>
      <vt:lpstr>Demo</vt:lpstr>
      <vt:lpstr>days_difference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FPU Computational Thinking</dc:title>
  <dc:creator>António Anjos</dc:creator>
  <cp:lastModifiedBy>Hamid Reza Shahbazkia</cp:lastModifiedBy>
  <cp:revision>408</cp:revision>
  <cp:lastPrinted>2016-10-20T22:21:25Z</cp:lastPrinted>
  <dcterms:created xsi:type="dcterms:W3CDTF">2016-08-02T15:42:55Z</dcterms:created>
  <dcterms:modified xsi:type="dcterms:W3CDTF">2025-10-17T07:36:41Z</dcterms:modified>
</cp:coreProperties>
</file>