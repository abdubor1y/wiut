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0080625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FD17A3-6E9D-4DFD-B3DA-051443A0CBAE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pt-PT" sz="14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3AE2FF-2C2E-45A9-A667-61C0BE2AE70F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pt-PT" sz="14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55646-EBC0-4D0F-84BA-D6FBED55B5C0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pt-PT" sz="14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9017E-85CA-49B9-AE80-A529F77E8C2A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BE66FFFE-E264-4841-94C7-62B236AF2062}" type="slidenum">
              <a:t>‹#›</a:t>
            </a:fld>
            <a:endParaRPr lang="pt-PT" sz="14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002956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94ECB-BF87-4652-BF5B-0D2D978832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2C621-ACC2-4C32-9908-90E0AA660F32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pt-PT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BC27545-B505-4150-86F0-3544F65243D8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rtl="0" hangingPunct="0">
              <a:buNone/>
              <a:tabLst/>
              <a:defRPr lang="pt-PT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A9121-15AB-4C67-80D0-00DD6CA033E0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rtl="0" hangingPunct="0">
              <a:buNone/>
              <a:tabLst/>
              <a:defRPr lang="pt-PT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1298C-CE97-4354-B94B-BCE7C537B86F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rtl="0" hangingPunct="0">
              <a:buNone/>
              <a:tabLst/>
              <a:defRPr lang="pt-PT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4B87F-832C-431F-A6AB-0DCBA377C13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pt-PT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FDE53C0D-24CA-4A9E-AA33-1BDE078C628F}" type="slidenum"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33151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pt-PT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6FF1E-AE83-44C3-8612-49EEA9F8871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57E360C-146F-48C7-B591-530CD36847D0}" type="slidenum">
              <a:t>1</a:t>
            </a:fld>
            <a:endParaRPr lang="pt-PT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47EB08-F498-475E-9BC5-CB69D669857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84E116-9157-45F3-BC5A-6127CCF5874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pt-P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E5BAB-BAC5-4388-B0A8-32571464D41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FC071E5-80D0-4062-BE11-3CFB412EE66C}" type="slidenum">
              <a:t>2</a:t>
            </a:fld>
            <a:endParaRPr lang="pt-PT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780C77-7E68-4766-837B-CE5E48E8B7F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7DC576-5832-4FFA-B858-B76CCB12BC0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C85D9-C203-4ACC-A022-9D9749D21DA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4CEDC689-3EBB-4BFD-A8C8-BB911B0D4252}" type="slidenum">
              <a:t>3</a:t>
            </a:fld>
            <a:endParaRPr lang="pt-PT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E3F95-82FA-410C-BA4A-F6FE9660FD5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91A62-AB8F-4952-8945-C74FAAE8466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025B2-FCD7-4EF2-BE3D-57B03F8977F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A48EF9B-76CD-4070-ABDD-41A99B75F764}" type="slidenum">
              <a:t>4</a:t>
            </a:fld>
            <a:endParaRPr lang="pt-PT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75622-659B-4BE5-9EA6-1CB3BD23EAF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2CB44-DE08-4F85-8263-E255FB0282B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88181-8526-4D1D-8A98-D2D35C17DE4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3DC29A5F-07AF-4054-BD20-6AE038F50DD3}" type="slidenum">
              <a:t>5</a:t>
            </a:fld>
            <a:endParaRPr lang="pt-PT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4AC68B-1A63-4E11-8346-39EF795990B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A52FE9-86D0-44C5-91AA-636712FFFD4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3D6E0-50CD-4B50-9CF0-258594EE169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4EEE975-D99A-4610-A3A8-68BCC0D6E66C}" type="slidenum">
              <a:t>6</a:t>
            </a:fld>
            <a:endParaRPr lang="pt-PT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35499A-6C8C-4671-BAD6-E6745C1B0C0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6CF41-30B4-4B8E-A7C4-058D87AD5BA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0334B-CB17-46AD-882A-22D27EBE6E6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79A01B0-1C24-4F91-BB15-78E8E6309BAC}" type="slidenum">
              <a:t>7</a:t>
            </a:fld>
            <a:endParaRPr lang="pt-PT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B3B0C6-DE8C-4AA8-A199-2FFC6BC1B8B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E2214-45B1-4043-BA0D-52E1889F8B4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CF9F0-F920-454C-BC85-6BB498CDE4A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F290E10-7908-411C-A37E-91A87A45D718}" type="slidenum">
              <a:t>8</a:t>
            </a:fld>
            <a:endParaRPr lang="pt-PT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0AD26-3E9C-4101-9568-DC03CF921D2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776020-4432-4103-8E53-54CCD0D9AAE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D7B91-BE22-44DA-BABF-1538062A9E7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2636839-8AB6-429D-B01F-AB8C3E34E104}" type="slidenum">
              <a:t>9</a:t>
            </a:fld>
            <a:endParaRPr lang="pt-PT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594BD-8909-4FCE-BE9B-72B0060E75F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124B45-7520-407C-B5F3-CF9562B7742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341C9-E590-4420-91DA-7F7C0C81ACF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7C56733-23D8-4FC8-89D4-D8514A3A2882}" type="slidenum">
              <a:t>10</a:t>
            </a:fld>
            <a:endParaRPr lang="pt-PT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2C9790-1223-4ACE-B99D-155F4DA0BDE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1D89F-9475-4CFC-AFA5-DA6009EBEA2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B2A44-2F74-4058-A502-12BBC8EC0A9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AE6C309-7510-4BEA-BCC6-41C38D96AE37}" type="slidenum">
              <a:t>11</a:t>
            </a:fld>
            <a:endParaRPr lang="pt-PT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A280F-21C6-42AD-88AD-BCEF1CF89F0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8B30C0-9AFA-44D2-AB9F-2000F5FB518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393BF-4B65-40AC-A9BB-BC102337432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41171B4B-B13C-4F55-B006-75B2D828E3C7}" type="slidenum">
              <a:t>12</a:t>
            </a:fld>
            <a:endParaRPr lang="pt-PT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913E0-2F18-43F4-899E-CE9D22BD05B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31787A-3BC6-453B-AF0E-4FA4B5A5ECF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DFE7A-DD31-406C-9BD7-2727ACC5D87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F39168E-3756-4328-AF82-9D612D957473}" type="slidenum">
              <a:t>13</a:t>
            </a:fld>
            <a:endParaRPr lang="pt-PT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B818D-5F34-41EC-A5ED-6A4E96C1398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696A1B-CFDE-4429-8D51-1FA3A394A07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9F4AF-A6E5-4A5A-8C4B-1C13F06B02A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AA9FC05-BE31-4C68-8943-B475B13600D8}" type="slidenum">
              <a:t>14</a:t>
            </a:fld>
            <a:endParaRPr lang="pt-PT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EA57C-FCEC-49D2-9EA0-08103A7CAB5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CF7E85-010B-476A-8CDA-F63742FF3BD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D0BB-1B22-46B2-8A22-74D9BA023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F4431D-C118-493B-A9E0-FB290BB2F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C88FA-A85B-42FE-AF42-D074CBD67C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6B3AA-21DE-4B23-85FE-37DBB4901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47EF7-9F5F-4426-97E6-61A5B503E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2CB0F103-31F5-4029-B1AB-E0559C327682}" type="slidenum"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65916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C21BE-670D-489F-8AAE-ED8F15521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66718-51E3-48B2-B89A-25F149137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24527-AB9B-4B9D-BDCA-33877C584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B7E3A-5DD0-4CAB-AB44-E8A3A13F0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CC9D3-B05D-4777-99FD-3B33807F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84FBFBA6-8F10-4396-B038-192E2D81A791}" type="slidenum"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53423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D0355-C15F-4CF1-A89C-527BCCE68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A0A42-7E5D-4385-A126-4AB381192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20DDE-B94E-49E7-A177-EFA1F5E7EE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4B1F3-E39B-4BEE-9873-A363F5BC1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6887E-C20A-4D04-B0D5-2CF4B50F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ECCE540B-1E1C-4E74-A28E-2D51665E74E1}" type="slidenum"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23709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1F3B-9422-4790-8BDC-B03B42B92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5BA08-17A3-469C-BA5A-650BC6284E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E78B9-70A5-4071-A1E8-62690A732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0B308-1CC5-40CC-97C5-2E2E4B2B83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50447-4F5A-435B-907A-21B2E2522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A3037-83D6-479A-AC65-DEC3369F4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63710919-D05A-49B8-80C9-B737E9FFA7C4}" type="slidenum"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24335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707F3-2160-4585-A548-11FF2BDC2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EA9F8-8564-4FA2-B559-3F28D562A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7E7CBD-767F-4B2A-A2F3-DC712ECFB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39477-D537-4CD7-85A0-1F5DCCF7F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64EE18-9598-41D5-904A-32EEF1E89B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AF1D29-EA70-4FA9-A450-1DBFE96111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CA40A2-FB0C-4F01-9F8A-19ED477BD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1A1135-2B15-4CA6-9946-FFAF563EF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583AB5F2-212B-4EDE-A954-E35D9F910AE8}" type="slidenum"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99347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C06A0-5695-4413-B0F3-42E8AE164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10DF81-966C-49E0-BD04-085634048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962699-A96C-473D-8599-48B7B75CA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0F20C-BD53-4F36-8BD1-54FE94C2D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D1573F41-663E-4328-875F-8001B01F8A17}" type="slidenum"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13261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0501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54442-2564-4901-B30C-9BFEDE169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03E53-EFE6-4A47-B05D-ED1B75EAD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8E4DD-8C13-4FFD-84D9-EAC579E41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52630-6F51-4C58-BA73-F5A9743D66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8CEF7-D2DA-4AFB-92A2-928078CF7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8BFCA-1F05-4945-A5E8-CFD2A6119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56AA28E5-B80F-4845-8B24-8748FD9638BF}" type="slidenum"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82354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43112-5A38-42D0-B12A-4055CEBB5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41DA72-126D-4874-877F-28B0DCE028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B182E-13F6-4536-A538-A33F87039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7D277-C2A0-49F3-882A-D41552BC44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997CC-7016-46B6-AAF5-937F5A390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C7A5E-4B65-4257-97DF-23CE1F68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27E4042D-F8D8-4086-897D-273EBF3A0A7A}" type="slidenum"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61210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1B2C4-2744-4071-A7B7-AE6B4E0E3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9F569C-A104-40CE-AD58-5F5ABA727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B73C7-7228-4FFB-9609-BD87A05D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606F3-16FF-4D50-9A68-362CA9445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9992D-C458-4E1E-98F9-1F04B43E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1D9E799D-8EE0-45CB-B6F7-AE87D64C5350}" type="slidenum"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96820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408C64-6A4D-4AB8-B54B-8506565F72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0E73F2-9F34-4A21-B510-88BF3CBDA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D088D-48CF-4D2C-9CC9-B8C0669936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1BE27-2FD0-404D-AB01-B8FBEE4EB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F7642-12F2-44CC-9B03-96E95125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651BC65A-51FC-48B9-8854-6B985127E0C5}" type="slidenum"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0801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9C95F7-3322-4E95-AC92-3F0BDF7751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EDAA3-6BDB-4A04-97EF-DB55FE9F0D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hangingPunct="0">
        <a:tabLst/>
        <a:defRPr lang="pt-PT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pt-PT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96697-1A82-470D-9A6D-37BAFC1D2B1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593846"/>
            <a:ext cx="9071640" cy="677108"/>
          </a:xfrm>
        </p:spPr>
        <p:txBody>
          <a:bodyPr>
            <a:spAutoFit/>
          </a:bodyPr>
          <a:lstStyle/>
          <a:p>
            <a:pPr lvl="0"/>
            <a:endParaRPr lang="pt-P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6CF17-671D-4B94-A105-169C604A5E1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1160" y="5796000"/>
            <a:ext cx="8870040" cy="534240"/>
          </a:xfrm>
        </p:spPr>
        <p:txBody>
          <a:bodyPr/>
          <a:lstStyle/>
          <a:p>
            <a:pPr lvl="0" algn="ctr"/>
            <a:r>
              <a:rPr lang="pt-PT" dirty="0"/>
              <a:t>Tuples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92E586-7ACA-4DDC-B648-742C8689D18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50039" y="2805480"/>
            <a:ext cx="2876040" cy="2009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E7643-12FE-48B9-B19C-99F15CBB2B1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t-PT" dirty="0"/>
              <a:t>Tuples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F46B9-7991-4E79-900F-7591B824DA5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dirty="0"/>
              <a:t>Its a group of elements with fixed size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A tuple is not mutable (but it can have mutable elements)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Its like a list but you cannot change it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It’s a perfect structure for small and fixed data such as point coordinates (</a:t>
            </a:r>
            <a:r>
              <a:rPr lang="en-US" dirty="0" err="1"/>
              <a:t>x,y,z</a:t>
            </a:r>
            <a:r>
              <a:rPr lang="en-US" dirty="0"/>
              <a:t>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Very useful for functions which return multiple values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B7476-BA0D-4572-939A-A1C35BCC8ED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t-PT" dirty="0"/>
              <a:t>Tuples vs Lists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0422A-4567-478C-9B08-91B53A68D01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pt-PT" dirty="0"/>
              <a:t>Both are iterable</a:t>
            </a:r>
          </a:p>
          <a:p>
            <a:pPr lvl="0">
              <a:buSzPct val="45000"/>
              <a:buFont typeface="StarSymbol"/>
              <a:buChar char="●"/>
            </a:pPr>
            <a:r>
              <a:rPr lang="pt-PT" dirty="0"/>
              <a:t>Iteration over tuples is faster</a:t>
            </a:r>
          </a:p>
          <a:p>
            <a:pPr lvl="0">
              <a:buSzPct val="45000"/>
              <a:buFont typeface="StarSymbol"/>
              <a:buChar char="●"/>
            </a:pPr>
            <a:r>
              <a:rPr lang="pt-PT" dirty="0"/>
              <a:t>You can NOT do append or remove from tuples</a:t>
            </a:r>
            <a:endParaRPr lang="pt-PT" dirty="0">
              <a:latin typeface="Courier 10 Pitch" pitchFamily="17"/>
            </a:endParaRPr>
          </a:p>
          <a:p>
            <a:pPr lvl="0">
              <a:buSzPct val="45000"/>
              <a:buFont typeface="StarSymbol"/>
              <a:buChar char="●"/>
            </a:pPr>
            <a:r>
              <a:rPr lang="pt-PT" dirty="0"/>
              <a:t>Both allow searching (</a:t>
            </a:r>
            <a:r>
              <a:rPr lang="pt-PT" u="sng" dirty="0">
                <a:latin typeface="Courier 10 Pitch" pitchFamily="17"/>
              </a:rPr>
              <a:t>index</a:t>
            </a:r>
            <a:r>
              <a:rPr lang="pt-PT" dirty="0"/>
              <a:t>)</a:t>
            </a:r>
          </a:p>
          <a:p>
            <a:pPr lvl="0">
              <a:buSzPct val="45000"/>
              <a:buFont typeface="StarSymbol"/>
              <a:buChar char="●"/>
            </a:pPr>
            <a:r>
              <a:rPr lang="pt-PT" dirty="0"/>
              <a:t>Both allow  counting (</a:t>
            </a:r>
            <a:r>
              <a:rPr lang="pt-PT" dirty="0">
                <a:latin typeface="Courier 10 Pitch" pitchFamily="17"/>
              </a:rPr>
              <a:t>count</a:t>
            </a:r>
            <a:r>
              <a:rPr lang="pt-PT" dirty="0"/>
              <a:t>)</a:t>
            </a:r>
          </a:p>
          <a:p>
            <a:pPr lvl="0">
              <a:buSzPct val="45000"/>
              <a:buFont typeface="StarSymbol"/>
              <a:buChar char="●"/>
            </a:pPr>
            <a:r>
              <a:rPr lang="pt-PT" dirty="0"/>
              <a:t>Both accept the operator </a:t>
            </a:r>
            <a:r>
              <a:rPr lang="pt-PT" dirty="0">
                <a:latin typeface="Courier 10 Pitch" pitchFamily="17"/>
              </a:rPr>
              <a:t>in</a:t>
            </a:r>
          </a:p>
          <a:p>
            <a:pPr lvl="0">
              <a:buSzPct val="45000"/>
              <a:buFont typeface="StarSymbol"/>
              <a:buChar char="●"/>
            </a:pPr>
            <a:r>
              <a:rPr lang="pt-PT" dirty="0"/>
              <a:t>Both allow the </a:t>
            </a:r>
            <a:r>
              <a:rPr lang="pt-PT" i="1" dirty="0"/>
              <a:t>slicing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B34D7-97B0-42DF-A81B-FB60261F46B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t-PT" dirty="0"/>
              <a:t>Syntax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7A0F0-296A-44B5-B13A-730946B4528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dirty="0"/>
              <a:t>It is like list but instead of straight brackets you use curved brackets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Example: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US" sz="32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tuplo</a:t>
            </a:r>
            <a:r>
              <a:rPr lang="en-US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= (‘hi', ‘ok', 50)</a:t>
            </a:r>
            <a:br>
              <a:rPr lang="en-US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US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type(</a:t>
            </a:r>
            <a:r>
              <a:rPr lang="en-US" sz="32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tuplo</a:t>
            </a:r>
            <a:r>
              <a:rPr lang="en-US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)</a:t>
            </a:r>
            <a:br>
              <a:rPr lang="en-US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US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&lt;class 'tuple'&gt;</a:t>
            </a:r>
            <a:br>
              <a:rPr lang="en-US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US" sz="32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dir</a:t>
            </a:r>
            <a:r>
              <a:rPr lang="en-US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(tuple)</a:t>
            </a:r>
            <a:br>
              <a:rPr lang="en-US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US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['count', 'index']</a:t>
            </a:r>
            <a:b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endParaRPr lang="pt-PT" sz="3200" dirty="0">
              <a:highlight>
                <a:scrgbClr r="0" g="0" b="0">
                  <a:alpha val="0"/>
                </a:scrgbClr>
              </a:highlight>
              <a:latin typeface="Courier 10 Pitch" pitchFamily="1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E9981-7B9D-4AB1-8371-A6D567AFE6B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t-PT" dirty="0"/>
              <a:t>Exemples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009BB-1739-4228-AB5D-C585F78B7F7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/>
            <a:r>
              <a:rPr lang="pt-PT" dirty="0">
                <a:latin typeface="Courier 10 Pitch" pitchFamily="17"/>
              </a:rPr>
              <a:t>tuplo = (‘hi', ‘ok', 50)</a:t>
            </a:r>
            <a:br>
              <a:rPr lang="pt-PT" dirty="0">
                <a:latin typeface="Courier 10 Pitch" pitchFamily="17"/>
              </a:rPr>
            </a:br>
            <a:r>
              <a:rPr lang="pt-PT" dirty="0">
                <a:latin typeface="Courier 10 Pitch" pitchFamily="17"/>
              </a:rPr>
              <a:t>print(t[1]) # → ‘ok'</a:t>
            </a:r>
            <a:br>
              <a:rPr lang="pt-PT" dirty="0">
                <a:latin typeface="Courier 10 Pitch" pitchFamily="17"/>
              </a:rPr>
            </a:br>
            <a:r>
              <a:rPr lang="pt-PT" dirty="0">
                <a:latin typeface="Courier 10 Pitch" pitchFamily="17"/>
              </a:rPr>
              <a:t>t[0] = 'Oi' # ERRO!!! É imutável!!!</a:t>
            </a:r>
            <a:br>
              <a:rPr lang="pt-PT" dirty="0">
                <a:latin typeface="Courier 10 Pitch" pitchFamily="17"/>
              </a:rPr>
            </a:br>
            <a:r>
              <a:rPr lang="pt-PT" dirty="0">
                <a:latin typeface="Courier 10 Pitch" pitchFamily="17"/>
              </a:rPr>
              <a:t>tuplo2 = (1, 2, 0)</a:t>
            </a:r>
            <a:br>
              <a:rPr lang="pt-PT" dirty="0">
                <a:latin typeface="Courier 10 Pitch" pitchFamily="17"/>
              </a:rPr>
            </a:br>
            <a:r>
              <a:rPr lang="pt-PT" dirty="0">
                <a:latin typeface="Courier 10 Pitch" pitchFamily="17"/>
              </a:rPr>
              <a:t>tuplo2.sort() # ERRO!!! É imutável!!!</a:t>
            </a:r>
            <a:br>
              <a:rPr lang="pt-PT" dirty="0">
                <a:latin typeface="Courier 10 Pitch" pitchFamily="17"/>
              </a:rPr>
            </a:br>
            <a:r>
              <a:rPr lang="pt-PT" dirty="0">
                <a:latin typeface="Courier 10 Pitch" pitchFamily="17"/>
              </a:rPr>
              <a:t>lista = sorted(tuplo2) # → [0, 1, 2]</a:t>
            </a:r>
          </a:p>
          <a:p>
            <a:pPr lvl="0">
              <a:buSzPct val="45000"/>
              <a:buFont typeface="StarSymbol"/>
              <a:buChar char="●"/>
            </a:pPr>
            <a:r>
              <a:rPr lang="pt-PT" dirty="0"/>
              <a:t>If we exclude methods that change the vlaues of the lists, then tuples are very similar to lists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E1DC7-CE12-4B4B-8948-B85D72D2A02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t-PT" dirty="0"/>
              <a:t>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D2DF9-B6F8-4300-8CC0-B4F18D3509B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273094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sz="2800" dirty="0"/>
              <a:t>For a tuple of only one element you need a coma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tuplo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= (10, 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800" dirty="0"/>
              <a:t>S is to separate normal brackets and tuple brackets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tuplo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= (10)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800" i="1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vs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. </a:t>
            </a: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tuplo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= (10, 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800" dirty="0"/>
              <a:t>We can </a:t>
            </a:r>
            <a:r>
              <a:rPr lang="en-US" sz="2800" dirty="0" err="1"/>
              <a:t>assigne</a:t>
            </a:r>
            <a:r>
              <a:rPr lang="en-US" sz="2800" dirty="0"/>
              <a:t> the values of a tuple to a tuple of variables but the tuples should be of the same size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800" dirty="0" err="1"/>
              <a:t>Exemplo</a:t>
            </a:r>
            <a:r>
              <a:rPr lang="en-US" sz="2800" dirty="0"/>
              <a:t>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(x, y, z) = (10, 5, ‘hi')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1B4F8-0AD7-480C-B02A-E50393FF8F9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t-PT" dirty="0"/>
              <a:t>Hints!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3F748-367E-4102-B2C1-19E55B6FBC0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11840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pt-PT" dirty="0"/>
              <a:t>Change the vlaues of variables 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a = 10</a:t>
            </a:r>
            <a:b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b = 20</a:t>
            </a:r>
          </a:p>
          <a:p>
            <a:pPr lvl="0">
              <a:buSzPct val="45000"/>
              <a:buFont typeface="StarSymbol"/>
              <a:buChar char="●"/>
            </a:pPr>
            <a:r>
              <a:rPr lang="pt-PT" dirty="0"/>
              <a:t>Normally we do: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tmp = a</a:t>
            </a:r>
            <a:b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a = b</a:t>
            </a:r>
            <a:b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b = tmp</a:t>
            </a:r>
          </a:p>
          <a:p>
            <a:pPr lvl="0">
              <a:buSzPct val="45000"/>
              <a:buFont typeface="StarSymbol"/>
              <a:buChar char="●"/>
            </a:pPr>
            <a:r>
              <a:rPr lang="pt-PT" dirty="0"/>
              <a:t>With tuples we do: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(a, b) = (b, 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7DA4A-9AB7-47FF-B01E-A54CCB10CD4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t-PT" dirty="0"/>
              <a:t>Multiple assignments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82FDF-B9E2-448B-BD59-1555685DD6C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pt-PT" dirty="0"/>
              <a:t>Right hand side can be anything of the same size of the tuples</a:t>
            </a:r>
          </a:p>
          <a:p>
            <a:pPr lvl="0">
              <a:buSzPct val="45000"/>
              <a:buFont typeface="StarSymbol"/>
              <a:buChar char="●"/>
            </a:pPr>
            <a:r>
              <a:rPr lang="pt-PT" dirty="0"/>
              <a:t>Example: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tel = '+351 289123321'</a:t>
            </a:r>
            <a:b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(indicativo, numero) = tel.split(' ')</a:t>
            </a:r>
            <a:b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print(indicativo)</a:t>
            </a:r>
            <a:b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print(numero)</a:t>
            </a:r>
          </a:p>
          <a:p>
            <a:pPr lvl="0">
              <a:buSzPct val="45000"/>
              <a:buFont typeface="StarSymbol"/>
              <a:buChar char="●"/>
            </a:pPr>
            <a:r>
              <a:rPr lang="pt-PT" dirty="0"/>
              <a:t>You cannot have more vlaues than the variables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B6DCD-E6BF-4E88-9C02-3A7A8BD845B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-51059"/>
            <a:ext cx="9071640" cy="1262160"/>
          </a:xfrm>
        </p:spPr>
        <p:txBody>
          <a:bodyPr/>
          <a:lstStyle/>
          <a:p>
            <a:pPr lvl="0"/>
            <a:r>
              <a:rPr lang="pt-PT" dirty="0"/>
              <a:t>Multiple returning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30377-9249-4A8E-9A37-DAE475616B5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083085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sz="2800" dirty="0"/>
              <a:t>recall: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a = 5</a:t>
            </a:r>
            <a:b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b = 2</a:t>
            </a:r>
            <a:b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quot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= a//b # → 2</a:t>
            </a:r>
            <a:b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remain = </a:t>
            </a: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a%b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# → 1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800" dirty="0"/>
              <a:t>In one go: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result = </a:t>
            </a: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divmod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(a, b)</a:t>
            </a:r>
            <a:b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print(result) # → (2, 1)</a:t>
            </a:r>
            <a:b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quot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= result[0]</a:t>
            </a:r>
            <a:b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remain = result[1]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800" dirty="0"/>
              <a:t>Or faster: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</a:t>
            </a: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quot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, remain) = </a:t>
            </a: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divmod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(a, b)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03B16-9282-43C2-B6EE-4015CADD5A1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t-PT" dirty="0"/>
              <a:t>Arguments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527F9-84A8-49EE-A6C7-1A8E59F5EB2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dirty="0"/>
              <a:t>The functions can have an undetermined number of arguments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 err="1"/>
              <a:t>Syntaxe</a:t>
            </a:r>
            <a:r>
              <a:rPr lang="en-US" dirty="0"/>
              <a:t>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US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def </a:t>
            </a:r>
            <a:r>
              <a:rPr lang="en-US" sz="32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funcao</a:t>
            </a:r>
            <a:r>
              <a:rPr lang="en-US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(*</a:t>
            </a:r>
            <a:r>
              <a:rPr lang="en-US" sz="32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argumentos</a:t>
            </a:r>
            <a:r>
              <a:rPr lang="en-US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):</a:t>
            </a:r>
            <a:br>
              <a:rPr lang="en-US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US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	print(</a:t>
            </a:r>
            <a:r>
              <a:rPr lang="en-US" sz="32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argumentos</a:t>
            </a:r>
            <a:r>
              <a:rPr lang="en-US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dirty="0"/>
              <a:t>Using it: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US" sz="32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funct</a:t>
            </a:r>
            <a:r>
              <a:rPr lang="en-US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(1, 4, ‘hi')</a:t>
            </a:r>
            <a:br>
              <a:rPr lang="en-US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US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(1, 4, ‘hi')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7160-4EFC-4869-87FA-E7D4EAD7139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-210124"/>
            <a:ext cx="9071640" cy="1262160"/>
          </a:xfrm>
        </p:spPr>
        <p:txBody>
          <a:bodyPr/>
          <a:lstStyle/>
          <a:p>
            <a:pPr lvl="0"/>
            <a:r>
              <a:rPr lang="pt-PT" dirty="0"/>
              <a:t>Undetermined arguments(…)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72F98-11EC-4BBF-9757-B0FA7D2605C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777149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sz="2800" dirty="0"/>
              <a:t>The function gets it’s arguments as tuples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800" dirty="0"/>
              <a:t>We can then have compulsory arguments and optional ones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US" sz="2800" dirty="0"/>
              <a:t>Example: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def </a:t>
            </a: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funcao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(arg1, *</a:t>
            </a: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otherArgs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):</a:t>
            </a:r>
            <a:b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	print(arg1)</a:t>
            </a:r>
            <a:b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	print(</a:t>
            </a: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otherArgs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)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Here the arg1 is compulsory, that means the function should have at least one argument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But it can be used with more arguments</a:t>
            </a:r>
          </a:p>
          <a:p>
            <a:pPr lvl="2" hangingPunct="0">
              <a:spcBef>
                <a:spcPts val="1417"/>
              </a:spcBef>
              <a:buNone/>
            </a:pP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funcao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(‘hi')</a:t>
            </a:r>
            <a:b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funcao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(‘hi', 1, 2, 3, 4, 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48EEB-28CF-4DE9-80A5-3FF1187DE45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-163629"/>
            <a:ext cx="9071640" cy="1262160"/>
          </a:xfrm>
        </p:spPr>
        <p:txBody>
          <a:bodyPr/>
          <a:lstStyle/>
          <a:p>
            <a:pPr lvl="0"/>
            <a:r>
              <a:rPr lang="pt-PT" dirty="0"/>
              <a:t>And  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060F8-B564-489A-A180-D5E03C7FAFC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275264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pt-PT" dirty="0"/>
              <a:t>We can have default options</a:t>
            </a:r>
          </a:p>
          <a:p>
            <a:pPr lvl="0">
              <a:buSzPct val="45000"/>
              <a:buFont typeface="StarSymbol"/>
              <a:buChar char="●"/>
            </a:pPr>
            <a:r>
              <a:rPr lang="pt-PT" dirty="0"/>
              <a:t>Example: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def funcao(name, age = 20):</a:t>
            </a:r>
            <a:b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	print(name  + ‘ is ' + str(age) + ‘ years old')</a:t>
            </a:r>
            <a:b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b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funcao('Joana') # → 'Joana is 20 years old'</a:t>
            </a:r>
            <a:b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pt-PT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funcao('Joana', 18) # → 'Joana is 18 years old'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F8958-530C-4741-BC3A-B8126C661EE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95511" y="-334111"/>
            <a:ext cx="9071640" cy="1262160"/>
          </a:xfrm>
        </p:spPr>
        <p:txBody>
          <a:bodyPr/>
          <a:lstStyle/>
          <a:p>
            <a:pPr lvl="0"/>
            <a:r>
              <a:rPr lang="pt-PT" dirty="0"/>
              <a:t>So....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0A9D0-A78B-4E6C-9271-D3A6D7A88F8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4492" y="575671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pt-PT" sz="2800" dirty="0"/>
              <a:t>We can have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pt-PT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def funcao(compulsory, optional=10, *others):</a:t>
            </a:r>
            <a:br>
              <a:rPr lang="pt-PT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pt-PT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	print(compulsory, optional, others)</a:t>
            </a:r>
          </a:p>
          <a:p>
            <a:pPr lvl="0">
              <a:buSzPct val="45000"/>
              <a:buFont typeface="StarSymbol"/>
              <a:buChar char="●"/>
            </a:pPr>
            <a:r>
              <a:rPr lang="pt-PT" sz="2800" dirty="0"/>
              <a:t>Use: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pt-PT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funcao() # → Erro! Missing 1 argument</a:t>
            </a:r>
            <a:br>
              <a:rPr lang="pt-PT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br>
              <a:rPr lang="pt-PT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pt-PT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funcao</a:t>
            </a:r>
            <a:r>
              <a:rPr lang="pt-PT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(‘’)# →  10, ()</a:t>
            </a:r>
            <a:br>
              <a:rPr lang="pt-PT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br>
              <a:rPr lang="pt-PT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pt-PT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funcao(‘hi', 5, 'a', 'b') # → ‘hi', 5, (a, b)</a:t>
            </a:r>
          </a:p>
          <a:p>
            <a:pPr lvl="0">
              <a:buSzPct val="45000"/>
              <a:buFont typeface="StarSymbol"/>
              <a:buChar char="●"/>
            </a:pPr>
            <a:r>
              <a:rPr lang="pt-PT" dirty="0">
                <a:latin typeface="Courier 10 Pitch" pitchFamily="17"/>
              </a:rPr>
              <a:t>*others </a:t>
            </a:r>
            <a:r>
              <a:rPr lang="pt-PT" b="1" dirty="0">
                <a:latin typeface="Courier 10 Pitch" pitchFamily="17"/>
              </a:rPr>
              <a:t>is always a tuple</a:t>
            </a:r>
            <a:endParaRPr lang="pt-PT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CF70F-F5E1-4ECE-A9C0-BFBEB78C4CB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t-PT" dirty="0"/>
              <a:t>More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C757A-9C70-4EDB-A319-17426EE7963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pt-PT" dirty="0"/>
              <a:t>slicing pf tuples to sub tuples</a:t>
            </a:r>
          </a:p>
          <a:p>
            <a:pPr lvl="0">
              <a:buSzPct val="45000"/>
              <a:buFont typeface="StarSymbol"/>
              <a:buChar char="●"/>
            </a:pPr>
            <a:r>
              <a:rPr lang="pt-PT" dirty="0">
                <a:latin typeface="Courier 10 Pitch" pitchFamily="17"/>
              </a:rPr>
              <a:t>Use of   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2273</TotalTime>
  <Words>796</Words>
  <Application>Microsoft Office PowerPoint</Application>
  <PresentationFormat>Custom</PresentationFormat>
  <Paragraphs>90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Courier 10 Pitch</vt:lpstr>
      <vt:lpstr>Liberation Sans</vt:lpstr>
      <vt:lpstr>Liberation Serif</vt:lpstr>
      <vt:lpstr>StarSymbol</vt:lpstr>
      <vt:lpstr>Default</vt:lpstr>
      <vt:lpstr>PowerPoint Presentation</vt:lpstr>
      <vt:lpstr>Tuples</vt:lpstr>
      <vt:lpstr>Tuples vs Lists</vt:lpstr>
      <vt:lpstr>Syntax</vt:lpstr>
      <vt:lpstr>Exemples</vt:lpstr>
      <vt:lpstr>Details</vt:lpstr>
      <vt:lpstr>Hints!</vt:lpstr>
      <vt:lpstr>Multiple assignments</vt:lpstr>
      <vt:lpstr>Multiple returning</vt:lpstr>
      <vt:lpstr>Arguments </vt:lpstr>
      <vt:lpstr>Undetermined arguments(…)</vt:lpstr>
      <vt:lpstr>And  …</vt:lpstr>
      <vt:lpstr>So....</vt:lpstr>
      <vt:lpstr>More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Estruturas de Dados / Python</dc:title>
  <dc:creator>António Anjos</dc:creator>
  <cp:lastModifiedBy>Hamid Reza Shahbazkia</cp:lastModifiedBy>
  <cp:revision>52</cp:revision>
  <cp:lastPrinted>2016-01-15T19:23:38Z</cp:lastPrinted>
  <dcterms:created xsi:type="dcterms:W3CDTF">2016-01-02T13:09:05Z</dcterms:created>
  <dcterms:modified xsi:type="dcterms:W3CDTF">2025-10-17T07:32:31Z</dcterms:modified>
</cp:coreProperties>
</file>