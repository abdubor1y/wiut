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 showSpecialPlsOnTitleSld="0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958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:go="http://customooxmlschemas.google.com/" r:id="rId23" roundtripDataSignature="AMtx7mgKQMdMsGWcKw+WySnH4UN67yMLX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958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22" Type="http://schemas.openxmlformats.org/officeDocument/2006/relationships/slide" Target="slides/slide17.xml"/><Relationship Id="rId10" Type="http://schemas.openxmlformats.org/officeDocument/2006/relationships/slide" Target="slides/slide5.xml"/><Relationship Id="rId21" Type="http://schemas.openxmlformats.org/officeDocument/2006/relationships/slide" Target="slides/slide16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23" Type="http://customschemas.google.com/relationships/presentationmetadata" Target="meta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2" name="Google Shape;12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9" name="Google Shape;129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8bcd4cdc91_0_4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7" name="Google Shape;137;g38bcd4cdc91_0_4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9b0daf005f_0_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5" name="Google Shape;145;g39b0daf005f_0_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8bcd4cdc91_0_3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4" name="Google Shape;154;g38bcd4cdc91_0_3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68fd60c6bc_0_2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2" name="Google Shape;162;g368fd60c6bc_0_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68fd60c6bc_0_3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0" name="Google Shape;170;g368fd60c6bc_0_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86148f6b07_0_8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8" name="Google Shape;178;g386148f6b07_0_8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9ae4f221f1_0_3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6" name="Google Shape;186;g39ae4f221f1_0_3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9ae4f221f1_0_1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4" name="Google Shape;194;g39ae4f221f1_0_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68bc6584b4_0_2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3" name="Google Shape;203;g368bc6584b4_0_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386148f6b07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1" name="Google Shape;211;g386148f6b07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86148f6b07_0_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9" name="Google Shape;219;g386148f6b07_0_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368fd60c6bc_0_1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7" name="Google Shape;227;g368fd60c6bc_0_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386148f6b07_0_2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5" name="Google Shape;235;g386148f6b07_0_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386148f6b07_0_3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2" name="Google Shape;242;g386148f6b07_0_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9" name="Google Shape;249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Relationship Id="rId3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3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3.png"/><Relationship Id="rId4" Type="http://schemas.openxmlformats.org/officeDocument/2006/relationships/image" Target="../media/image2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3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0.png"/><Relationship Id="rId4" Type="http://schemas.openxmlformats.org/officeDocument/2006/relationships/image" Target="../media/image2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jpg"/><Relationship Id="rId3" Type="http://schemas.openxmlformats.org/officeDocument/2006/relationships/image" Target="../media/image9.png"/><Relationship Id="rId4" Type="http://schemas.openxmlformats.org/officeDocument/2006/relationships/image" Target="../media/image3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Relationship Id="rId3" Type="http://schemas.openxmlformats.org/officeDocument/2006/relationships/image" Target="../media/image2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Relationship Id="rId3" Type="http://schemas.openxmlformats.org/officeDocument/2006/relationships/image" Target="../media/image11.png"/><Relationship Id="rId4" Type="http://schemas.openxmlformats.org/officeDocument/2006/relationships/image" Target="../media/image3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Relationship Id="rId3" Type="http://schemas.openxmlformats.org/officeDocument/2006/relationships/image" Target="../media/image3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Relationship Id="rId3" Type="http://schemas.openxmlformats.org/officeDocument/2006/relationships/image" Target="../media/image11.png"/><Relationship Id="rId4" Type="http://schemas.openxmlformats.org/officeDocument/2006/relationships/image" Target="../media/image2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Relationship Id="rId3" Type="http://schemas.openxmlformats.org/officeDocument/2006/relationships/image" Target="../media/image11.png"/><Relationship Id="rId4" Type="http://schemas.openxmlformats.org/officeDocument/2006/relationships/image" Target="../media/image2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Relationship Id="rId3" Type="http://schemas.openxmlformats.org/officeDocument/2006/relationships/image" Target="../media/image11.png"/><Relationship Id="rId4" Type="http://schemas.openxmlformats.org/officeDocument/2006/relationships/image" Target="../media/image2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1.png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итульный слайд">
  <p:cSld name="Титульный слайд">
    <p:bg>
      <p:bgPr>
        <a:solidFill>
          <a:schemeClr val="lt1"/>
        </a:solidFill>
      </p:bgPr>
    </p:bg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oogle Shape;14;p2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5910309"/>
            <a:ext cx="12192000" cy="947691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Google Shape;15;p20"/>
          <p:cNvSpPr txBox="1"/>
          <p:nvPr>
            <p:ph type="ctrTitle"/>
          </p:nvPr>
        </p:nvSpPr>
        <p:spPr>
          <a:xfrm>
            <a:off x="838200" y="1671545"/>
            <a:ext cx="105156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Font typeface="Arial"/>
              <a:buNone/>
              <a:defRPr b="0" i="0" sz="6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6" name="Google Shape;16;p20"/>
          <p:cNvSpPr txBox="1"/>
          <p:nvPr>
            <p:ph idx="1" type="subTitle"/>
          </p:nvPr>
        </p:nvSpPr>
        <p:spPr>
          <a:xfrm>
            <a:off x="838199" y="4151220"/>
            <a:ext cx="10515599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3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id="17" name="Google Shape;17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94560" y="867420"/>
            <a:ext cx="2402881" cy="1392830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8;p20"/>
          <p:cNvSpPr txBox="1"/>
          <p:nvPr>
            <p:ph idx="2" type="body"/>
          </p:nvPr>
        </p:nvSpPr>
        <p:spPr>
          <a:xfrm>
            <a:off x="838201" y="6341397"/>
            <a:ext cx="3101410" cy="374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9" name="Google Shape;19;p20"/>
          <p:cNvSpPr txBox="1"/>
          <p:nvPr>
            <p:ph idx="12" type="sldNum"/>
          </p:nvPr>
        </p:nvSpPr>
        <p:spPr>
          <a:xfrm>
            <a:off x="9318522" y="6356350"/>
            <a:ext cx="2035278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0" name="Google Shape;20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171382" y="6306797"/>
            <a:ext cx="1849235" cy="3550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и объект">
  <p:cSld name="Заголовок и объект">
    <p:bg>
      <p:bgPr>
        <a:solidFill>
          <a:schemeClr val="lt1"/>
        </a:solidFill>
      </p:bgPr>
    </p:bg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1"/>
          <p:cNvSpPr txBox="1"/>
          <p:nvPr>
            <p:ph idx="1" type="body"/>
          </p:nvPr>
        </p:nvSpPr>
        <p:spPr>
          <a:xfrm>
            <a:off x="838201" y="1714500"/>
            <a:ext cx="5074557" cy="17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55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3" name="Google Shape;23;p21"/>
          <p:cNvSpPr txBox="1"/>
          <p:nvPr>
            <p:ph type="title"/>
          </p:nvPr>
        </p:nvSpPr>
        <p:spPr>
          <a:xfrm>
            <a:off x="838201" y="474531"/>
            <a:ext cx="8578173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4" name="Google Shape;24;p21"/>
          <p:cNvSpPr txBox="1"/>
          <p:nvPr>
            <p:ph idx="2" type="body"/>
          </p:nvPr>
        </p:nvSpPr>
        <p:spPr>
          <a:xfrm>
            <a:off x="6223821" y="1714500"/>
            <a:ext cx="5129978" cy="17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55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id="25" name="Google Shape;25;p2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5910309"/>
            <a:ext cx="12192000" cy="947691"/>
          </a:xfrm>
          <a:prstGeom prst="rect">
            <a:avLst/>
          </a:prstGeom>
          <a:noFill/>
          <a:ln>
            <a:noFill/>
          </a:ln>
        </p:spPr>
      </p:pic>
      <p:sp>
        <p:nvSpPr>
          <p:cNvPr id="26" name="Google Shape;26;p21"/>
          <p:cNvSpPr txBox="1"/>
          <p:nvPr>
            <p:ph idx="3" type="body"/>
          </p:nvPr>
        </p:nvSpPr>
        <p:spPr>
          <a:xfrm>
            <a:off x="838201" y="6341397"/>
            <a:ext cx="3101410" cy="374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67676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7" name="Google Shape;27;p21"/>
          <p:cNvSpPr txBox="1"/>
          <p:nvPr>
            <p:ph idx="12" type="sldNum"/>
          </p:nvPr>
        </p:nvSpPr>
        <p:spPr>
          <a:xfrm>
            <a:off x="9318522" y="6356350"/>
            <a:ext cx="2035278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8" name="Google Shape;28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71380" y="6306797"/>
            <a:ext cx="1849240" cy="3550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Титульный слайд">
  <p:cSld name="4_Титульный слайд">
    <p:bg>
      <p:bgPr>
        <a:solidFill>
          <a:schemeClr val="accent2"/>
        </a:solidFill>
      </p:bgPr>
    </p:bg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Google Shape;30;p2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-1" y="499630"/>
            <a:ext cx="12192000" cy="5576705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22"/>
          <p:cNvSpPr txBox="1"/>
          <p:nvPr>
            <p:ph idx="1" type="body"/>
          </p:nvPr>
        </p:nvSpPr>
        <p:spPr>
          <a:xfrm>
            <a:off x="838201" y="6341397"/>
            <a:ext cx="3101410" cy="374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2" name="Google Shape;32;p22"/>
          <p:cNvSpPr txBox="1"/>
          <p:nvPr>
            <p:ph idx="12" type="sldNum"/>
          </p:nvPr>
        </p:nvSpPr>
        <p:spPr>
          <a:xfrm>
            <a:off x="9318522" y="6356350"/>
            <a:ext cx="2035278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33" name="Google Shape;33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71382" y="6306797"/>
            <a:ext cx="1849235" cy="355038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Google Shape;34;p22"/>
          <p:cNvSpPr txBox="1"/>
          <p:nvPr>
            <p:ph type="ctrTitle"/>
          </p:nvPr>
        </p:nvSpPr>
        <p:spPr>
          <a:xfrm>
            <a:off x="838201" y="2528374"/>
            <a:ext cx="10515599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000"/>
              <a:buFont typeface="Arial"/>
              <a:buNone/>
              <a:defRPr b="0" i="0" sz="6000" u="none" cap="none" strike="noStrik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5" name="Google Shape;35;p22"/>
          <p:cNvSpPr txBox="1"/>
          <p:nvPr>
            <p:ph idx="2" type="subTitle"/>
          </p:nvPr>
        </p:nvSpPr>
        <p:spPr>
          <a:xfrm>
            <a:off x="838201" y="5008049"/>
            <a:ext cx="10515599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Титульный слайд">
  <p:cSld name="1_Титульный слайд">
    <p:bg>
      <p:bgPr>
        <a:solidFill>
          <a:schemeClr val="dk2"/>
        </a:solidFill>
      </p:bgPr>
    </p:bg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Google Shape;37;p2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5910309"/>
            <a:ext cx="12192000" cy="947691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23"/>
          <p:cNvSpPr txBox="1"/>
          <p:nvPr>
            <p:ph type="ctrTitle"/>
          </p:nvPr>
        </p:nvSpPr>
        <p:spPr>
          <a:xfrm>
            <a:off x="838201" y="1682560"/>
            <a:ext cx="10515599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"/>
              <a:buNone/>
              <a:defRPr b="0" i="0" sz="6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9" name="Google Shape;39;p23"/>
          <p:cNvSpPr txBox="1"/>
          <p:nvPr>
            <p:ph idx="1" type="subTitle"/>
          </p:nvPr>
        </p:nvSpPr>
        <p:spPr>
          <a:xfrm>
            <a:off x="838201" y="4162235"/>
            <a:ext cx="10515599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3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id="40" name="Google Shape;40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94560" y="429394"/>
            <a:ext cx="2402881" cy="1953883"/>
          </a:xfrm>
          <a:prstGeom prst="rect">
            <a:avLst/>
          </a:prstGeom>
          <a:noFill/>
          <a:ln>
            <a:noFill/>
          </a:ln>
        </p:spPr>
      </p:pic>
      <p:sp>
        <p:nvSpPr>
          <p:cNvPr id="41" name="Google Shape;41;p23"/>
          <p:cNvSpPr txBox="1"/>
          <p:nvPr>
            <p:ph idx="2" type="body"/>
          </p:nvPr>
        </p:nvSpPr>
        <p:spPr>
          <a:xfrm>
            <a:off x="838201" y="6341397"/>
            <a:ext cx="3101410" cy="374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67676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2" name="Google Shape;42;p23"/>
          <p:cNvSpPr txBox="1"/>
          <p:nvPr>
            <p:ph idx="12" type="sldNum"/>
          </p:nvPr>
        </p:nvSpPr>
        <p:spPr>
          <a:xfrm>
            <a:off x="9318522" y="6356350"/>
            <a:ext cx="2035278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43" name="Google Shape;43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171380" y="6306797"/>
            <a:ext cx="1849240" cy="3550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Титульный слайд">
  <p:cSld name="3_Титульный слайд">
    <p:bg>
      <p:bgPr>
        <a:solidFill>
          <a:schemeClr val="dk2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Google Shape;45;p2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-1" y="499630"/>
            <a:ext cx="12192000" cy="5576705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24"/>
          <p:cNvSpPr txBox="1"/>
          <p:nvPr>
            <p:ph type="ctrTitle"/>
          </p:nvPr>
        </p:nvSpPr>
        <p:spPr>
          <a:xfrm>
            <a:off x="838201" y="2528374"/>
            <a:ext cx="10515599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Arial"/>
              <a:buNone/>
              <a:defRPr b="0" i="0" sz="60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7" name="Google Shape;47;p24"/>
          <p:cNvSpPr txBox="1"/>
          <p:nvPr>
            <p:ph idx="1" type="subTitle"/>
          </p:nvPr>
        </p:nvSpPr>
        <p:spPr>
          <a:xfrm>
            <a:off x="838201" y="5008049"/>
            <a:ext cx="10515599" cy="10682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8" name="Google Shape;48;p24"/>
          <p:cNvSpPr txBox="1"/>
          <p:nvPr>
            <p:ph idx="2" type="body"/>
          </p:nvPr>
        </p:nvSpPr>
        <p:spPr>
          <a:xfrm>
            <a:off x="838201" y="6341397"/>
            <a:ext cx="3101410" cy="374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9" name="Google Shape;49;p24"/>
          <p:cNvSpPr txBox="1"/>
          <p:nvPr>
            <p:ph idx="12" type="sldNum"/>
          </p:nvPr>
        </p:nvSpPr>
        <p:spPr>
          <a:xfrm>
            <a:off x="9318522" y="6356350"/>
            <a:ext cx="2035278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50" name="Google Shape;50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71382" y="6306797"/>
            <a:ext cx="1849235" cy="3550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Титульный слайд">
  <p:cSld name="2_Титульный слайд">
    <p:bg>
      <p:bgPr>
        <a:solidFill>
          <a:schemeClr val="accent2"/>
        </a:solid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" name="Google Shape;52;p2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5910309"/>
            <a:ext cx="12192000" cy="947691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25"/>
          <p:cNvSpPr txBox="1"/>
          <p:nvPr>
            <p:ph type="ctrTitle"/>
          </p:nvPr>
        </p:nvSpPr>
        <p:spPr>
          <a:xfrm>
            <a:off x="838201" y="1319003"/>
            <a:ext cx="10515599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"/>
              <a:buNone/>
              <a:defRPr b="0" i="0" sz="6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4" name="Google Shape;54;p25"/>
          <p:cNvSpPr txBox="1"/>
          <p:nvPr>
            <p:ph idx="1" type="subTitle"/>
          </p:nvPr>
        </p:nvSpPr>
        <p:spPr>
          <a:xfrm>
            <a:off x="838201" y="3798678"/>
            <a:ext cx="10515599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id="55" name="Google Shape;55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94560" y="429394"/>
            <a:ext cx="2402881" cy="1953882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25"/>
          <p:cNvSpPr txBox="1"/>
          <p:nvPr>
            <p:ph idx="2" type="body"/>
          </p:nvPr>
        </p:nvSpPr>
        <p:spPr>
          <a:xfrm>
            <a:off x="838201" y="6341397"/>
            <a:ext cx="3101410" cy="374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67676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7" name="Google Shape;57;p25"/>
          <p:cNvSpPr txBox="1"/>
          <p:nvPr>
            <p:ph idx="12" type="sldNum"/>
          </p:nvPr>
        </p:nvSpPr>
        <p:spPr>
          <a:xfrm>
            <a:off x="9318522" y="6356350"/>
            <a:ext cx="2035278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58" name="Google Shape;58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171380" y="6306797"/>
            <a:ext cx="1849240" cy="3550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Заголовок и объект">
  <p:cSld name="3_Заголовок и объект">
    <p:bg>
      <p:bgPr>
        <a:solidFill>
          <a:schemeClr val="lt1"/>
        </a:solidFill>
      </p:bgPr>
    </p:bg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Google Shape;60;p26"/>
          <p:cNvPicPr preferRelativeResize="0"/>
          <p:nvPr/>
        </p:nvPicPr>
        <p:blipFill rotWithShape="1">
          <a:blip r:embed="rId2">
            <a:alphaModFix/>
          </a:blip>
          <a:srcRect b="0" l="0" r="3231" t="29990"/>
          <a:stretch/>
        </p:blipFill>
        <p:spPr>
          <a:xfrm>
            <a:off x="6806594" y="0"/>
            <a:ext cx="5385406" cy="5844445"/>
          </a:xfrm>
          <a:prstGeom prst="rect">
            <a:avLst/>
          </a:prstGeom>
          <a:noFill/>
          <a:ln>
            <a:noFill/>
          </a:ln>
        </p:spPr>
      </p:pic>
      <p:pic>
        <p:nvPicPr>
          <p:cNvPr id="61" name="Google Shape;61;p26"/>
          <p:cNvPicPr preferRelativeResize="0"/>
          <p:nvPr/>
        </p:nvPicPr>
        <p:blipFill rotWithShape="1">
          <a:blip r:embed="rId3">
            <a:alphaModFix/>
          </a:blip>
          <a:srcRect b="0" l="2885" r="8325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26"/>
          <p:cNvSpPr txBox="1"/>
          <p:nvPr>
            <p:ph idx="1" type="body"/>
          </p:nvPr>
        </p:nvSpPr>
        <p:spPr>
          <a:xfrm>
            <a:off x="838202" y="2056024"/>
            <a:ext cx="5129980" cy="17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55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3" name="Google Shape;63;p26"/>
          <p:cNvSpPr txBox="1"/>
          <p:nvPr>
            <p:ph type="title"/>
          </p:nvPr>
        </p:nvSpPr>
        <p:spPr>
          <a:xfrm>
            <a:off x="838201" y="474531"/>
            <a:ext cx="4857519" cy="8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4" name="Google Shape;64;p26"/>
          <p:cNvSpPr txBox="1"/>
          <p:nvPr>
            <p:ph idx="2" type="body"/>
          </p:nvPr>
        </p:nvSpPr>
        <p:spPr>
          <a:xfrm>
            <a:off x="838201" y="6341397"/>
            <a:ext cx="3101410" cy="374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5" name="Google Shape;65;p26"/>
          <p:cNvSpPr txBox="1"/>
          <p:nvPr>
            <p:ph idx="12" type="sldNum"/>
          </p:nvPr>
        </p:nvSpPr>
        <p:spPr>
          <a:xfrm>
            <a:off x="9318522" y="6356350"/>
            <a:ext cx="2035278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66" name="Google Shape;66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171382" y="6306797"/>
            <a:ext cx="1849235" cy="3550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8_Заголовок и объект">
  <p:cSld name="8_Заголовок и объект">
    <p:bg>
      <p:bgPr>
        <a:solidFill>
          <a:schemeClr val="lt1"/>
        </a:solidFill>
      </p:bgPr>
    </p:bg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27"/>
          <p:cNvSpPr txBox="1"/>
          <p:nvPr>
            <p:ph idx="1" type="body"/>
          </p:nvPr>
        </p:nvSpPr>
        <p:spPr>
          <a:xfrm>
            <a:off x="838201" y="2056020"/>
            <a:ext cx="5129981" cy="17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55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9" name="Google Shape;69;p27"/>
          <p:cNvSpPr txBox="1"/>
          <p:nvPr>
            <p:ph type="title"/>
          </p:nvPr>
        </p:nvSpPr>
        <p:spPr>
          <a:xfrm>
            <a:off x="838201" y="474531"/>
            <a:ext cx="4725317" cy="8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id="70" name="Google Shape;70;p2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718940" y="700391"/>
            <a:ext cx="1634859" cy="400373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27"/>
          <p:cNvSpPr txBox="1"/>
          <p:nvPr>
            <p:ph idx="2" type="body"/>
          </p:nvPr>
        </p:nvSpPr>
        <p:spPr>
          <a:xfrm>
            <a:off x="838201" y="6341397"/>
            <a:ext cx="3101410" cy="374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67676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2" name="Google Shape;72;p27"/>
          <p:cNvSpPr txBox="1"/>
          <p:nvPr>
            <p:ph idx="12" type="sldNum"/>
          </p:nvPr>
        </p:nvSpPr>
        <p:spPr>
          <a:xfrm>
            <a:off x="9318522" y="6356350"/>
            <a:ext cx="2035278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73" name="Google Shape;73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71380" y="6306797"/>
            <a:ext cx="1849240" cy="3550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Заголовок и объект">
  <p:cSld name="2_Заголовок и объект">
    <p:bg>
      <p:bgPr>
        <a:solidFill>
          <a:schemeClr val="accent5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Google Shape;75;p2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5914401"/>
            <a:ext cx="12192000" cy="231589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28"/>
          <p:cNvSpPr txBox="1"/>
          <p:nvPr>
            <p:ph type="title"/>
          </p:nvPr>
        </p:nvSpPr>
        <p:spPr>
          <a:xfrm>
            <a:off x="838201" y="474531"/>
            <a:ext cx="8558718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id="77" name="Google Shape;77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718940" y="700391"/>
            <a:ext cx="1634859" cy="400373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28"/>
          <p:cNvSpPr txBox="1"/>
          <p:nvPr>
            <p:ph idx="1" type="body"/>
          </p:nvPr>
        </p:nvSpPr>
        <p:spPr>
          <a:xfrm>
            <a:off x="838201" y="6341397"/>
            <a:ext cx="3101410" cy="374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9" name="Google Shape;79;p28"/>
          <p:cNvSpPr txBox="1"/>
          <p:nvPr>
            <p:ph idx="12" type="sldNum"/>
          </p:nvPr>
        </p:nvSpPr>
        <p:spPr>
          <a:xfrm>
            <a:off x="9318522" y="6356350"/>
            <a:ext cx="2035278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80" name="Google Shape;80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171382" y="6306797"/>
            <a:ext cx="1849235" cy="3550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7_Заголовок и объект">
  <p:cSld name="7_Заголовок и объект">
    <p:bg>
      <p:bgPr>
        <a:solidFill>
          <a:schemeClr val="accent6"/>
        </a:solidFill>
      </p:bgPr>
    </p:bg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9"/>
          <p:cNvSpPr txBox="1"/>
          <p:nvPr>
            <p:ph type="title"/>
          </p:nvPr>
        </p:nvSpPr>
        <p:spPr>
          <a:xfrm>
            <a:off x="838201" y="474531"/>
            <a:ext cx="867545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id="83" name="Google Shape;83;p2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718941" y="700391"/>
            <a:ext cx="1634857" cy="400373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29"/>
          <p:cNvSpPr txBox="1"/>
          <p:nvPr>
            <p:ph idx="1" type="body"/>
          </p:nvPr>
        </p:nvSpPr>
        <p:spPr>
          <a:xfrm>
            <a:off x="838201" y="6341397"/>
            <a:ext cx="3101410" cy="374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5" name="Google Shape;85;p29"/>
          <p:cNvSpPr txBox="1"/>
          <p:nvPr>
            <p:ph idx="12" type="sldNum"/>
          </p:nvPr>
        </p:nvSpPr>
        <p:spPr>
          <a:xfrm>
            <a:off x="9318522" y="6356350"/>
            <a:ext cx="2035278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86" name="Google Shape;86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71382" y="6306797"/>
            <a:ext cx="1849235" cy="3550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_Заголовок и объект">
  <p:cSld name="6_Заголовок и объект">
    <p:bg>
      <p:bgPr>
        <a:solidFill>
          <a:schemeClr val="lt1"/>
        </a:soli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30"/>
          <p:cNvSpPr txBox="1"/>
          <p:nvPr>
            <p:ph type="title"/>
          </p:nvPr>
        </p:nvSpPr>
        <p:spPr>
          <a:xfrm>
            <a:off x="838201" y="474531"/>
            <a:ext cx="8646267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id="89" name="Google Shape;89;p3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5913186"/>
            <a:ext cx="12192000" cy="231590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90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718940" y="700391"/>
            <a:ext cx="1634859" cy="400373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30"/>
          <p:cNvSpPr txBox="1"/>
          <p:nvPr>
            <p:ph idx="1" type="body"/>
          </p:nvPr>
        </p:nvSpPr>
        <p:spPr>
          <a:xfrm>
            <a:off x="838201" y="6341397"/>
            <a:ext cx="3101410" cy="374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67676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2" name="Google Shape;92;p30"/>
          <p:cNvSpPr txBox="1"/>
          <p:nvPr>
            <p:ph idx="12" type="sldNum"/>
          </p:nvPr>
        </p:nvSpPr>
        <p:spPr>
          <a:xfrm>
            <a:off x="9318522" y="6356350"/>
            <a:ext cx="2035278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93" name="Google Shape;93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171380" y="6306797"/>
            <a:ext cx="1849240" cy="3550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_Заголовок и объект">
  <p:cSld name="5_Заголовок и объект">
    <p:bg>
      <p:bgPr>
        <a:solidFill>
          <a:srgbClr val="ECEEEE"/>
        </a:solid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3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5914401"/>
            <a:ext cx="12192000" cy="231589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31"/>
          <p:cNvSpPr txBox="1"/>
          <p:nvPr>
            <p:ph type="title"/>
          </p:nvPr>
        </p:nvSpPr>
        <p:spPr>
          <a:xfrm>
            <a:off x="838201" y="474531"/>
            <a:ext cx="8587901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id="97" name="Google Shape;97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718940" y="700391"/>
            <a:ext cx="1634859" cy="400373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31"/>
          <p:cNvSpPr txBox="1"/>
          <p:nvPr>
            <p:ph idx="1" type="body"/>
          </p:nvPr>
        </p:nvSpPr>
        <p:spPr>
          <a:xfrm>
            <a:off x="838201" y="6341397"/>
            <a:ext cx="3101410" cy="374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67676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9" name="Google Shape;99;p31"/>
          <p:cNvSpPr txBox="1"/>
          <p:nvPr>
            <p:ph idx="12" type="sldNum"/>
          </p:nvPr>
        </p:nvSpPr>
        <p:spPr>
          <a:xfrm>
            <a:off x="9318522" y="6356350"/>
            <a:ext cx="2035278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00" name="Google Shape;100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171380" y="6306797"/>
            <a:ext cx="1849240" cy="3550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Заголовок и объект">
  <p:cSld name="4_Заголовок и объект">
    <p:bg>
      <p:bgPr>
        <a:solidFill>
          <a:srgbClr val="ECEEEE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Google Shape;102;p3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5914401"/>
            <a:ext cx="12192000" cy="231589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32"/>
          <p:cNvSpPr txBox="1"/>
          <p:nvPr>
            <p:ph idx="1" type="body"/>
          </p:nvPr>
        </p:nvSpPr>
        <p:spPr>
          <a:xfrm>
            <a:off x="893624" y="1714500"/>
            <a:ext cx="5074557" cy="17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55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4" name="Google Shape;104;p32"/>
          <p:cNvSpPr txBox="1"/>
          <p:nvPr>
            <p:ph type="title"/>
          </p:nvPr>
        </p:nvSpPr>
        <p:spPr>
          <a:xfrm>
            <a:off x="893699" y="474531"/>
            <a:ext cx="8561586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5" name="Google Shape;105;p32"/>
          <p:cNvSpPr txBox="1"/>
          <p:nvPr>
            <p:ph idx="2" type="body"/>
          </p:nvPr>
        </p:nvSpPr>
        <p:spPr>
          <a:xfrm>
            <a:off x="6223821" y="1714500"/>
            <a:ext cx="5129978" cy="17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55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id="106" name="Google Shape;106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718940" y="700391"/>
            <a:ext cx="1634859" cy="400373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32"/>
          <p:cNvSpPr txBox="1"/>
          <p:nvPr>
            <p:ph idx="3" type="body"/>
          </p:nvPr>
        </p:nvSpPr>
        <p:spPr>
          <a:xfrm>
            <a:off x="838201" y="6341397"/>
            <a:ext cx="3101410" cy="374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67676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8" name="Google Shape;108;p32"/>
          <p:cNvSpPr txBox="1"/>
          <p:nvPr>
            <p:ph idx="12" type="sldNum"/>
          </p:nvPr>
        </p:nvSpPr>
        <p:spPr>
          <a:xfrm>
            <a:off x="9318522" y="6356350"/>
            <a:ext cx="2035278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09" name="Google Shape;109;p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171380" y="6306797"/>
            <a:ext cx="1849240" cy="3550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Заголовок и объект">
  <p:cSld name="1_Заголовок и объект">
    <p:bg>
      <p:bgPr>
        <a:solidFill>
          <a:schemeClr val="lt1"/>
        </a:solidFill>
      </p:bgPr>
    </p:bg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33"/>
          <p:cNvSpPr txBox="1"/>
          <p:nvPr>
            <p:ph type="title"/>
          </p:nvPr>
        </p:nvSpPr>
        <p:spPr>
          <a:xfrm>
            <a:off x="838201" y="474531"/>
            <a:ext cx="854899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id="112" name="Google Shape;112;p3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5910309"/>
            <a:ext cx="12192000" cy="947691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33"/>
          <p:cNvSpPr txBox="1"/>
          <p:nvPr>
            <p:ph idx="1" type="body"/>
          </p:nvPr>
        </p:nvSpPr>
        <p:spPr>
          <a:xfrm>
            <a:off x="838201" y="1597742"/>
            <a:ext cx="3291347" cy="138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55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4" name="Google Shape;114;p33"/>
          <p:cNvSpPr txBox="1"/>
          <p:nvPr>
            <p:ph idx="2" type="body"/>
          </p:nvPr>
        </p:nvSpPr>
        <p:spPr>
          <a:xfrm>
            <a:off x="4450326" y="1597742"/>
            <a:ext cx="3291347" cy="138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55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5" name="Google Shape;115;p33"/>
          <p:cNvSpPr txBox="1"/>
          <p:nvPr>
            <p:ph idx="3" type="body"/>
          </p:nvPr>
        </p:nvSpPr>
        <p:spPr>
          <a:xfrm>
            <a:off x="8062452" y="1597742"/>
            <a:ext cx="3291347" cy="138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55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id="116" name="Google Shape;116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718940" y="700391"/>
            <a:ext cx="1634859" cy="400373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33"/>
          <p:cNvSpPr txBox="1"/>
          <p:nvPr>
            <p:ph idx="4" type="body"/>
          </p:nvPr>
        </p:nvSpPr>
        <p:spPr>
          <a:xfrm>
            <a:off x="838201" y="6341397"/>
            <a:ext cx="3101410" cy="374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67676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8" name="Google Shape;118;p33"/>
          <p:cNvSpPr txBox="1"/>
          <p:nvPr>
            <p:ph idx="12" type="sldNum"/>
          </p:nvPr>
        </p:nvSpPr>
        <p:spPr>
          <a:xfrm>
            <a:off x="9318522" y="6356350"/>
            <a:ext cx="2035278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19" name="Google Shape;119;p3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171380" y="6306797"/>
            <a:ext cx="1849240" cy="3550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theme" Target="../theme/theme1.xml"/><Relationship Id="rId14" Type="http://schemas.openxmlformats.org/officeDocument/2006/relationships/slideLayout" Target="../slideLayouts/slideLayout1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"/>
          <p:cNvSpPr txBox="1"/>
          <p:nvPr>
            <p:ph type="ctrTitle"/>
          </p:nvPr>
        </p:nvSpPr>
        <p:spPr>
          <a:xfrm>
            <a:off x="838200" y="1935497"/>
            <a:ext cx="105156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Arial"/>
              <a:buNone/>
            </a:pPr>
            <a:r>
              <a:rPr lang="en-US" sz="3200"/>
              <a:t>Fundamentals of programming:</a:t>
            </a:r>
            <a:br>
              <a:rPr lang="en-US" sz="3200"/>
            </a:br>
            <a:br>
              <a:rPr lang="en-US" sz="3200"/>
            </a:br>
            <a:r>
              <a:rPr lang="en-US" sz="3200"/>
              <a:t>Seminar 6</a:t>
            </a:r>
            <a:br>
              <a:rPr lang="en-US" sz="3200"/>
            </a:br>
            <a:endParaRPr sz="3200"/>
          </a:p>
        </p:txBody>
      </p:sp>
      <p:sp>
        <p:nvSpPr>
          <p:cNvPr id="125" name="Google Shape;125;p1"/>
          <p:cNvSpPr txBox="1"/>
          <p:nvPr>
            <p:ph idx="2" type="body"/>
          </p:nvPr>
        </p:nvSpPr>
        <p:spPr>
          <a:xfrm>
            <a:off x="838201" y="6341397"/>
            <a:ext cx="3101410" cy="374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</a:pPr>
            <a:r>
              <a:rPr lang="en-US"/>
              <a:t>Computing Department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</a:pPr>
            <a:r>
              <a:t/>
            </a:r>
            <a:endParaRPr/>
          </a:p>
        </p:txBody>
      </p:sp>
      <p:sp>
        <p:nvSpPr>
          <p:cNvPr id="126" name="Google Shape;126;p1"/>
          <p:cNvSpPr txBox="1"/>
          <p:nvPr/>
        </p:nvSpPr>
        <p:spPr>
          <a:xfrm>
            <a:off x="94002" y="5265189"/>
            <a:ext cx="4394108" cy="3139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Diyora Sayfutdinova – dsayfutdinova@wiut.uz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"/>
          <p:cNvSpPr txBox="1"/>
          <p:nvPr>
            <p:ph idx="1" type="body"/>
          </p:nvPr>
        </p:nvSpPr>
        <p:spPr>
          <a:xfrm>
            <a:off x="838200" y="667125"/>
            <a:ext cx="10360800" cy="511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</a:pPr>
            <a:r>
              <a:rPr lang="en-US" sz="1250"/>
              <a:t>  </a:t>
            </a: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How can we repeat instructions with little effort?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</a:pPr>
            <a:r>
              <a:rPr lang="en-US" sz="1250"/>
              <a:t> </a:t>
            </a: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What is a loop?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000"/>
              <a:buChar char="•"/>
            </a:pPr>
            <a:r>
              <a:rPr lang="en-US" sz="1250"/>
              <a:t> </a:t>
            </a: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What are the differences between For and While loops?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000"/>
              <a:buChar char="•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How can a range of integers be created?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000"/>
              <a:buChar char="•"/>
            </a:pPr>
            <a:r>
              <a:rPr lang="en-US" sz="1250"/>
              <a:t>  </a:t>
            </a: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How can a list of integers be created?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000"/>
              <a:buChar char="•"/>
            </a:pPr>
            <a:r>
              <a:rPr lang="en-US" sz="1250"/>
              <a:t> </a:t>
            </a: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How can a loop be interrupted?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000"/>
              <a:buChar char="•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 When we use break and continue?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57200" rtl="0" algn="l">
              <a:lnSpc>
                <a:spcPct val="90000"/>
              </a:lnSpc>
              <a:spcBef>
                <a:spcPts val="1000"/>
              </a:spcBef>
              <a:spcAft>
                <a:spcPts val="60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2"/>
          <p:cNvSpPr txBox="1"/>
          <p:nvPr>
            <p:ph type="title"/>
          </p:nvPr>
        </p:nvSpPr>
        <p:spPr>
          <a:xfrm>
            <a:off x="838200" y="94677"/>
            <a:ext cx="10036500" cy="540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Calibri"/>
              <a:buNone/>
            </a:pPr>
            <a:r>
              <a:rPr lang="en-US" sz="3200">
                <a:latin typeface="Calibri"/>
                <a:ea typeface="Calibri"/>
                <a:cs typeface="Calibri"/>
                <a:sym typeface="Calibri"/>
              </a:rPr>
              <a:t>Quick Recap</a:t>
            </a:r>
            <a:endParaRPr/>
          </a:p>
        </p:txBody>
      </p:sp>
      <p:sp>
        <p:nvSpPr>
          <p:cNvPr id="133" name="Google Shape;133;p2"/>
          <p:cNvSpPr txBox="1"/>
          <p:nvPr>
            <p:ph idx="3" type="body"/>
          </p:nvPr>
        </p:nvSpPr>
        <p:spPr>
          <a:xfrm>
            <a:off x="838201" y="6341397"/>
            <a:ext cx="3101410" cy="374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None/>
            </a:pPr>
            <a:r>
              <a:rPr lang="en-US"/>
              <a:t>Computing Department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67676"/>
              </a:buClr>
              <a:buSzPts val="1200"/>
              <a:buNone/>
            </a:pPr>
            <a:r>
              <a:t/>
            </a:r>
            <a:endParaRPr/>
          </a:p>
        </p:txBody>
      </p:sp>
      <p:sp>
        <p:nvSpPr>
          <p:cNvPr id="134" name="Google Shape;134;p2"/>
          <p:cNvSpPr txBox="1"/>
          <p:nvPr>
            <p:ph idx="12" type="sldNum"/>
          </p:nvPr>
        </p:nvSpPr>
        <p:spPr>
          <a:xfrm>
            <a:off x="9318522" y="6356350"/>
            <a:ext cx="2035278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8bcd4cdc91_0_44"/>
          <p:cNvSpPr txBox="1"/>
          <p:nvPr>
            <p:ph idx="1" type="body"/>
          </p:nvPr>
        </p:nvSpPr>
        <p:spPr>
          <a:xfrm>
            <a:off x="785725" y="862375"/>
            <a:ext cx="10360800" cy="492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for loop:</a:t>
            </a:r>
            <a:endParaRPr sz="32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Calibri"/>
              <a:buChar char="●"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know the number of iterations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Calibri"/>
              <a:buChar char="●"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uses a counter </a:t>
            </a:r>
            <a:endParaRPr sz="32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while loop:</a:t>
            </a:r>
            <a:endParaRPr sz="32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1000" lvl="0" marL="91440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2400"/>
              <a:buFont typeface="Calibri"/>
              <a:buChar char="•"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unbounded number of iterations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-381000" lvl="0" marL="91440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2400"/>
              <a:buFont typeface="Calibri"/>
              <a:buChar char="•"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can use a counter but must initialize before loop and increment it inside loop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0" lvl="0" marL="91440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1050">
              <a:solidFill>
                <a:srgbClr val="D4D4D4"/>
              </a:solidFill>
              <a:highlight>
                <a:srgbClr val="1E1E1E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50">
              <a:solidFill>
                <a:srgbClr val="D4D4D4"/>
              </a:solidFill>
              <a:highlight>
                <a:srgbClr val="1E1E1E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0" lvl="0" marL="22860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1050">
              <a:solidFill>
                <a:srgbClr val="D4D4D4"/>
              </a:solidFill>
              <a:highlight>
                <a:srgbClr val="1E1E1E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-304800" lvl="0" marL="4572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0" lvl="0" marL="2286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>
              <a:solidFill>
                <a:srgbClr val="FF0000"/>
              </a:solidFill>
            </a:endParaRPr>
          </a:p>
          <a:p>
            <a:pPr indent="-304800" lvl="0" marL="4572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</p:txBody>
      </p:sp>
      <p:sp>
        <p:nvSpPr>
          <p:cNvPr id="140" name="Google Shape;140;g38bcd4cdc91_0_44"/>
          <p:cNvSpPr txBox="1"/>
          <p:nvPr>
            <p:ph type="title"/>
          </p:nvPr>
        </p:nvSpPr>
        <p:spPr>
          <a:xfrm>
            <a:off x="785725" y="157302"/>
            <a:ext cx="100365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200">
                <a:latin typeface="Calibri"/>
                <a:ea typeface="Calibri"/>
                <a:cs typeface="Calibri"/>
                <a:sym typeface="Calibri"/>
              </a:rPr>
              <a:t>For vs While Loops</a:t>
            </a:r>
            <a:endParaRPr sz="3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g38bcd4cdc91_0_44"/>
          <p:cNvSpPr txBox="1"/>
          <p:nvPr>
            <p:ph idx="3" type="body"/>
          </p:nvPr>
        </p:nvSpPr>
        <p:spPr>
          <a:xfrm>
            <a:off x="838201" y="6341397"/>
            <a:ext cx="31014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None/>
            </a:pPr>
            <a:r>
              <a:rPr lang="en-US"/>
              <a:t>Computing Department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67676"/>
              </a:buClr>
              <a:buSzPts val="1200"/>
              <a:buNone/>
            </a:pPr>
            <a:r>
              <a:t/>
            </a:r>
            <a:endParaRPr/>
          </a:p>
        </p:txBody>
      </p:sp>
      <p:sp>
        <p:nvSpPr>
          <p:cNvPr id="142" name="Google Shape;142;g38bcd4cdc91_0_44"/>
          <p:cNvSpPr txBox="1"/>
          <p:nvPr>
            <p:ph idx="12" type="sldNum"/>
          </p:nvPr>
        </p:nvSpPr>
        <p:spPr>
          <a:xfrm>
            <a:off x="9318522" y="6356350"/>
            <a:ext cx="2035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9b0daf005f_0_7"/>
          <p:cNvSpPr txBox="1"/>
          <p:nvPr>
            <p:ph idx="1" type="body"/>
          </p:nvPr>
        </p:nvSpPr>
        <p:spPr>
          <a:xfrm>
            <a:off x="785725" y="862375"/>
            <a:ext cx="10360800" cy="492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0" lvl="0" marL="91440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1050">
              <a:solidFill>
                <a:srgbClr val="D4D4D4"/>
              </a:solidFill>
              <a:highlight>
                <a:srgbClr val="1E1E1E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50">
              <a:solidFill>
                <a:srgbClr val="D4D4D4"/>
              </a:solidFill>
              <a:highlight>
                <a:srgbClr val="1E1E1E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0" lvl="0" marL="22860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1050">
              <a:solidFill>
                <a:srgbClr val="D4D4D4"/>
              </a:solidFill>
              <a:highlight>
                <a:srgbClr val="1E1E1E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-304800" lvl="0" marL="4572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0" lvl="0" marL="2286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>
              <a:solidFill>
                <a:srgbClr val="FF0000"/>
              </a:solidFill>
            </a:endParaRPr>
          </a:p>
          <a:p>
            <a:pPr indent="-304800" lvl="0" marL="4572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</p:txBody>
      </p:sp>
      <p:sp>
        <p:nvSpPr>
          <p:cNvPr id="148" name="Google Shape;148;g39b0daf005f_0_7"/>
          <p:cNvSpPr txBox="1"/>
          <p:nvPr>
            <p:ph type="title"/>
          </p:nvPr>
        </p:nvSpPr>
        <p:spPr>
          <a:xfrm>
            <a:off x="785725" y="157302"/>
            <a:ext cx="100365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200">
                <a:latin typeface="Calibri"/>
                <a:ea typeface="Calibri"/>
                <a:cs typeface="Calibri"/>
                <a:sym typeface="Calibri"/>
              </a:rPr>
              <a:t>For vs While Loops</a:t>
            </a:r>
            <a:endParaRPr sz="3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g39b0daf005f_0_7"/>
          <p:cNvSpPr txBox="1"/>
          <p:nvPr>
            <p:ph idx="3" type="body"/>
          </p:nvPr>
        </p:nvSpPr>
        <p:spPr>
          <a:xfrm>
            <a:off x="838201" y="6341397"/>
            <a:ext cx="31014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None/>
            </a:pPr>
            <a:r>
              <a:rPr lang="en-US"/>
              <a:t>Computing Department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67676"/>
              </a:buClr>
              <a:buSzPts val="1200"/>
              <a:buNone/>
            </a:pPr>
            <a:r>
              <a:t/>
            </a:r>
            <a:endParaRPr/>
          </a:p>
        </p:txBody>
      </p:sp>
      <p:sp>
        <p:nvSpPr>
          <p:cNvPr id="150" name="Google Shape;150;g39b0daf005f_0_7"/>
          <p:cNvSpPr txBox="1"/>
          <p:nvPr>
            <p:ph idx="12" type="sldNum"/>
          </p:nvPr>
        </p:nvSpPr>
        <p:spPr>
          <a:xfrm>
            <a:off x="9318522" y="6356350"/>
            <a:ext cx="2035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51" name="Google Shape;151;g39b0daf005f_0_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67575" y="815775"/>
            <a:ext cx="7922501" cy="49277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8bcd4cdc91_0_37"/>
          <p:cNvSpPr txBox="1"/>
          <p:nvPr>
            <p:ph idx="1" type="body"/>
          </p:nvPr>
        </p:nvSpPr>
        <p:spPr>
          <a:xfrm>
            <a:off x="785725" y="862375"/>
            <a:ext cx="10360800" cy="492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 sz="32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Try it!</a:t>
            </a:r>
            <a:endParaRPr sz="32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32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create a list of int from 1 to 40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-361950" lvl="1" marL="91440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2100"/>
              <a:buFont typeface="Calibri"/>
              <a:buChar char="•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Print the numbers 1–9. 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361950" lvl="1" marL="91440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2100"/>
              <a:buFont typeface="Calibri"/>
              <a:buChar char="•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Print even numbers from 2 to 20  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361950" lvl="1" marL="91440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2100"/>
              <a:buFont typeface="Calibri"/>
              <a:buChar char="•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Print squares of numbers 1–10 in format n² = result.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361950" lvl="1" marL="91440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2100"/>
              <a:buFont typeface="Calibri"/>
              <a:buChar char="•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Count backwards from 10 down to 1.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1050">
              <a:solidFill>
                <a:srgbClr val="D4D4D4"/>
              </a:solidFill>
              <a:highlight>
                <a:srgbClr val="1E1E1E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22860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0" lvl="0" marL="22860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1050">
              <a:solidFill>
                <a:srgbClr val="D4D4D4"/>
              </a:solidFill>
              <a:highlight>
                <a:srgbClr val="1E1E1E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-304800" lvl="0" marL="4572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0" lvl="0" marL="2286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>
              <a:solidFill>
                <a:srgbClr val="FF0000"/>
              </a:solidFill>
            </a:endParaRPr>
          </a:p>
          <a:p>
            <a:pPr indent="-304800" lvl="0" marL="4572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</p:txBody>
      </p:sp>
      <p:sp>
        <p:nvSpPr>
          <p:cNvPr id="157" name="Google Shape;157;g38bcd4cdc91_0_37"/>
          <p:cNvSpPr txBox="1"/>
          <p:nvPr>
            <p:ph type="title"/>
          </p:nvPr>
        </p:nvSpPr>
        <p:spPr>
          <a:xfrm>
            <a:off x="785725" y="157302"/>
            <a:ext cx="100365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Calibri"/>
              <a:buNone/>
            </a:pPr>
            <a:r>
              <a:rPr lang="en-US" sz="3200">
                <a:latin typeface="Calibri"/>
                <a:ea typeface="Calibri"/>
                <a:cs typeface="Calibri"/>
                <a:sym typeface="Calibri"/>
              </a:rPr>
              <a:t>Use For|While Loops</a:t>
            </a:r>
            <a:endParaRPr/>
          </a:p>
        </p:txBody>
      </p:sp>
      <p:sp>
        <p:nvSpPr>
          <p:cNvPr id="158" name="Google Shape;158;g38bcd4cdc91_0_37"/>
          <p:cNvSpPr txBox="1"/>
          <p:nvPr>
            <p:ph idx="3" type="body"/>
          </p:nvPr>
        </p:nvSpPr>
        <p:spPr>
          <a:xfrm>
            <a:off x="838201" y="6341397"/>
            <a:ext cx="31014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None/>
            </a:pPr>
            <a:r>
              <a:rPr lang="en-US"/>
              <a:t>Computing Department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67676"/>
              </a:buClr>
              <a:buSzPts val="1200"/>
              <a:buNone/>
            </a:pPr>
            <a:r>
              <a:t/>
            </a:r>
            <a:endParaRPr/>
          </a:p>
        </p:txBody>
      </p:sp>
      <p:sp>
        <p:nvSpPr>
          <p:cNvPr id="159" name="Google Shape;159;g38bcd4cdc91_0_37"/>
          <p:cNvSpPr txBox="1"/>
          <p:nvPr>
            <p:ph idx="12" type="sldNum"/>
          </p:nvPr>
        </p:nvSpPr>
        <p:spPr>
          <a:xfrm>
            <a:off x="9318522" y="6356350"/>
            <a:ext cx="2035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68fd60c6bc_0_23"/>
          <p:cNvSpPr txBox="1"/>
          <p:nvPr>
            <p:ph idx="1" type="body"/>
          </p:nvPr>
        </p:nvSpPr>
        <p:spPr>
          <a:xfrm>
            <a:off x="785725" y="862375"/>
            <a:ext cx="10360800" cy="492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 sz="32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Try it!</a:t>
            </a:r>
            <a:endParaRPr sz="32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32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10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Calibri"/>
              <a:buChar char="•"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fruits = ["apple", "banana", "cherry"]</a:t>
            </a:r>
            <a:endParaRPr sz="32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1000" lvl="0" marL="91440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Print each fruit and its length.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-381000" lvl="0" marL="91440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Convert all fruit names to uppercase in-place using indices.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-381000" lvl="0" marL="45720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2400"/>
              <a:buFont typeface="Calibri"/>
              <a:buChar char="•"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From "</a:t>
            </a:r>
            <a:r>
              <a:rPr b="1" lang="en-US" sz="2400">
                <a:latin typeface="Calibri"/>
                <a:ea typeface="Calibri"/>
                <a:cs typeface="Calibri"/>
                <a:sym typeface="Calibri"/>
              </a:rPr>
              <a:t>LoopingIsFun</a:t>
            </a: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", print only vowels.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-381000" lvl="0" marL="45720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2400"/>
              <a:buFont typeface="Calibri"/>
              <a:buChar char="•"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Combine lists: prices = [10, 20, 30], items = ["pen","book","bag"] 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-355600" lvl="1" marL="91440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2000"/>
              <a:buFont typeface="Calibri"/>
              <a:buChar char="•"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Print pen → 10 USD etc.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0" lvl="0" marL="91440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1050">
              <a:solidFill>
                <a:srgbClr val="D4D4D4"/>
              </a:solidFill>
              <a:highlight>
                <a:srgbClr val="1E1E1E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22860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0" lvl="0" marL="22860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1050">
              <a:solidFill>
                <a:srgbClr val="D4D4D4"/>
              </a:solidFill>
              <a:highlight>
                <a:srgbClr val="1E1E1E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-304800" lvl="0" marL="4572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0" lvl="0" marL="2286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>
              <a:solidFill>
                <a:srgbClr val="FF0000"/>
              </a:solidFill>
            </a:endParaRPr>
          </a:p>
          <a:p>
            <a:pPr indent="-304800" lvl="0" marL="4572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</p:txBody>
      </p:sp>
      <p:sp>
        <p:nvSpPr>
          <p:cNvPr id="165" name="Google Shape;165;g368fd60c6bc_0_23"/>
          <p:cNvSpPr txBox="1"/>
          <p:nvPr>
            <p:ph type="title"/>
          </p:nvPr>
        </p:nvSpPr>
        <p:spPr>
          <a:xfrm>
            <a:off x="785725" y="157302"/>
            <a:ext cx="100365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Calibri"/>
              <a:buNone/>
            </a:pPr>
            <a:r>
              <a:rPr lang="en-US" sz="3200">
                <a:latin typeface="Calibri"/>
                <a:ea typeface="Calibri"/>
                <a:cs typeface="Calibri"/>
                <a:sym typeface="Calibri"/>
              </a:rPr>
              <a:t>Iterating Over Lists &amp; Strings</a:t>
            </a:r>
            <a:r>
              <a:rPr lang="en-US" sz="3200">
                <a:latin typeface="Calibri"/>
                <a:ea typeface="Calibri"/>
                <a:cs typeface="Calibri"/>
                <a:sym typeface="Calibri"/>
              </a:rPr>
              <a:t>  </a:t>
            </a:r>
            <a:endParaRPr/>
          </a:p>
        </p:txBody>
      </p:sp>
      <p:sp>
        <p:nvSpPr>
          <p:cNvPr id="166" name="Google Shape;166;g368fd60c6bc_0_23"/>
          <p:cNvSpPr txBox="1"/>
          <p:nvPr>
            <p:ph idx="3" type="body"/>
          </p:nvPr>
        </p:nvSpPr>
        <p:spPr>
          <a:xfrm>
            <a:off x="838201" y="6341397"/>
            <a:ext cx="31014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None/>
            </a:pPr>
            <a:r>
              <a:rPr lang="en-US"/>
              <a:t>Computing Department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67676"/>
              </a:buClr>
              <a:buSzPts val="1200"/>
              <a:buNone/>
            </a:pPr>
            <a:r>
              <a:t/>
            </a:r>
            <a:endParaRPr/>
          </a:p>
        </p:txBody>
      </p:sp>
      <p:sp>
        <p:nvSpPr>
          <p:cNvPr id="167" name="Google Shape;167;g368fd60c6bc_0_23"/>
          <p:cNvSpPr txBox="1"/>
          <p:nvPr>
            <p:ph idx="12" type="sldNum"/>
          </p:nvPr>
        </p:nvSpPr>
        <p:spPr>
          <a:xfrm>
            <a:off x="9318522" y="6356350"/>
            <a:ext cx="2035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68fd60c6bc_0_30"/>
          <p:cNvSpPr txBox="1"/>
          <p:nvPr>
            <p:ph idx="1" type="body"/>
          </p:nvPr>
        </p:nvSpPr>
        <p:spPr>
          <a:xfrm>
            <a:off x="785725" y="862375"/>
            <a:ext cx="10360800" cy="492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400">
                <a:latin typeface="Calibri"/>
                <a:ea typeface="Calibri"/>
                <a:cs typeface="Calibri"/>
                <a:sym typeface="Calibri"/>
              </a:rPr>
              <a:t>break </a:t>
            </a: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 → stops the loop early.</a:t>
            </a:r>
            <a:br>
              <a:rPr lang="en-US" sz="2400">
                <a:latin typeface="Calibri"/>
                <a:ea typeface="Calibri"/>
                <a:cs typeface="Calibri"/>
                <a:sym typeface="Calibri"/>
              </a:rPr>
            </a:br>
            <a:endParaRPr sz="1100"/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400">
                <a:latin typeface="Calibri"/>
                <a:ea typeface="Calibri"/>
                <a:cs typeface="Calibri"/>
                <a:sym typeface="Calibri"/>
              </a:rPr>
              <a:t>continue </a:t>
            </a: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→ skips current iteration.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32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 sz="32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Try it!</a:t>
            </a:r>
            <a:endParaRPr sz="32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1000" lvl="0" marL="45720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2400"/>
              <a:buFont typeface="Calibri"/>
              <a:buChar char="•"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Iterate numbers 1–40: stop printing when you reach 21.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-381000" lvl="0" marL="45720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2400"/>
              <a:buFont typeface="Calibri"/>
              <a:buChar char="•"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Iterate numbers 1–20: skip all multiples of 3 but print the rest.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text = "Search For the Capital  letters"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-381000" lvl="0" marL="91440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2400"/>
              <a:buFont typeface="Calibri"/>
              <a:buChar char="•"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Search a string for the uppercase letters; print their indices (print -1 if there is no uppercase characters)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-381000" lvl="1" marL="182880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2400"/>
              <a:buFont typeface="Calibri"/>
              <a:buChar char="•"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(stop at first found).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0" lvl="0" marL="22860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0" lvl="0" marL="22860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1050">
              <a:solidFill>
                <a:srgbClr val="D4D4D4"/>
              </a:solidFill>
              <a:highlight>
                <a:srgbClr val="1E1E1E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-304800" lvl="0" marL="4572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0" lvl="0" marL="2286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>
              <a:solidFill>
                <a:srgbClr val="FF0000"/>
              </a:solidFill>
            </a:endParaRPr>
          </a:p>
          <a:p>
            <a:pPr indent="-304800" lvl="0" marL="4572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</p:txBody>
      </p:sp>
      <p:sp>
        <p:nvSpPr>
          <p:cNvPr id="173" name="Google Shape;173;g368fd60c6bc_0_30"/>
          <p:cNvSpPr txBox="1"/>
          <p:nvPr>
            <p:ph type="title"/>
          </p:nvPr>
        </p:nvSpPr>
        <p:spPr>
          <a:xfrm>
            <a:off x="785725" y="157302"/>
            <a:ext cx="100365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Calibri"/>
              <a:buNone/>
            </a:pPr>
            <a:r>
              <a:rPr lang="en-US" sz="3200">
                <a:latin typeface="Calibri"/>
                <a:ea typeface="Calibri"/>
                <a:cs typeface="Calibri"/>
                <a:sym typeface="Calibri"/>
              </a:rPr>
              <a:t> Loop Control: break &amp; continue </a:t>
            </a:r>
            <a:endParaRPr sz="3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g368fd60c6bc_0_30"/>
          <p:cNvSpPr txBox="1"/>
          <p:nvPr>
            <p:ph idx="3" type="body"/>
          </p:nvPr>
        </p:nvSpPr>
        <p:spPr>
          <a:xfrm>
            <a:off x="838201" y="6341397"/>
            <a:ext cx="31014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None/>
            </a:pPr>
            <a:r>
              <a:rPr lang="en-US"/>
              <a:t>Computing Department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67676"/>
              </a:buClr>
              <a:buSzPts val="1200"/>
              <a:buNone/>
            </a:pPr>
            <a:r>
              <a:t/>
            </a:r>
            <a:endParaRPr/>
          </a:p>
        </p:txBody>
      </p:sp>
      <p:sp>
        <p:nvSpPr>
          <p:cNvPr id="175" name="Google Shape;175;g368fd60c6bc_0_30"/>
          <p:cNvSpPr txBox="1"/>
          <p:nvPr>
            <p:ph idx="12" type="sldNum"/>
          </p:nvPr>
        </p:nvSpPr>
        <p:spPr>
          <a:xfrm>
            <a:off x="9318522" y="6356350"/>
            <a:ext cx="2035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86148f6b07_0_82"/>
          <p:cNvSpPr txBox="1"/>
          <p:nvPr>
            <p:ph idx="1" type="body"/>
          </p:nvPr>
        </p:nvSpPr>
        <p:spPr>
          <a:xfrm>
            <a:off x="785725" y="758375"/>
            <a:ext cx="10360800" cy="519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 sz="3200">
                <a:solidFill>
                  <a:srgbClr val="07428C"/>
                </a:solidFill>
                <a:latin typeface="Calibri"/>
                <a:ea typeface="Calibri"/>
                <a:cs typeface="Calibri"/>
                <a:sym typeface="Calibri"/>
              </a:rPr>
              <a:t>Try it!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-381000" lvl="0" marL="45720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980000"/>
              </a:buClr>
              <a:buSzPts val="2400"/>
              <a:buChar char="•"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Print full multiplication tables (1×1–10×10). 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-381000" lvl="1" marL="91440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2400"/>
              <a:buFont typeface="Calibri"/>
              <a:buChar char="•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 Before the new multiplication table give the multiplication table’s name: “Multiplication table for 4”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-381000" lvl="0" marL="45720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980000"/>
              </a:buClr>
              <a:buSzPts val="2400"/>
              <a:buChar char="•"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Print a 5×5 grid of *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0" lvl="0" marL="91440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*****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0" lvl="0" marL="91440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*****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0" lvl="0" marL="91440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*****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0" lvl="0" marL="91440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*****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0" lvl="0" marL="91440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*****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98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1050">
              <a:solidFill>
                <a:srgbClr val="D4D4D4"/>
              </a:solidFill>
              <a:highlight>
                <a:srgbClr val="1E1E1E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50">
              <a:solidFill>
                <a:srgbClr val="D4D4D4"/>
              </a:solidFill>
              <a:highlight>
                <a:srgbClr val="1E1E1E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0" lvl="0" marL="22860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1050">
              <a:solidFill>
                <a:srgbClr val="D4D4D4"/>
              </a:solidFill>
              <a:highlight>
                <a:srgbClr val="1E1E1E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-304800" lvl="0" marL="4572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0" lvl="0" marL="2286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>
              <a:solidFill>
                <a:srgbClr val="FF0000"/>
              </a:solidFill>
            </a:endParaRPr>
          </a:p>
          <a:p>
            <a:pPr indent="-304800" lvl="0" marL="4572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</p:txBody>
      </p:sp>
      <p:sp>
        <p:nvSpPr>
          <p:cNvPr id="181" name="Google Shape;181;g386148f6b07_0_82"/>
          <p:cNvSpPr txBox="1"/>
          <p:nvPr>
            <p:ph type="title"/>
          </p:nvPr>
        </p:nvSpPr>
        <p:spPr>
          <a:xfrm>
            <a:off x="785725" y="157302"/>
            <a:ext cx="100365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200">
                <a:solidFill>
                  <a:srgbClr val="07428C"/>
                </a:solidFill>
                <a:latin typeface="Calibri"/>
                <a:ea typeface="Calibri"/>
                <a:cs typeface="Calibri"/>
                <a:sym typeface="Calibri"/>
              </a:rPr>
              <a:t>Nested For Loop</a:t>
            </a:r>
            <a:endParaRPr sz="3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g386148f6b07_0_82"/>
          <p:cNvSpPr txBox="1"/>
          <p:nvPr>
            <p:ph idx="3" type="body"/>
          </p:nvPr>
        </p:nvSpPr>
        <p:spPr>
          <a:xfrm>
            <a:off x="838201" y="6341397"/>
            <a:ext cx="31014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None/>
            </a:pPr>
            <a:r>
              <a:rPr lang="en-US"/>
              <a:t>Computing Department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67676"/>
              </a:buClr>
              <a:buSzPts val="1200"/>
              <a:buNone/>
            </a:pPr>
            <a:r>
              <a:t/>
            </a:r>
            <a:endParaRPr/>
          </a:p>
        </p:txBody>
      </p:sp>
      <p:sp>
        <p:nvSpPr>
          <p:cNvPr id="183" name="Google Shape;183;g386148f6b07_0_82"/>
          <p:cNvSpPr txBox="1"/>
          <p:nvPr>
            <p:ph idx="12" type="sldNum"/>
          </p:nvPr>
        </p:nvSpPr>
        <p:spPr>
          <a:xfrm>
            <a:off x="9318522" y="6356350"/>
            <a:ext cx="2035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9ae4f221f1_0_34"/>
          <p:cNvSpPr txBox="1"/>
          <p:nvPr>
            <p:ph idx="1" type="body"/>
          </p:nvPr>
        </p:nvSpPr>
        <p:spPr>
          <a:xfrm>
            <a:off x="785725" y="758375"/>
            <a:ext cx="10360800" cy="519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-381000" lvl="0" marL="45720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980000"/>
              </a:buClr>
              <a:buSzPts val="2400"/>
              <a:buChar char="•"/>
            </a:pPr>
            <a:r>
              <a:rPr lang="en-US" sz="2400">
                <a:solidFill>
                  <a:srgbClr val="980000"/>
                </a:solidFill>
                <a:latin typeface="Calibri"/>
                <a:ea typeface="Calibri"/>
                <a:cs typeface="Calibri"/>
                <a:sym typeface="Calibri"/>
              </a:rPr>
              <a:t>for i in range(len(data)) → </a:t>
            </a: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When you need index as it uses indices for looping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-381000" lvl="0" marL="45720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2400"/>
              <a:buFont typeface="Calibri"/>
              <a:buChar char="•"/>
            </a:pPr>
            <a:r>
              <a:rPr lang="en-US" sz="2400">
                <a:solidFill>
                  <a:srgbClr val="980000"/>
                </a:solidFill>
                <a:latin typeface="Calibri"/>
                <a:ea typeface="Calibri"/>
                <a:cs typeface="Calibri"/>
                <a:sym typeface="Calibri"/>
              </a:rPr>
              <a:t>for i in data  →</a:t>
            </a: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 When you need values only,as it loops over elements in the                iterable.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1050">
              <a:solidFill>
                <a:srgbClr val="D4D4D4"/>
              </a:solidFill>
              <a:highlight>
                <a:srgbClr val="1E1E1E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50">
              <a:solidFill>
                <a:srgbClr val="D4D4D4"/>
              </a:solidFill>
              <a:highlight>
                <a:srgbClr val="1E1E1E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0" lvl="0" marL="22860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1050">
              <a:solidFill>
                <a:srgbClr val="D4D4D4"/>
              </a:solidFill>
              <a:highlight>
                <a:srgbClr val="1E1E1E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-304800" lvl="0" marL="4572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0" lvl="0" marL="2286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>
              <a:solidFill>
                <a:srgbClr val="FF0000"/>
              </a:solidFill>
            </a:endParaRPr>
          </a:p>
          <a:p>
            <a:pPr indent="-304800" lvl="0" marL="4572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</p:txBody>
      </p:sp>
      <p:sp>
        <p:nvSpPr>
          <p:cNvPr id="189" name="Google Shape;189;g39ae4f221f1_0_34"/>
          <p:cNvSpPr txBox="1"/>
          <p:nvPr>
            <p:ph type="title"/>
          </p:nvPr>
        </p:nvSpPr>
        <p:spPr>
          <a:xfrm>
            <a:off x="785725" y="157302"/>
            <a:ext cx="100365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200">
                <a:solidFill>
                  <a:srgbClr val="07428C"/>
                </a:solidFill>
                <a:latin typeface="Calibri"/>
                <a:ea typeface="Calibri"/>
                <a:cs typeface="Calibri"/>
                <a:sym typeface="Calibri"/>
              </a:rPr>
              <a:t>For Loop</a:t>
            </a:r>
            <a:endParaRPr sz="3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g39ae4f221f1_0_34"/>
          <p:cNvSpPr txBox="1"/>
          <p:nvPr>
            <p:ph idx="3" type="body"/>
          </p:nvPr>
        </p:nvSpPr>
        <p:spPr>
          <a:xfrm>
            <a:off x="838201" y="6341397"/>
            <a:ext cx="31014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None/>
            </a:pPr>
            <a:r>
              <a:rPr lang="en-US"/>
              <a:t>Computing Department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67676"/>
              </a:buClr>
              <a:buSzPts val="1200"/>
              <a:buNone/>
            </a:pPr>
            <a:r>
              <a:t/>
            </a:r>
            <a:endParaRPr/>
          </a:p>
        </p:txBody>
      </p:sp>
      <p:sp>
        <p:nvSpPr>
          <p:cNvPr id="191" name="Google Shape;191;g39ae4f221f1_0_34"/>
          <p:cNvSpPr txBox="1"/>
          <p:nvPr>
            <p:ph idx="12" type="sldNum"/>
          </p:nvPr>
        </p:nvSpPr>
        <p:spPr>
          <a:xfrm>
            <a:off x="9318522" y="6356350"/>
            <a:ext cx="2035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9ae4f221f1_0_19"/>
          <p:cNvSpPr txBox="1"/>
          <p:nvPr>
            <p:ph idx="1" type="body"/>
          </p:nvPr>
        </p:nvSpPr>
        <p:spPr>
          <a:xfrm>
            <a:off x="785725" y="758375"/>
            <a:ext cx="7995600" cy="519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 sz="3200">
                <a:solidFill>
                  <a:srgbClr val="07428C"/>
                </a:solidFill>
                <a:latin typeface="Calibri"/>
                <a:ea typeface="Calibri"/>
                <a:cs typeface="Calibri"/>
                <a:sym typeface="Calibri"/>
              </a:rPr>
              <a:t>Try it!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-381000" lvl="0" marL="45720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980000"/>
              </a:buClr>
              <a:buSzPts val="2400"/>
              <a:buChar char="•"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data = [["Anna", 19, "A"], ["Bob", 22, "B"], ["Cara", 21, "A"]]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-381000" lvl="0" marL="45720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2400"/>
              <a:buFont typeface="Calibri"/>
              <a:buChar char="•"/>
            </a:pPr>
            <a:r>
              <a:rPr b="1" i="1" lang="en-US" sz="2400">
                <a:latin typeface="Calibri"/>
                <a:ea typeface="Calibri"/>
                <a:cs typeface="Calibri"/>
                <a:sym typeface="Calibri"/>
              </a:rPr>
              <a:t>Produce the following:</a:t>
            </a:r>
            <a:endParaRPr b="1" i="1" sz="2400">
              <a:latin typeface="Calibri"/>
              <a:ea typeface="Calibri"/>
              <a:cs typeface="Calibri"/>
              <a:sym typeface="Calibri"/>
            </a:endParaRPr>
          </a:p>
          <a:p>
            <a:pPr indent="-381000" lvl="1" marL="91440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980000"/>
              </a:buClr>
              <a:buSzPts val="2400"/>
              <a:buChar char="•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 0 ['Anna', 19, 'A']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381000" lvl="1" marL="91440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980000"/>
              </a:buClr>
              <a:buSzPts val="2400"/>
              <a:buChar char="•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 1 ['Bob', 22, 'B'] 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381000" lvl="1" marL="91440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980000"/>
              </a:buClr>
              <a:buSzPts val="2400"/>
              <a:buChar char="•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 2 ['Cara', 21, 'A']                                              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2000"/>
              <a:buFont typeface="Calibri"/>
              <a:buChar char="•"/>
            </a:pPr>
            <a:r>
              <a:rPr b="1" i="1" lang="en-US" sz="2400">
                <a:latin typeface="Calibri"/>
                <a:ea typeface="Calibri"/>
                <a:cs typeface="Calibri"/>
                <a:sym typeface="Calibri"/>
              </a:rPr>
              <a:t>get the names only</a:t>
            </a:r>
            <a:endParaRPr b="1" i="1" sz="2400">
              <a:latin typeface="Calibri"/>
              <a:ea typeface="Calibri"/>
              <a:cs typeface="Calibri"/>
              <a:sym typeface="Calibri"/>
            </a:endParaRPr>
          </a:p>
          <a:p>
            <a:pPr indent="-381000" lvl="1" marL="91440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2400"/>
              <a:buFont typeface="Calibri"/>
              <a:buChar char="•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Anna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381000" lvl="1" marL="91440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2400"/>
              <a:buFont typeface="Calibri"/>
              <a:buChar char="•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Bob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381000" lvl="1" marL="91440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2400"/>
              <a:buFont typeface="Calibri"/>
              <a:buChar char="•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Cara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0" lvl="0" marL="91440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98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1050">
              <a:solidFill>
                <a:srgbClr val="D4D4D4"/>
              </a:solidFill>
              <a:highlight>
                <a:srgbClr val="1E1E1E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50">
              <a:solidFill>
                <a:srgbClr val="D4D4D4"/>
              </a:solidFill>
              <a:highlight>
                <a:srgbClr val="1E1E1E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0" lvl="0" marL="22860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1050">
              <a:solidFill>
                <a:srgbClr val="D4D4D4"/>
              </a:solidFill>
              <a:highlight>
                <a:srgbClr val="1E1E1E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-304800" lvl="0" marL="4572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0" lvl="0" marL="2286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>
              <a:solidFill>
                <a:srgbClr val="FF0000"/>
              </a:solidFill>
            </a:endParaRPr>
          </a:p>
          <a:p>
            <a:pPr indent="-304800" lvl="0" marL="4572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</p:txBody>
      </p:sp>
      <p:sp>
        <p:nvSpPr>
          <p:cNvPr id="197" name="Google Shape;197;g39ae4f221f1_0_19"/>
          <p:cNvSpPr txBox="1"/>
          <p:nvPr>
            <p:ph type="title"/>
          </p:nvPr>
        </p:nvSpPr>
        <p:spPr>
          <a:xfrm>
            <a:off x="785725" y="157302"/>
            <a:ext cx="100365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200">
                <a:solidFill>
                  <a:srgbClr val="07428C"/>
                </a:solidFill>
                <a:latin typeface="Calibri"/>
                <a:ea typeface="Calibri"/>
                <a:cs typeface="Calibri"/>
                <a:sym typeface="Calibri"/>
              </a:rPr>
              <a:t>For </a:t>
            </a:r>
            <a:r>
              <a:rPr lang="en-US" sz="3200">
                <a:solidFill>
                  <a:srgbClr val="07428C"/>
                </a:solidFill>
                <a:latin typeface="Calibri"/>
                <a:ea typeface="Calibri"/>
                <a:cs typeface="Calibri"/>
                <a:sym typeface="Calibri"/>
              </a:rPr>
              <a:t>Loop</a:t>
            </a:r>
            <a:endParaRPr sz="3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g39ae4f221f1_0_19"/>
          <p:cNvSpPr txBox="1"/>
          <p:nvPr>
            <p:ph idx="3" type="body"/>
          </p:nvPr>
        </p:nvSpPr>
        <p:spPr>
          <a:xfrm>
            <a:off x="838201" y="6341397"/>
            <a:ext cx="31014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None/>
            </a:pPr>
            <a:r>
              <a:rPr lang="en-US"/>
              <a:t>Computing Department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67676"/>
              </a:buClr>
              <a:buSzPts val="1200"/>
              <a:buNone/>
            </a:pPr>
            <a:r>
              <a:t/>
            </a:r>
            <a:endParaRPr/>
          </a:p>
        </p:txBody>
      </p:sp>
      <p:sp>
        <p:nvSpPr>
          <p:cNvPr id="199" name="Google Shape;199;g39ae4f221f1_0_19"/>
          <p:cNvSpPr txBox="1"/>
          <p:nvPr>
            <p:ph idx="12" type="sldNum"/>
          </p:nvPr>
        </p:nvSpPr>
        <p:spPr>
          <a:xfrm>
            <a:off x="9318522" y="6356350"/>
            <a:ext cx="2035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00" name="Google Shape;200;g39ae4f221f1_0_19"/>
          <p:cNvSpPr txBox="1"/>
          <p:nvPr/>
        </p:nvSpPr>
        <p:spPr>
          <a:xfrm>
            <a:off x="7413400" y="2051750"/>
            <a:ext cx="4622100" cy="369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●"/>
            </a:pPr>
            <a:r>
              <a:rPr b="1"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get the each element on a single line</a:t>
            </a:r>
            <a:endParaRPr b="1" i="1"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name:Anna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Age: 19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Grade: A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name:Bob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Age: 22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Grade: B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name:Cara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Age: 21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Grade: A</a:t>
            </a:r>
            <a:endParaRPr sz="10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68bc6584b4_0_29"/>
          <p:cNvSpPr txBox="1"/>
          <p:nvPr>
            <p:ph type="title"/>
          </p:nvPr>
        </p:nvSpPr>
        <p:spPr>
          <a:xfrm>
            <a:off x="457975" y="183527"/>
            <a:ext cx="100365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Calibri"/>
              <a:buNone/>
            </a:pPr>
            <a:r>
              <a:rPr lang="en-US" sz="3200">
                <a:latin typeface="Calibri"/>
                <a:ea typeface="Calibri"/>
                <a:cs typeface="Calibri"/>
                <a:sym typeface="Calibri"/>
              </a:rPr>
              <a:t>For Loop</a:t>
            </a:r>
            <a:endParaRPr/>
          </a:p>
        </p:txBody>
      </p:sp>
      <p:sp>
        <p:nvSpPr>
          <p:cNvPr id="206" name="Google Shape;206;g368bc6584b4_0_29"/>
          <p:cNvSpPr txBox="1"/>
          <p:nvPr>
            <p:ph idx="3" type="body"/>
          </p:nvPr>
        </p:nvSpPr>
        <p:spPr>
          <a:xfrm>
            <a:off x="838201" y="6341397"/>
            <a:ext cx="31014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None/>
            </a:pPr>
            <a:r>
              <a:rPr lang="en-US"/>
              <a:t>Computing Department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67676"/>
              </a:buClr>
              <a:buSzPts val="1200"/>
              <a:buNone/>
            </a:pPr>
            <a:r>
              <a:t/>
            </a:r>
            <a:endParaRPr/>
          </a:p>
        </p:txBody>
      </p:sp>
      <p:sp>
        <p:nvSpPr>
          <p:cNvPr id="207" name="Google Shape;207;g368bc6584b4_0_29"/>
          <p:cNvSpPr txBox="1"/>
          <p:nvPr>
            <p:ph idx="12" type="sldNum"/>
          </p:nvPr>
        </p:nvSpPr>
        <p:spPr>
          <a:xfrm>
            <a:off x="9318522" y="6356350"/>
            <a:ext cx="2035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08" name="Google Shape;208;g368bc6584b4_0_29"/>
          <p:cNvSpPr txBox="1"/>
          <p:nvPr>
            <p:ph idx="1" type="body"/>
          </p:nvPr>
        </p:nvSpPr>
        <p:spPr>
          <a:xfrm>
            <a:off x="785725" y="862375"/>
            <a:ext cx="10915800" cy="492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 sz="32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Try it!</a:t>
            </a:r>
            <a:endParaRPr sz="32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32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1000" lvl="0" marL="457200" marR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2400"/>
              <a:buFont typeface="Calibri"/>
              <a:buChar char="•"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Create a right-angled triangle pattern of numbers: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-381000" lvl="1" marL="914400" marR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2400"/>
              <a:buFont typeface="Calibri"/>
              <a:buChar char="•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1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381000" lvl="1" marL="914400" marR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2400"/>
              <a:buFont typeface="Calibri"/>
              <a:buChar char="•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1 2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381000" lvl="1" marL="914400" marR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2400"/>
              <a:buFont typeface="Calibri"/>
              <a:buChar char="•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1 2 3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	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386148f6b07_0_0"/>
          <p:cNvSpPr txBox="1"/>
          <p:nvPr>
            <p:ph type="title"/>
          </p:nvPr>
        </p:nvSpPr>
        <p:spPr>
          <a:xfrm>
            <a:off x="457975" y="183527"/>
            <a:ext cx="100365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Calibri"/>
              <a:buNone/>
            </a:pPr>
            <a:r>
              <a:rPr lang="en-US" sz="3200">
                <a:latin typeface="Calibri"/>
                <a:ea typeface="Calibri"/>
                <a:cs typeface="Calibri"/>
                <a:sym typeface="Calibri"/>
              </a:rPr>
              <a:t>For Loop</a:t>
            </a:r>
            <a:endParaRPr/>
          </a:p>
        </p:txBody>
      </p:sp>
      <p:sp>
        <p:nvSpPr>
          <p:cNvPr id="214" name="Google Shape;214;g386148f6b07_0_0"/>
          <p:cNvSpPr txBox="1"/>
          <p:nvPr>
            <p:ph idx="3" type="body"/>
          </p:nvPr>
        </p:nvSpPr>
        <p:spPr>
          <a:xfrm>
            <a:off x="838201" y="6341397"/>
            <a:ext cx="31014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None/>
            </a:pPr>
            <a:r>
              <a:rPr lang="en-US"/>
              <a:t>Computing Department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67676"/>
              </a:buClr>
              <a:buSzPts val="1200"/>
              <a:buNone/>
            </a:pPr>
            <a:r>
              <a:t/>
            </a:r>
            <a:endParaRPr/>
          </a:p>
        </p:txBody>
      </p:sp>
      <p:sp>
        <p:nvSpPr>
          <p:cNvPr id="215" name="Google Shape;215;g386148f6b07_0_0"/>
          <p:cNvSpPr txBox="1"/>
          <p:nvPr>
            <p:ph idx="12" type="sldNum"/>
          </p:nvPr>
        </p:nvSpPr>
        <p:spPr>
          <a:xfrm>
            <a:off x="9318522" y="6356350"/>
            <a:ext cx="2035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16" name="Google Shape;216;g386148f6b07_0_0"/>
          <p:cNvSpPr txBox="1"/>
          <p:nvPr>
            <p:ph idx="1" type="body"/>
          </p:nvPr>
        </p:nvSpPr>
        <p:spPr>
          <a:xfrm>
            <a:off x="785725" y="862375"/>
            <a:ext cx="10915800" cy="492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 sz="32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Try it!</a:t>
            </a:r>
            <a:endParaRPr sz="32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32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1000" lvl="0" marL="91440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2400"/>
              <a:buFont typeface="Calibri"/>
              <a:buChar char="•"/>
            </a:pPr>
            <a:r>
              <a:rPr b="1" i="1" lang="en-US" sz="2400">
                <a:latin typeface="Calibri"/>
                <a:ea typeface="Calibri"/>
                <a:cs typeface="Calibri"/>
                <a:sym typeface="Calibri"/>
              </a:rPr>
              <a:t>Write a program that prompts a user for a text then collects all uppercase letters into a new list and prints them joined as a string.</a:t>
            </a:r>
            <a:endParaRPr b="1" i="1" sz="2400">
              <a:latin typeface="Calibri"/>
              <a:ea typeface="Calibri"/>
              <a:cs typeface="Calibri"/>
              <a:sym typeface="Calibri"/>
            </a:endParaRPr>
          </a:p>
          <a:p>
            <a:pPr indent="0" lvl="0" marL="91440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 sz="2400">
              <a:latin typeface="Calibri"/>
              <a:ea typeface="Calibri"/>
              <a:cs typeface="Calibri"/>
              <a:sym typeface="Calibri"/>
            </a:endParaRPr>
          </a:p>
          <a:p>
            <a:pPr indent="-381000" lvl="0" marL="91440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2400"/>
              <a:buFont typeface="Calibri"/>
              <a:buChar char="•"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text = "Did You Count The Number of UppeR CaseS?"</a:t>
            </a:r>
            <a:endParaRPr sz="1050">
              <a:solidFill>
                <a:srgbClr val="CE9178"/>
              </a:solidFill>
              <a:highlight>
                <a:srgbClr val="1E1E1E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	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386148f6b07_0_8"/>
          <p:cNvSpPr txBox="1"/>
          <p:nvPr>
            <p:ph type="title"/>
          </p:nvPr>
        </p:nvSpPr>
        <p:spPr>
          <a:xfrm>
            <a:off x="457975" y="183527"/>
            <a:ext cx="100365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Calibri"/>
              <a:buNone/>
            </a:pPr>
            <a:r>
              <a:rPr lang="en-US" sz="3200">
                <a:latin typeface="Calibri"/>
                <a:ea typeface="Calibri"/>
                <a:cs typeface="Calibri"/>
                <a:sym typeface="Calibri"/>
              </a:rPr>
              <a:t>For Loop</a:t>
            </a:r>
            <a:endParaRPr/>
          </a:p>
        </p:txBody>
      </p:sp>
      <p:sp>
        <p:nvSpPr>
          <p:cNvPr id="222" name="Google Shape;222;g386148f6b07_0_8"/>
          <p:cNvSpPr txBox="1"/>
          <p:nvPr>
            <p:ph idx="3" type="body"/>
          </p:nvPr>
        </p:nvSpPr>
        <p:spPr>
          <a:xfrm>
            <a:off x="838201" y="6341397"/>
            <a:ext cx="31014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None/>
            </a:pPr>
            <a:r>
              <a:rPr lang="en-US"/>
              <a:t>Computing Department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67676"/>
              </a:buClr>
              <a:buSzPts val="1200"/>
              <a:buNone/>
            </a:pPr>
            <a:r>
              <a:t/>
            </a:r>
            <a:endParaRPr/>
          </a:p>
        </p:txBody>
      </p:sp>
      <p:sp>
        <p:nvSpPr>
          <p:cNvPr id="223" name="Google Shape;223;g386148f6b07_0_8"/>
          <p:cNvSpPr txBox="1"/>
          <p:nvPr>
            <p:ph idx="12" type="sldNum"/>
          </p:nvPr>
        </p:nvSpPr>
        <p:spPr>
          <a:xfrm>
            <a:off x="9318522" y="6356350"/>
            <a:ext cx="2035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24" name="Google Shape;224;g386148f6b07_0_8"/>
          <p:cNvSpPr txBox="1"/>
          <p:nvPr>
            <p:ph idx="1" type="body"/>
          </p:nvPr>
        </p:nvSpPr>
        <p:spPr>
          <a:xfrm>
            <a:off x="785725" y="862375"/>
            <a:ext cx="10915800" cy="492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2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Try it!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-381000" lvl="0" marL="45720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2400"/>
              <a:buFont typeface="Calibri"/>
              <a:buChar char="•"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Word Counter 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-381000" lvl="1" marL="91440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2400"/>
              <a:buFont typeface="Calibri"/>
              <a:buChar char="•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Prompt the user for a sentence. Count how many words (split by spaces) 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381000" lvl="1" marL="91440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2400"/>
              <a:buFont typeface="Calibri"/>
              <a:buChar char="•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Count the words &gt;= 5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	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368fd60c6bc_0_11"/>
          <p:cNvSpPr txBox="1"/>
          <p:nvPr>
            <p:ph type="title"/>
          </p:nvPr>
        </p:nvSpPr>
        <p:spPr>
          <a:xfrm>
            <a:off x="457975" y="183527"/>
            <a:ext cx="100365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Calibri"/>
              <a:buNone/>
            </a:pPr>
            <a:r>
              <a:rPr lang="en-US" sz="3200">
                <a:latin typeface="Calibri"/>
                <a:ea typeface="Calibri"/>
                <a:cs typeface="Calibri"/>
                <a:sym typeface="Calibri"/>
              </a:rPr>
              <a:t>For Loop</a:t>
            </a:r>
            <a:endParaRPr/>
          </a:p>
        </p:txBody>
      </p:sp>
      <p:sp>
        <p:nvSpPr>
          <p:cNvPr id="230" name="Google Shape;230;g368fd60c6bc_0_11"/>
          <p:cNvSpPr txBox="1"/>
          <p:nvPr>
            <p:ph idx="3" type="body"/>
          </p:nvPr>
        </p:nvSpPr>
        <p:spPr>
          <a:xfrm>
            <a:off x="838201" y="6341397"/>
            <a:ext cx="31014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None/>
            </a:pPr>
            <a:r>
              <a:rPr lang="en-US"/>
              <a:t>Computing Department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67676"/>
              </a:buClr>
              <a:buSzPts val="1200"/>
              <a:buNone/>
            </a:pPr>
            <a:r>
              <a:t/>
            </a:r>
            <a:endParaRPr/>
          </a:p>
        </p:txBody>
      </p:sp>
      <p:sp>
        <p:nvSpPr>
          <p:cNvPr id="231" name="Google Shape;231;g368fd60c6bc_0_11"/>
          <p:cNvSpPr txBox="1"/>
          <p:nvPr>
            <p:ph idx="12" type="sldNum"/>
          </p:nvPr>
        </p:nvSpPr>
        <p:spPr>
          <a:xfrm>
            <a:off x="9318522" y="6356350"/>
            <a:ext cx="2035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32" name="Google Shape;232;g368fd60c6bc_0_11"/>
          <p:cNvSpPr txBox="1"/>
          <p:nvPr>
            <p:ph idx="1" type="body"/>
          </p:nvPr>
        </p:nvSpPr>
        <p:spPr>
          <a:xfrm>
            <a:off x="785725" y="862375"/>
            <a:ext cx="10915800" cy="492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 sz="3200">
                <a:solidFill>
                  <a:srgbClr val="07428C"/>
                </a:solidFill>
                <a:latin typeface="Calibri"/>
                <a:ea typeface="Calibri"/>
                <a:cs typeface="Calibri"/>
                <a:sym typeface="Calibri"/>
              </a:rPr>
              <a:t>Try it!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-3556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Char char="•"/>
            </a:pPr>
            <a:r>
              <a:rPr lang="en-US">
                <a:solidFill>
                  <a:srgbClr val="000000"/>
                </a:solidFill>
              </a:rPr>
              <a:t>Duplicate Finder</a:t>
            </a:r>
            <a:endParaRPr>
              <a:solidFill>
                <a:srgbClr val="000000"/>
              </a:solidFill>
            </a:endParaRPr>
          </a:p>
          <a:p>
            <a:pPr indent="-3556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Char char="•"/>
            </a:pPr>
            <a:r>
              <a:rPr lang="en-US">
                <a:solidFill>
                  <a:srgbClr val="000000"/>
                </a:solidFill>
              </a:rPr>
              <a:t> nums = [2,4,7,4,9,2,7,3]</a:t>
            </a:r>
            <a:endParaRPr>
              <a:solidFill>
                <a:srgbClr val="000000"/>
              </a:solidFill>
            </a:endParaRPr>
          </a:p>
          <a:p>
            <a:pPr indent="-3556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Char char="•"/>
            </a:pPr>
            <a:r>
              <a:rPr lang="en-US">
                <a:solidFill>
                  <a:srgbClr val="000000"/>
                </a:solidFill>
              </a:rPr>
              <a:t>print which numbers appear more than once and how many times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>
              <a:solidFill>
                <a:srgbClr val="980000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/>
              <a:t>	</a:t>
            </a:r>
            <a:endParaRPr/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1250">
              <a:solidFill>
                <a:srgbClr val="D4D4D4"/>
              </a:solidFill>
              <a:highlight>
                <a:srgbClr val="1E1E1E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22860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0" lvl="0" marL="22860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1050">
              <a:solidFill>
                <a:srgbClr val="D4D4D4"/>
              </a:solidFill>
              <a:highlight>
                <a:srgbClr val="1E1E1E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-304800" lvl="0" marL="4572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0" lvl="0" marL="2286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>
              <a:solidFill>
                <a:srgbClr val="FF0000"/>
              </a:solidFill>
            </a:endParaRPr>
          </a:p>
          <a:p>
            <a:pPr indent="-304800" lvl="0" marL="4572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386148f6b07_0_20"/>
          <p:cNvSpPr txBox="1"/>
          <p:nvPr>
            <p:ph idx="3" type="body"/>
          </p:nvPr>
        </p:nvSpPr>
        <p:spPr>
          <a:xfrm>
            <a:off x="838201" y="6341397"/>
            <a:ext cx="31014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None/>
            </a:pPr>
            <a:r>
              <a:rPr lang="en-US"/>
              <a:t>Computing Department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67676"/>
              </a:buClr>
              <a:buSzPts val="1200"/>
              <a:buNone/>
            </a:pPr>
            <a:r>
              <a:t/>
            </a:r>
            <a:endParaRPr/>
          </a:p>
        </p:txBody>
      </p:sp>
      <p:sp>
        <p:nvSpPr>
          <p:cNvPr id="238" name="Google Shape;238;g386148f6b07_0_20"/>
          <p:cNvSpPr txBox="1"/>
          <p:nvPr>
            <p:ph idx="12" type="sldNum"/>
          </p:nvPr>
        </p:nvSpPr>
        <p:spPr>
          <a:xfrm>
            <a:off x="9318522" y="6356350"/>
            <a:ext cx="2035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39" name="Google Shape;239;g386148f6b07_0_20"/>
          <p:cNvSpPr txBox="1"/>
          <p:nvPr>
            <p:ph idx="1" type="body"/>
          </p:nvPr>
        </p:nvSpPr>
        <p:spPr>
          <a:xfrm>
            <a:off x="785725" y="862375"/>
            <a:ext cx="10915800" cy="492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 sz="3200">
                <a:solidFill>
                  <a:srgbClr val="07428C"/>
                </a:solidFill>
                <a:latin typeface="Calibri"/>
                <a:ea typeface="Calibri"/>
                <a:cs typeface="Calibri"/>
                <a:sym typeface="Calibri"/>
              </a:rPr>
              <a:t>Try it!</a:t>
            </a:r>
            <a:endParaRPr sz="3200">
              <a:solidFill>
                <a:srgbClr val="07428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Char char="•"/>
            </a:pPr>
            <a:r>
              <a:rPr lang="en-US">
                <a:solidFill>
                  <a:srgbClr val="000000"/>
                </a:solidFill>
              </a:rPr>
              <a:t>ATM Cash Dispenser</a:t>
            </a:r>
            <a:endParaRPr>
              <a:solidFill>
                <a:srgbClr val="000000"/>
              </a:solidFill>
            </a:endParaRPr>
          </a:p>
          <a:p>
            <a:pPr indent="-3556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Char char="•"/>
            </a:pPr>
            <a:r>
              <a:rPr lang="en-US">
                <a:solidFill>
                  <a:srgbClr val="000000"/>
                </a:solidFill>
              </a:rPr>
              <a:t>Input: an amount of money (positive integer)</a:t>
            </a:r>
            <a:endParaRPr>
              <a:solidFill>
                <a:srgbClr val="000000"/>
              </a:solidFill>
            </a:endParaRPr>
          </a:p>
          <a:p>
            <a:pPr indent="-3556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Char char="•"/>
            </a:pPr>
            <a:r>
              <a:rPr lang="en-US">
                <a:solidFill>
                  <a:srgbClr val="000000"/>
                </a:solidFill>
              </a:rPr>
              <a:t>Output: how many 100, 50, 20, 10, 5, 1 bills to return</a:t>
            </a:r>
            <a:endParaRPr>
              <a:solidFill>
                <a:srgbClr val="000000"/>
              </a:solidFill>
            </a:endParaRPr>
          </a:p>
          <a:p>
            <a:pPr indent="-3556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Char char="•"/>
            </a:pPr>
            <a:r>
              <a:rPr lang="en-US">
                <a:solidFill>
                  <a:srgbClr val="000000"/>
                </a:solidFill>
              </a:rPr>
              <a:t>It should </a:t>
            </a:r>
            <a:r>
              <a:rPr lang="en-US">
                <a:solidFill>
                  <a:srgbClr val="000000"/>
                </a:solidFill>
              </a:rPr>
              <a:t>return</a:t>
            </a:r>
            <a:r>
              <a:rPr lang="en-US">
                <a:solidFill>
                  <a:srgbClr val="000000"/>
                </a:solidFill>
              </a:rPr>
              <a:t> the amount </a:t>
            </a:r>
            <a:r>
              <a:rPr lang="en-US">
                <a:solidFill>
                  <a:srgbClr val="000000"/>
                </a:solidFill>
              </a:rPr>
              <a:t>requested</a:t>
            </a:r>
            <a:r>
              <a:rPr lang="en-US">
                <a:solidFill>
                  <a:srgbClr val="000000"/>
                </a:solidFill>
              </a:rPr>
              <a:t> using the minimum number of bills </a:t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>
              <a:solidFill>
                <a:srgbClr val="980000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/>
              <a:t>	</a:t>
            </a:r>
            <a:endParaRPr/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1250">
              <a:solidFill>
                <a:srgbClr val="D4D4D4"/>
              </a:solidFill>
              <a:highlight>
                <a:srgbClr val="1E1E1E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22860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0" lvl="0" marL="22860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1050">
              <a:solidFill>
                <a:srgbClr val="D4D4D4"/>
              </a:solidFill>
              <a:highlight>
                <a:srgbClr val="1E1E1E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-304800" lvl="0" marL="4572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0" lvl="0" marL="2286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>
              <a:solidFill>
                <a:srgbClr val="FF0000"/>
              </a:solidFill>
            </a:endParaRPr>
          </a:p>
          <a:p>
            <a:pPr indent="-304800" lvl="0" marL="4572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386148f6b07_0_31"/>
          <p:cNvSpPr txBox="1"/>
          <p:nvPr>
            <p:ph idx="3" type="body"/>
          </p:nvPr>
        </p:nvSpPr>
        <p:spPr>
          <a:xfrm>
            <a:off x="838201" y="6341397"/>
            <a:ext cx="31014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None/>
            </a:pPr>
            <a:r>
              <a:rPr lang="en-US"/>
              <a:t>Computing Department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67676"/>
              </a:buClr>
              <a:buSzPts val="1200"/>
              <a:buNone/>
            </a:pPr>
            <a:r>
              <a:t/>
            </a:r>
            <a:endParaRPr/>
          </a:p>
        </p:txBody>
      </p:sp>
      <p:sp>
        <p:nvSpPr>
          <p:cNvPr id="245" name="Google Shape;245;g386148f6b07_0_31"/>
          <p:cNvSpPr txBox="1"/>
          <p:nvPr>
            <p:ph idx="12" type="sldNum"/>
          </p:nvPr>
        </p:nvSpPr>
        <p:spPr>
          <a:xfrm>
            <a:off x="9318522" y="6356350"/>
            <a:ext cx="2035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46" name="Google Shape;246;g386148f6b07_0_31"/>
          <p:cNvSpPr txBox="1"/>
          <p:nvPr>
            <p:ph idx="1" type="body"/>
          </p:nvPr>
        </p:nvSpPr>
        <p:spPr>
          <a:xfrm>
            <a:off x="785725" y="862375"/>
            <a:ext cx="10915800" cy="492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 sz="3200">
                <a:solidFill>
                  <a:srgbClr val="07428C"/>
                </a:solidFill>
                <a:latin typeface="Calibri"/>
                <a:ea typeface="Calibri"/>
                <a:cs typeface="Calibri"/>
                <a:sym typeface="Calibri"/>
              </a:rPr>
              <a:t>Try it!</a:t>
            </a:r>
            <a:endParaRPr sz="3200">
              <a:solidFill>
                <a:srgbClr val="07428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746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7428C"/>
              </a:buClr>
              <a:buSzPts val="2300"/>
              <a:buFont typeface="Calibri"/>
              <a:buChar char="•"/>
            </a:pPr>
            <a:r>
              <a:rPr lang="en-US" sz="2400">
                <a:solidFill>
                  <a:srgbClr val="000000"/>
                </a:solidFill>
              </a:rPr>
              <a:t>Mini Banking Ledger</a:t>
            </a:r>
            <a:r>
              <a:rPr lang="en-US" sz="2800">
                <a:solidFill>
                  <a:srgbClr val="07428C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2800">
              <a:solidFill>
                <a:srgbClr val="07428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746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7428C"/>
              </a:buClr>
              <a:buSzPts val="2300"/>
              <a:buFont typeface="Calibri"/>
              <a:buChar char="•"/>
            </a:pPr>
            <a:r>
              <a:rPr lang="en-US" sz="2000">
                <a:solidFill>
                  <a:srgbClr val="000000"/>
                </a:solidFill>
              </a:rPr>
              <a:t>Keep a running balance starting at 0. </a:t>
            </a:r>
            <a:endParaRPr sz="2000">
              <a:solidFill>
                <a:srgbClr val="000000"/>
              </a:solidFill>
            </a:endParaRPr>
          </a:p>
          <a:p>
            <a:pPr indent="-3746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7428C"/>
              </a:buClr>
              <a:buSzPts val="2300"/>
              <a:buFont typeface="Calibri"/>
              <a:buChar char="•"/>
            </a:pPr>
            <a:r>
              <a:rPr lang="en-US" sz="2000">
                <a:solidFill>
                  <a:srgbClr val="000000"/>
                </a:solidFill>
              </a:rPr>
              <a:t>Loop offering actions: </a:t>
            </a:r>
            <a:endParaRPr sz="2000">
              <a:solidFill>
                <a:srgbClr val="000000"/>
              </a:solidFill>
            </a:endParaRPr>
          </a:p>
          <a:p>
            <a:pPr indent="-37465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7428C"/>
              </a:buClr>
              <a:buSzPts val="2300"/>
              <a:buFont typeface="Calibri"/>
              <a:buChar char="•"/>
            </a:pPr>
            <a:r>
              <a:rPr lang="en-US">
                <a:solidFill>
                  <a:srgbClr val="000000"/>
                </a:solidFill>
              </a:rPr>
              <a:t>D → deposit, W → withdraw, B → show balance, Q → quit.</a:t>
            </a:r>
            <a:endParaRPr>
              <a:solidFill>
                <a:srgbClr val="000000"/>
              </a:solidFill>
            </a:endParaRPr>
          </a:p>
          <a:p>
            <a:pPr indent="-3746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7428C"/>
              </a:buClr>
              <a:buSzPts val="2300"/>
              <a:buFont typeface="Calibri"/>
              <a:buChar char="•"/>
            </a:pPr>
            <a:r>
              <a:rPr lang="en-US" sz="2000">
                <a:solidFill>
                  <a:srgbClr val="000000"/>
                </a:solidFill>
              </a:rPr>
              <a:t>Reject withdrawals that would make the balance negative</a:t>
            </a:r>
            <a:endParaRPr sz="2800">
              <a:solidFill>
                <a:srgbClr val="07428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rgbClr val="07428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3200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solidFill>
                  <a:srgbClr val="000000"/>
                </a:solidFill>
              </a:rPr>
              <a:t>		</a:t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>
              <a:solidFill>
                <a:srgbClr val="980000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/>
              <a:t>	</a:t>
            </a:r>
            <a:endParaRPr/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1250">
              <a:solidFill>
                <a:srgbClr val="D4D4D4"/>
              </a:solidFill>
              <a:highlight>
                <a:srgbClr val="1E1E1E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22860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0" lvl="0" marL="22860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1050">
              <a:solidFill>
                <a:srgbClr val="D4D4D4"/>
              </a:solidFill>
              <a:highlight>
                <a:srgbClr val="1E1E1E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-304800" lvl="0" marL="4572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0" lvl="0" marL="2286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>
              <a:solidFill>
                <a:srgbClr val="FF0000"/>
              </a:solidFill>
            </a:endParaRPr>
          </a:p>
          <a:p>
            <a:pPr indent="-304800" lvl="0" marL="4572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18"/>
          <p:cNvSpPr txBox="1"/>
          <p:nvPr>
            <p:ph idx="1" type="body"/>
          </p:nvPr>
        </p:nvSpPr>
        <p:spPr>
          <a:xfrm>
            <a:off x="838201" y="6341397"/>
            <a:ext cx="3101410" cy="374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</a:pPr>
            <a:r>
              <a:rPr lang="en-US"/>
              <a:t>Computing Department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</a:pPr>
            <a:r>
              <a:t/>
            </a:r>
            <a:endParaRPr/>
          </a:p>
        </p:txBody>
      </p:sp>
      <p:sp>
        <p:nvSpPr>
          <p:cNvPr id="252" name="Google Shape;252;p18"/>
          <p:cNvSpPr txBox="1"/>
          <p:nvPr>
            <p:ph idx="12" type="sldNum"/>
          </p:nvPr>
        </p:nvSpPr>
        <p:spPr>
          <a:xfrm>
            <a:off x="9318522" y="6356350"/>
            <a:ext cx="2035278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53" name="Google Shape;253;p18"/>
          <p:cNvSpPr txBox="1"/>
          <p:nvPr>
            <p:ph type="ctrTitle"/>
          </p:nvPr>
        </p:nvSpPr>
        <p:spPr>
          <a:xfrm>
            <a:off x="838201" y="2528374"/>
            <a:ext cx="10515599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0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254" name="Google Shape;254;p18"/>
          <p:cNvSpPr txBox="1"/>
          <p:nvPr>
            <p:ph idx="2" type="subTitle"/>
          </p:nvPr>
        </p:nvSpPr>
        <p:spPr>
          <a:xfrm>
            <a:off x="838201" y="5008049"/>
            <a:ext cx="10515599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</p:txBody>
      </p:sp>
      <p:sp>
        <p:nvSpPr>
          <p:cNvPr id="255" name="Google Shape;255;p18"/>
          <p:cNvSpPr/>
          <p:nvPr/>
        </p:nvSpPr>
        <p:spPr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56" name="Google Shape;256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284476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Тема Office">
  <a:themeElements>
    <a:clrScheme name="Другая 16">
      <a:dk1>
        <a:srgbClr val="000000"/>
      </a:dk1>
      <a:lt1>
        <a:srgbClr val="FFFFFF"/>
      </a:lt1>
      <a:dk2>
        <a:srgbClr val="07428C"/>
      </a:dk2>
      <a:lt2>
        <a:srgbClr val="EDEDED"/>
      </a:lt2>
      <a:accent1>
        <a:srgbClr val="7CB4E2"/>
      </a:accent1>
      <a:accent2>
        <a:srgbClr val="358A7C"/>
      </a:accent2>
      <a:accent3>
        <a:srgbClr val="35A8E0"/>
      </a:accent3>
      <a:accent4>
        <a:srgbClr val="26693A"/>
      </a:accent4>
      <a:accent5>
        <a:srgbClr val="F6AC10"/>
      </a:accent5>
      <a:accent6>
        <a:srgbClr val="B7283C"/>
      </a:accent6>
      <a:hlink>
        <a:srgbClr val="358A7C"/>
      </a:hlink>
      <a:folHlink>
        <a:srgbClr val="B7283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Тема Office">
  <a:themeElements>
    <a:clrScheme name="Другая 13">
      <a:dk1>
        <a:srgbClr val="000000"/>
      </a:dk1>
      <a:lt1>
        <a:srgbClr val="FFFFFF"/>
      </a:lt1>
      <a:dk2>
        <a:srgbClr val="264C94"/>
      </a:dk2>
      <a:lt2>
        <a:srgbClr val="35A8E0"/>
      </a:lt2>
      <a:accent1>
        <a:srgbClr val="7CB4E2"/>
      </a:accent1>
      <a:accent2>
        <a:srgbClr val="358A7C"/>
      </a:accent2>
      <a:accent3>
        <a:srgbClr val="A5A5A5"/>
      </a:accent3>
      <a:accent4>
        <a:srgbClr val="26693A"/>
      </a:accent4>
      <a:accent5>
        <a:srgbClr val="F6AC10"/>
      </a:accent5>
      <a:accent6>
        <a:srgbClr val="B7283C"/>
      </a:accent6>
      <a:hlink>
        <a:srgbClr val="358A7C"/>
      </a:hlink>
      <a:folHlink>
        <a:srgbClr val="B7283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2022-06-28T05:50:22Z</dcterms:created>
  <dc:creator>User</dc:creator>
</cp:coreProperties>
</file>