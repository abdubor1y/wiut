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470" r:id="rId3"/>
    <p:sldId id="536" r:id="rId4"/>
    <p:sldId id="519" r:id="rId5"/>
    <p:sldId id="520" r:id="rId6"/>
    <p:sldId id="524" r:id="rId7"/>
    <p:sldId id="523" r:id="rId8"/>
    <p:sldId id="527" r:id="rId9"/>
    <p:sldId id="537" r:id="rId10"/>
    <p:sldId id="522" r:id="rId11"/>
    <p:sldId id="531" r:id="rId12"/>
    <p:sldId id="538" r:id="rId13"/>
    <p:sldId id="526" r:id="rId14"/>
    <p:sldId id="51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khongir Karimov" initials="JK" lastIdx="1" clrIdx="0">
    <p:extLst>
      <p:ext uri="{19B8F6BF-5375-455C-9EA6-DF929625EA0E}">
        <p15:presenceInfo xmlns:p15="http://schemas.microsoft.com/office/powerpoint/2012/main" userId="S::jkarimov@wiut.uz::02680dfc-5e3d-42af-903d-045ba31a3cc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8A7C"/>
    <a:srgbClr val="EC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52" y="96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24.09.2025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CDC59-877C-90A9-C652-0BE567D7F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35497"/>
            <a:ext cx="10515600" cy="2387600"/>
          </a:xfrm>
        </p:spPr>
        <p:txBody>
          <a:bodyPr/>
          <a:lstStyle/>
          <a:p>
            <a:r>
              <a:rPr lang="en-US" sz="3200" dirty="0"/>
              <a:t>Fundamentals of programming: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Seminar 2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60ECF-9A55-460F-97DF-64036EE43BD9}"/>
              </a:ext>
            </a:extLst>
          </p:cNvPr>
          <p:cNvSpPr txBox="1"/>
          <p:nvPr/>
        </p:nvSpPr>
        <p:spPr>
          <a:xfrm>
            <a:off x="94002" y="5265189"/>
            <a:ext cx="439410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16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Diyora</a:t>
            </a:r>
            <a:r>
              <a:rPr lang="en-US" sz="16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Sayfutdinova – dsayfutdinova@wiut.uz</a:t>
            </a:r>
          </a:p>
        </p:txBody>
      </p:sp>
    </p:spTree>
    <p:extLst>
      <p:ext uri="{BB962C8B-B14F-4D97-AF65-F5344CB8AC3E}">
        <p14:creationId xmlns:p14="http://schemas.microsoft.com/office/powerpoint/2010/main" val="1575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DE27B49-952E-0AAA-1594-84D8F5E87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0360842" cy="4141016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What is operator precedence? -&gt;  +, -, *, /, //, %, **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What is the difference between int and float?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What is a variable?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What are the augmented assignments?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sz="2400" dirty="0"/>
              <a:t>How can values be stored in computer’s memory?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sz="2400" dirty="0"/>
              <a:t>How can source code be made more readable?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Why can’t computers represent floating-point numbers with infinite precision?</a:t>
            </a:r>
            <a:endParaRPr lang="en-GB" sz="2400" dirty="0"/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/>
              <a:t>What is the difference between integer precision and floating-point precision?</a:t>
            </a:r>
            <a:endParaRPr lang="en-GB" sz="2400" dirty="0"/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GB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GB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Quick Recap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301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E14A3-3B9D-DFBC-9C77-DEB499CD2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F0BB1A1-398B-6E2D-0180-0A6F1AB5A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0360842" cy="4141016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-4**2  -&gt; 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(-4)**2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-&gt;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 10 % 3  - &gt;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-7 % 3 - &gt;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GB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7 % -3 - &gt;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2B1832C-6C87-1915-5EEF-4332828AD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What are the outputs of the following? 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C5D3075-2850-E476-69FF-52B9626FAF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4A0EC2-354D-11E9-44EA-F79DB842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60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DE27B49-952E-0AAA-1594-84D8F5E87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0360842" cy="1705800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-10 // 3  - &gt; </a:t>
            </a:r>
            <a:r>
              <a:rPr lang="en-US" sz="2400" spc="-40" dirty="0">
                <a:solidFill>
                  <a:srgbClr val="FF0000"/>
                </a:solidFill>
                <a:latin typeface="Calibri Light"/>
                <a:cs typeface="Calibri Light"/>
              </a:rPr>
              <a:t>Why is -10 // 3 equal to -4, not -3?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-10 % 3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 &gt;  </a:t>
            </a:r>
            <a:r>
              <a:rPr lang="en-US" sz="2400" spc="-40" dirty="0">
                <a:solidFill>
                  <a:srgbClr val="FF0000"/>
                </a:solidFill>
                <a:latin typeface="Calibri Light"/>
                <a:cs typeface="Calibri Light"/>
              </a:rPr>
              <a:t>Why is -10 % 3 equal to 2, not -1?</a:t>
            </a:r>
            <a:endParaRPr lang="en-GB" sz="2400" spc="-40" dirty="0">
              <a:solidFill>
                <a:srgbClr val="FF0000"/>
              </a:solidFill>
              <a:latin typeface="Calibri Light"/>
              <a:cs typeface="Calibri Light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Explain the following outputs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9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DE27B49-952E-0AAA-1594-84D8F5E87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0360842" cy="4073904"/>
          </a:xfrm>
        </p:spPr>
        <p:txBody>
          <a:bodyPr/>
          <a:lstStyle/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US" sz="2000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X= 25 + 45.6  -&gt;  print(type(x)) ?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X1 = 75.0 // 15.0  -&gt;  print(type(x1)) ?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X2 = 75 // 15  -&gt;  print(type(x2)) ?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X3 = 5 // 2.0  -&gt;  print(type(x3)) ?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What will be the type of result in each case?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16DB3-E0FB-4D74-B3E9-A7E62C9F8686}"/>
              </a:ext>
            </a:extLst>
          </p:cNvPr>
          <p:cNvSpPr/>
          <p:nvPr/>
        </p:nvSpPr>
        <p:spPr>
          <a:xfrm>
            <a:off x="1661020" y="2575420"/>
            <a:ext cx="427839" cy="173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0E0464-AD37-4713-9D75-216C44AEAFA4}"/>
              </a:ext>
            </a:extLst>
          </p:cNvPr>
          <p:cNvSpPr/>
          <p:nvPr/>
        </p:nvSpPr>
        <p:spPr>
          <a:xfrm>
            <a:off x="2384564" y="2575420"/>
            <a:ext cx="536199" cy="173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float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FFAB1F-1181-45F4-ADE5-44636793E50C}"/>
              </a:ext>
            </a:extLst>
          </p:cNvPr>
          <p:cNvSpPr/>
          <p:nvPr/>
        </p:nvSpPr>
        <p:spPr>
          <a:xfrm>
            <a:off x="1983290" y="3429000"/>
            <a:ext cx="536199" cy="173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float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ACEAFB-0D69-4988-AAA1-BAFEF7F1CA1B}"/>
              </a:ext>
            </a:extLst>
          </p:cNvPr>
          <p:cNvSpPr/>
          <p:nvPr/>
        </p:nvSpPr>
        <p:spPr>
          <a:xfrm>
            <a:off x="2920763" y="3428999"/>
            <a:ext cx="536199" cy="173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float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E826C5-4136-4E4F-BA9E-6FAE438DBC34}"/>
              </a:ext>
            </a:extLst>
          </p:cNvPr>
          <p:cNvSpPr/>
          <p:nvPr/>
        </p:nvSpPr>
        <p:spPr>
          <a:xfrm>
            <a:off x="1841383" y="4195871"/>
            <a:ext cx="427839" cy="173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D80618-1B1B-4451-B472-6B778D0D08E4}"/>
              </a:ext>
            </a:extLst>
          </p:cNvPr>
          <p:cNvSpPr/>
          <p:nvPr/>
        </p:nvSpPr>
        <p:spPr>
          <a:xfrm>
            <a:off x="2631691" y="4211273"/>
            <a:ext cx="427839" cy="173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9D8C09-D484-44F3-87DB-8D9EE059234B}"/>
              </a:ext>
            </a:extLst>
          </p:cNvPr>
          <p:cNvSpPr/>
          <p:nvPr/>
        </p:nvSpPr>
        <p:spPr>
          <a:xfrm>
            <a:off x="1823550" y="4962742"/>
            <a:ext cx="427839" cy="173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30DB15-A2FB-4FCF-8BF9-852CB3C95ECA}"/>
              </a:ext>
            </a:extLst>
          </p:cNvPr>
          <p:cNvSpPr/>
          <p:nvPr/>
        </p:nvSpPr>
        <p:spPr>
          <a:xfrm>
            <a:off x="2384564" y="4978143"/>
            <a:ext cx="536199" cy="173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float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174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DE27B49-952E-0AAA-1594-84D8F5E87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499"/>
            <a:ext cx="10360842" cy="3897735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Print(type(16 / 5 ))      - &gt;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Print(type(16 // 5 ))         - &gt;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data type of the result of // and /?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090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DE27B49-952E-0AAA-1594-84D8F5E87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0360842" cy="4073904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1800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Mixed Operators: Precedence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FFF8A-A419-479C-AE50-5A6DE0C778D9}"/>
              </a:ext>
            </a:extLst>
          </p:cNvPr>
          <p:cNvSpPr txBox="1"/>
          <p:nvPr/>
        </p:nvSpPr>
        <p:spPr>
          <a:xfrm>
            <a:off x="714113" y="1714500"/>
            <a:ext cx="107637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15−6÷3+2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(8−2)×5+10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10∗∗(2/20)+5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8//3+6−2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10%2∗∗3+1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4∗∗3/8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51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DE27B49-952E-0AAA-1594-84D8F5E87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0360842" cy="4250072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print(0.1 + 0.2 == 0.3) 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print(Decimal("0.1") + Decimal("0.2") == Decimal ("0.3") 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print(1.2 - 1.0)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print(Decimal("1.2") - Decimal("1.0"))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print(2.3 - 2.0)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print(Decimal("2.3") - Decimal("2.0"))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Precision Issues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439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90AC5-948D-9DDE-04AA-D1A55B6D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946F7D80-7714-E83B-F3C6-11F248DA8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0360842" cy="4250072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print(0.1 + 0.2 == 0.3) 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print(Decimal("0.1") + Decimal("0.2") == Decimal ("0.3") 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print(1.2 - 1.0)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print(Decimal("1.2") - Decimal("1.0"))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print(2.3 - 2.0)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  <a:cs typeface="Times New Roman" panose="02020603050405020304" pitchFamily="18" charset="0"/>
              </a:rPr>
              <a:t>print(Decimal("2.3") - Decimal("2.0"))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FEA1744-8744-8BED-9680-E4E9FC8B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Precision Issues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0CFDD71-5A6B-7D5F-4367-317B217C4A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D87477-96D9-BD57-BBF4-08993180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97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DE27B49-952E-0AAA-1594-84D8F5E87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342655"/>
            <a:ext cx="10360842" cy="2337384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Floats in Python (Binary IEEE-754)</a:t>
            </a:r>
          </a:p>
          <a:p>
            <a:pPr marL="914400" lvl="1" indent="-457200">
              <a:spcBef>
                <a:spcPts val="0"/>
              </a:spcBef>
              <a:spcAft>
                <a:spcPts val="600"/>
              </a:spcAft>
            </a:pPr>
            <a:r>
              <a:rPr lang="en-US" sz="2000" dirty="0"/>
              <a:t>Python’s built-in float type follows the IEEE-754 binary floating-point standard (double precision, 64 bits).</a:t>
            </a:r>
          </a:p>
          <a:p>
            <a:pPr marL="914400" lvl="1" indent="-457200">
              <a:spcBef>
                <a:spcPts val="0"/>
              </a:spcBef>
              <a:spcAft>
                <a:spcPts val="600"/>
              </a:spcAft>
            </a:pPr>
            <a:r>
              <a:rPr lang="en-US" sz="2000" dirty="0"/>
              <a:t>Numbers are stored in base-2 (binary fractions). It uses digits 0–1 each place is a power of 2.</a:t>
            </a:r>
          </a:p>
          <a:p>
            <a:pPr marL="914400" lvl="1" indent="-457200">
              <a:spcBef>
                <a:spcPts val="0"/>
              </a:spcBef>
              <a:spcAft>
                <a:spcPts val="600"/>
              </a:spcAft>
            </a:pPr>
            <a:r>
              <a:rPr lang="en-US" sz="2000" dirty="0"/>
              <a:t>Many simple decimals (like 0.1, 0.2, 1.2, 2.3) cannot be represented exactly in binary, because they would require an infinite binary fraction.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0642"/>
            <a:ext cx="10036628" cy="397924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Precision Issues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010E5-FAC6-4D7D-95BF-189CCDE2A9AA}"/>
              </a:ext>
            </a:extLst>
          </p:cNvPr>
          <p:cNvSpPr txBox="1"/>
          <p:nvPr/>
        </p:nvSpPr>
        <p:spPr>
          <a:xfrm>
            <a:off x="720754" y="4008242"/>
            <a:ext cx="111245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Decimal in Python (Base-10 Exact Representation)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Python’s </a:t>
            </a:r>
            <a:r>
              <a:rPr lang="en-US" sz="2000" dirty="0" err="1"/>
              <a:t>decimal.Decimal</a:t>
            </a:r>
            <a:r>
              <a:rPr lang="en-US" sz="2000" dirty="0"/>
              <a:t> type stores numbers in base-10 instead of base-2. It uses digits 0–9. Each place is a power of 10.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represents values like 0.1, 1.2, 2.3 exactly, because they are terminating decimals in base-10.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28138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CDE27B49-952E-0AAA-1594-84D8F5E87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986" y="1555108"/>
            <a:ext cx="10839813" cy="4241685"/>
          </a:xfrm>
        </p:spPr>
        <p:txBody>
          <a:bodyPr/>
          <a:lstStyle/>
          <a:p>
            <a:r>
              <a:rPr lang="en-US" sz="2000" b="0" dirty="0">
                <a:effectLst/>
                <a:latin typeface="Consolas" panose="020B0609020204030204" pitchFamily="49" charset="0"/>
              </a:rPr>
              <a:t>num1 = input("Enter a number: ")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num2 = input("Enter another number: ")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           </a:t>
            </a:r>
          </a:p>
          <a:p>
            <a:r>
              <a:rPr lang="en-US" sz="2000" b="0" dirty="0">
                <a:effectLst/>
                <a:latin typeface="Consolas" panose="020B0609020204030204" pitchFamily="49" charset="0"/>
              </a:rPr>
              <a:t>print(f" Sum is: {num1} + {num2}")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US" sz="20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Debug the code</a:t>
            </a:r>
          </a:p>
          <a:p>
            <a:endParaRPr lang="en-US" sz="2000" b="0" dirty="0"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Debug &amp; fix the error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08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6B8A1-49EF-7A73-7800-C9EEB1BD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58BF929-0935-EA7C-A8DB-DDB33F92E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499"/>
            <a:ext cx="10360842" cy="357895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celsius</a:t>
            </a:r>
            <a:r>
              <a:rPr lang="en-US" dirty="0">
                <a:latin typeface="Consolas" panose="020B0609020204030204" pitchFamily="49" charset="0"/>
              </a:rPr>
              <a:t> = float(input("Enter temperature in Celsius: "))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fahrenheit</a:t>
            </a:r>
            <a:r>
              <a:rPr lang="en-US" dirty="0">
                <a:latin typeface="Consolas" panose="020B0609020204030204" pitchFamily="49" charset="0"/>
              </a:rPr>
              <a:t> = (9/5) * </a:t>
            </a:r>
            <a:r>
              <a:rPr lang="en-US" dirty="0" err="1">
                <a:latin typeface="Consolas" panose="020B0609020204030204" pitchFamily="49" charset="0"/>
              </a:rPr>
              <a:t>celsius</a:t>
            </a:r>
            <a:r>
              <a:rPr lang="en-US" dirty="0">
                <a:latin typeface="Consolas" panose="020B0609020204030204" pitchFamily="49" charset="0"/>
              </a:rPr>
              <a:t> + 32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print(f"{</a:t>
            </a:r>
            <a:r>
              <a:rPr lang="en-US" dirty="0" err="1">
                <a:latin typeface="Consolas" panose="020B0609020204030204" pitchFamily="49" charset="0"/>
              </a:rPr>
              <a:t>celsius</a:t>
            </a:r>
            <a:r>
              <a:rPr lang="en-US" dirty="0">
                <a:latin typeface="Consolas" panose="020B0609020204030204" pitchFamily="49" charset="0"/>
              </a:rPr>
              <a:t>} °C = {</a:t>
            </a:r>
            <a:r>
              <a:rPr lang="en-US" dirty="0" err="1">
                <a:latin typeface="Consolas" panose="020B0609020204030204" pitchFamily="49" charset="0"/>
              </a:rPr>
              <a:t>fahrenheit</a:t>
            </a:r>
            <a:r>
              <a:rPr lang="en-US" dirty="0">
                <a:latin typeface="Consolas" panose="020B0609020204030204" pitchFamily="49" charset="0"/>
              </a:rPr>
              <a:t>} °F")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56B275E-D800-E429-2DD6-DBD0E7FB8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Debugging &amp; Errors 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80E86E-B849-A32C-49AC-7E61E0B778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8788F5-8ACF-6D3D-F5BA-CA4B8B42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703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</p:spPr>
        <p:txBody>
          <a:bodyPr/>
          <a:lstStyle/>
          <a:p>
            <a:r>
              <a:rPr lang="en-US" sz="3200" spc="-40" dirty="0">
                <a:latin typeface="Calibri Light"/>
                <a:cs typeface="Calibri Light"/>
              </a:rPr>
              <a:t>Augmented assignments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2C71F-8D2A-4D6C-98E2-3A29EFFBE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693" y="2222283"/>
            <a:ext cx="5444155" cy="315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29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95EA0-20AC-3B4E-920D-9DC71F775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19B70EAB-6C1A-C92D-4843-3F8C94D601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Computing Department</a:t>
            </a:r>
            <a:endParaRPr lang="ru-RU" dirty="0"/>
          </a:p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D606FE-63A0-1CAA-ECCD-A8A4B757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EBD9851-A069-4F90-85A7-C163D82D15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D93BBE5-2BDB-429F-B481-8260B5FDF4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547217-B616-57EA-CD97-1BC7011C7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6F0DC4-EA60-F7BC-2EF1-A37B910B0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4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4606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6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7CB4E2"/>
      </a:accent1>
      <a:accent2>
        <a:srgbClr val="358A7C"/>
      </a:accent2>
      <a:accent3>
        <a:srgbClr val="35A8E0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6157</TotalTime>
  <Words>682</Words>
  <Application>Microsoft Office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Тема Office</vt:lpstr>
      <vt:lpstr>Fundamentals of programming:  Seminar 2 </vt:lpstr>
      <vt:lpstr>Quick Recap</vt:lpstr>
      <vt:lpstr>What are the outputs of the following? </vt:lpstr>
      <vt:lpstr>Explain the following outputs</vt:lpstr>
      <vt:lpstr>What will be the type of result in each case?</vt:lpstr>
      <vt:lpstr>What is the data type of the result of // and /?</vt:lpstr>
      <vt:lpstr>Mixed Operators: Precedence</vt:lpstr>
      <vt:lpstr>Precision Issues</vt:lpstr>
      <vt:lpstr>Precision Issues</vt:lpstr>
      <vt:lpstr>Precision Issues</vt:lpstr>
      <vt:lpstr>Debug &amp; fix the error</vt:lpstr>
      <vt:lpstr>Debugging &amp; Errors </vt:lpstr>
      <vt:lpstr>Augmented assignments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Diyora Sayfutdinova</cp:lastModifiedBy>
  <cp:revision>281</cp:revision>
  <dcterms:created xsi:type="dcterms:W3CDTF">2022-06-28T05:50:22Z</dcterms:created>
  <dcterms:modified xsi:type="dcterms:W3CDTF">2025-09-24T10:11:07Z</dcterms:modified>
</cp:coreProperties>
</file>