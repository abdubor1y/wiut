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82" r:id="rId12"/>
    <p:sldId id="283" r:id="rId13"/>
    <p:sldId id="267" r:id="rId14"/>
    <p:sldId id="268" r:id="rId15"/>
    <p:sldId id="284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2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398D4-6302-45CA-9006-65E0428287E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FBE8F-F450-4E58-B29D-A4BD8A6F9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0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C10D9-363C-47F3-8B7C-6C959CA7277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C8662E1-90C6-4DCF-A239-3B9855220D7C}" type="slidenum">
              <a:t>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6CABE-92D7-475C-8FD3-E1E37BE3EB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7B75A-0652-467A-95BB-34D7D33BF4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836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73F0-A59C-4CA6-862C-24FFC38D758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DE22E34-8AE8-4169-A956-17DD10539AE1}" type="slidenum">
              <a:t>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93C18-11E6-4185-A45C-71C2ECA1571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438F0-5519-4B14-9409-91EA04B9919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939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D1F3F-0B60-4267-8337-E6DE2CBC80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DB0308A-D922-4124-A41B-077A4FB62E1B}" type="slidenum">
              <a:t>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08131-C777-415D-A9F8-16D9378BC93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A786D-2E1A-4607-AABA-64E2EBAB5CD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622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51AA5-E42F-4209-9D7E-2B451B51958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5780AE2-BD0A-4A2A-AA5F-2F9AA671A14C}" type="slidenum">
              <a:t>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9A6A60-E22F-438F-A207-6F11A9F3FE6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F30FC-8B29-4503-BD61-028E7E6DDDA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275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766C1-0846-4AB4-A434-4D308BD359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374D296-BF86-4600-BA93-1BF4EEC5E432}" type="slidenum">
              <a:t>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8A7B3-9586-467A-A9BD-3ABA93B7A3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A2598-DE98-4188-AF93-DE9B3D5874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358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F1346-01A0-4231-878E-1D7C28DC55C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60E1EF6-5A4F-44AA-AED7-9B1239FAA02D}" type="slidenum">
              <a:t>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D2875-CB5A-4A4A-9CD8-62BE467CD4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67118-E1FA-4DD7-AFFC-C1018786D7A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993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81CAB-FF50-46CF-B6AD-E886C5E367F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E41F12-3717-4371-BA3C-8D542A02708F}" type="slidenum">
              <a:t>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CB92B-05EA-4A5E-ACD1-6C63790D90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88D9C-884B-4103-8710-5C369A67BC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435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4CF61-047B-47EA-989D-B749DB4081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E57513-B8F7-473E-972E-CF146DD08F6C}" type="slidenum">
              <a:t>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5FB67-05E6-4F3C-95C0-88E675A1BBA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700E0-E5D7-4CB1-ACAD-67BD3353A7B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797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CEF91-BBA1-4523-B3BC-396D33A7C37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927A27B-1CF5-44A4-8504-15D450190C32}" type="slidenum">
              <a:t>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A2C0B-FA32-490C-A828-4DAF0640D5B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14B85-E8FE-4CAB-ABBA-42CE3770EF4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488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9E876-A880-4BC4-BD1F-8E867926A2E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A9B6592-804D-4B11-A4E5-8EBF2A93BD49}" type="slidenum">
              <a:t>10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9D2DA-30EB-45D1-B60B-E8912A8B996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85D6C-C110-4C5E-8B16-0264C105DE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883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D001F-0AE0-406A-9820-5AC6F80C94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3607026-C54D-4108-BCC4-D6F3AD06BFE8}" type="slidenum">
              <a:t>12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5F58B-330C-4B0B-84BF-68144A0881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516AE-142D-4C40-8A58-4558F9AFC3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628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4D7FF-32FA-4127-BC7B-DD03B51B6E2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250AD67-8081-4FD4-ACEB-EE334C5D41C9}" type="slidenum">
              <a:t>13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53381-894B-435D-8071-A6EB814A6A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E8E46-1465-4CA4-BBAB-9EC3E4FB31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921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BBF9B-4143-4337-A162-F142C571C9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E499A1D-7C0E-42F9-92C6-40FAEDB98BC1}" type="slidenum">
              <a:t>14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5F73E-7A3B-47E3-8828-C01B9A06A1F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DBE62-7A70-4763-A906-6A5C6B468EA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093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450C6-51D9-4126-9576-6F63A5B32DD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629DE79-B22F-49E5-A1A9-59D90642721B}" type="slidenum">
              <a:t>16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3A935-B387-45C8-B886-D27F2C869A7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1F415-EDAB-44A4-8496-2CC8B0E8C1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217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556C9-D766-4769-B6C7-DA55627DA48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5482F7B-EDC5-48B4-BDCF-4AE4DA15E8ED}" type="slidenum">
              <a:t>17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64DFF-1E29-47EB-B450-BEB97FD4966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6C20E-9D93-4EA9-99D4-33D8527A8B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244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F2339-19F1-4965-B9BA-A63AA4958E2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7C4E9B0-0120-444A-9D0E-B1F9828DAEF9}" type="slidenum">
              <a:t>18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46C1E-C830-4544-BA14-949CAAA04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7B6E-A64B-4993-B2EB-859B003A63F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2868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9E7FC-9276-493B-8AFB-B452650EB4C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31BEDB0-7DB3-459F-A7ED-D8A289B9CE2D}" type="slidenum">
              <a:t>19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C98AF-C1E2-440A-A2FC-700F45419F6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BFD40B-EAF5-4B77-A32B-CEDEC8C155B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6551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2C45A-7245-483A-9926-0D00D2E47F8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EBD4E9F-0ECB-4FE9-99BB-98A38B913B02}" type="slidenum">
              <a:t>20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921DF-6D2D-414A-89FB-1999164FF91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01421-D896-42E0-800C-FCCC9C1DE2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880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0D35-1D97-448F-A1D0-DC35D760163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35E68E3-8C1E-4B59-954D-999F647E646A}" type="slidenum">
              <a:t>21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DA9B7-F8EC-467C-8EB8-2A29A722EBB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4F826-5CFE-4F5E-AAFB-5C5F23CAAB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57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CA109-675F-429B-AC9F-1C587DB4700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020F26E-FFAE-45C1-B8E7-26A3DCCDBB1D}" type="slidenum">
              <a:t>22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0194E-3E95-4DAE-A1D2-DD7A298A45D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34B1C-0A88-410F-8BF3-AF89C3D8DDF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159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7BE04-C830-4739-8612-1CD09EFEA4E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4D8B226-A8C0-447A-AA47-073027D2F4AE}" type="slidenum">
              <a:t>23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BFBE5-30B6-4592-811A-68DDC25A72C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BA166-4DFD-4ED3-B246-6AD97267DE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3321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05E36-E992-40B4-A605-9426835F7C3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2865078-58A7-49E5-8F75-32D5F9EB6FF2}" type="slidenum">
              <a:t>24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DD80D-5295-49FF-88B2-04B32BBB80C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15A83-AD89-4476-A931-21335C4FAB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838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18A7-1F23-4D32-8E1A-142FE7ACBA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5470B54-1C51-4A34-99BF-B4FD5F312C4D}" type="slidenum">
              <a:t>25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23DBB-E6C9-4E5A-9465-277E8D05AA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BEDDA-4ABD-45C5-B782-BB9D85A1E0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7629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BB6F4-E8D3-49F3-9C3D-00D7F11A2B1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618E5F1-4472-4458-AD1F-90D6872498A3}" type="slidenum">
              <a:t>26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F1008-A242-4C39-86EA-264C80C369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1A86D-8981-429C-8E51-78A535473A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6958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C954E-035C-44B8-9A4D-84689475B43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F93E857-3EBF-462B-8E3B-9179E273BF8E}" type="slidenum">
              <a:t>27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2AB06-AE03-4808-9863-FEF40BA5C83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985F7-F38B-43DB-82DA-4F7EFA619C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8492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104C0-572F-4151-A784-0967E6C1061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C3B9F91-6EC4-4D59-93B4-AC4CC76C5CF6}" type="slidenum">
              <a:t>28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79581-73E3-4CC2-B748-F4E4297BE22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5E217-B561-4928-A001-8003060E1B9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20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5DDD5-CD89-41BC-9881-F406A3735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5FFAD-B021-4360-A24A-6617B02B1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6787-C766-46DA-B113-E6895FF2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2808C-A9B8-4902-B345-1712494C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D2DD-96FA-404B-BC9F-BD30448A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2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BB3A-EC7E-4532-B795-B9B41256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26CD6-8324-4330-997A-C82000ADB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1FF8B-10D0-4EB7-ABC5-62BF9EC1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780A8-008C-472E-8A45-D06A59298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022C1-3BBC-45FB-A27F-6A5D78D6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3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6C24-01D1-439E-BAB2-EB4619A8A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A7405-D94A-4D17-BB9A-A120D1443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0C644-0F7D-4732-BD6C-5E6B8C1E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22D1F-59B5-4160-8A80-291FB5736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6017C-EBBE-4158-85F2-300AD934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2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91CBC-D608-4A1A-9942-9475AA40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D5017-3DC5-4E47-8D0B-DA6435FA9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673DE-202B-4848-BFA2-79949FAA0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4AE70-6006-4D83-AAA4-A310AC3F9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E7F86-C67B-4621-921C-69E0C373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EC1B1-250F-4A60-9DCA-F0411265A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2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6C8A-3BA2-48BB-A5EB-61DA4F920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62FA2-AD37-41CA-BAA7-7B47F1F5B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3C0A9-D213-46E2-A6B7-915A9ABF9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A287E7-D0CA-426D-9CB8-E15D5EE6D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90D53C-60E4-4BA9-B645-27FA50847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0FF317-126F-4DD4-98CA-FF2A6592E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715B1A-E816-4C31-908E-8C5D8973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8B50A-0E5F-4807-9012-20CE7CAE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0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5001-6FCD-4681-A2F0-DD9A2DDD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2546DF-1ADB-43E2-8642-1D1BB1499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3E69B2-38E2-4125-AB3D-64625BB14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DEC87-4032-43DD-8541-EC8D29432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94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43A30-5F5E-4B9C-951D-E19A046FF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A39EC-8CF1-4E9C-B72D-9F9B2EFE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445F6-A7D6-447B-B998-34D37404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76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62559-40ED-4445-B628-7C436AF6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0472F-3A5E-4F9F-AA7C-CE1BCE033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A0BF8-1B91-46D7-B561-27AF7B0F4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84B1E-97E4-4890-89B2-9E6B2775B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709D2-BB7F-44C4-8ABC-D097D5237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0019D-ECCF-4D85-B67B-0E969896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79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8E7B-B221-4EE5-B255-FFAA80E16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7DFB2-787D-4B78-B7D4-E97BA8E9C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E14D7-82FE-4BA6-A9F0-7627DCF1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062C0-ED2E-4B4E-B620-79727BCC1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B2AD2-8F7B-46A7-BF79-3A0EA7E3C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91933-1CE6-4E64-9E94-7B893F63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23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3300-7A91-43FC-9EC8-CBBB0A5C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38A87-D3D6-4DE1-880C-0727D7ADD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76620-C196-4E30-A86D-78F2B3B0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77199-9762-4FAA-9808-4E388846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9E215-7248-4B31-8072-1950B757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1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F46853-1835-4A35-ABCD-F7D17F7B9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8D589-B9C0-44B9-9C49-0937E4EF5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0D678-C7C2-4DCD-8FE0-2BF9FB16C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6895A-23F5-45DC-953F-B7C33423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46C9F-1721-4E7C-B4B2-3164F4DD6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39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990F6A-D827-4893-9E38-BBC5A082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59C49-7ED2-4B94-9FF6-DEBCF9256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7A2B9-6638-4B11-B4BB-4B99BD1B9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EDBCD-F19A-4ADF-BDFB-0B70663BF4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C80A1-0709-41A6-B70C-04DA81388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24A66-8288-404B-A14C-B78875A5A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4635C-3BE2-45A1-8D40-407CC9C3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EE94-308D-4A5F-8B5F-920C3E62FE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2494134"/>
            <a:ext cx="8229627" cy="1145009"/>
          </a:xfrm>
        </p:spPr>
        <p:txBody>
          <a:bodyPr>
            <a:normAutofit fontScale="90000"/>
          </a:bodyPr>
          <a:lstStyle/>
          <a:p>
            <a:pPr lvl="0"/>
            <a:r>
              <a:rPr lang="en-GB" dirty="0"/>
              <a:t> FOU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DAA149-AA9D-47E3-B60A-314A10250EA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980739" y="5261595"/>
            <a:ext cx="8229627" cy="480131"/>
          </a:xfrm>
        </p:spPr>
        <p:txBody>
          <a:bodyPr anchor="ctr">
            <a:spAutoFit/>
          </a:bodyPr>
          <a:lstStyle/>
          <a:p>
            <a:pPr lvl="0"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0B4C6-53AA-4B3E-B259-6F723FB42CF6}"/>
              </a:ext>
            </a:extLst>
          </p:cNvPr>
          <p:cNvSpPr txBox="1"/>
          <p:nvPr/>
        </p:nvSpPr>
        <p:spPr>
          <a:xfrm>
            <a:off x="5012807" y="3955258"/>
            <a:ext cx="2165820" cy="564050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="ctr" anchorCtr="1" compatLnSpc="0">
            <a:spAutoFit/>
          </a:bodyPr>
          <a:lstStyle/>
          <a:p>
            <a:pPr algn="ctr" hangingPunct="0"/>
            <a:r>
              <a:rPr lang="en-GB" sz="3266" b="1">
                <a:latin typeface="Liberation Sans" pitchFamily="18"/>
                <a:ea typeface="DejaVu Sans" pitchFamily="2"/>
                <a:cs typeface="FreeSans" pitchFamily="2"/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98189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A419-EB12-4A5B-97FF-D1FB3EA6DD1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In this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737B6-D124-4F4E-8646-EA962B395C4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What are the advantages of using functions?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is the difference between a parameter and an argument?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are some built-in functions Python provides?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get help about a function?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define a function?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is indentation and how important is it?</a:t>
            </a:r>
          </a:p>
        </p:txBody>
      </p:sp>
    </p:spTree>
    <p:extLst>
      <p:ext uri="{BB962C8B-B14F-4D97-AF65-F5344CB8AC3E}">
        <p14:creationId xmlns:p14="http://schemas.microsoft.com/office/powerpoint/2010/main" val="355307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935D3-53EA-4C08-98D8-288605FEE8E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26248-58DD-4771-97F0-ACCF525655D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Mathematicians define functions instead of repeatedly writing equations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Advantages: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There is no repetition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Expressions are much easier to read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An example (in maths):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Function definition: 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f(x) = 3x² + 5, g(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x,y,z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)=(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x+y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/)z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Function usage: 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f(2); f(10); g(1,3,7) + f(2)</a:t>
            </a:r>
          </a:p>
        </p:txBody>
      </p:sp>
    </p:spTree>
    <p:extLst>
      <p:ext uri="{BB962C8B-B14F-4D97-AF65-F5344CB8AC3E}">
        <p14:creationId xmlns:p14="http://schemas.microsoft.com/office/powerpoint/2010/main" val="286011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A108-882D-4A4B-9FCE-0C565ABA5F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1"/>
            <a:ext cx="8229627" cy="717049"/>
          </a:xfrm>
        </p:spPr>
        <p:txBody>
          <a:bodyPr/>
          <a:lstStyle/>
          <a:p>
            <a:pPr lvl="0"/>
            <a:r>
              <a:rPr lang="en-GB" dirty="0"/>
              <a:t>Functions in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22AF2-2A09-445F-9E51-F15E75D0131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717050"/>
            <a:ext cx="8229627" cy="3977484"/>
          </a:xfrm>
        </p:spPr>
        <p:txBody>
          <a:bodyPr>
            <a:normAutofit fontScale="9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Computer scientists also don’t like to repeat work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Python provides many built-in functions, like </a:t>
            </a:r>
            <a:r>
              <a:rPr lang="en-GB" dirty="0">
                <a:latin typeface="Courier 10 Pitch" pitchFamily="17"/>
              </a:rPr>
              <a:t>abs</a:t>
            </a:r>
            <a:r>
              <a:rPr lang="en-GB" dirty="0"/>
              <a:t>, that returns the absolute value of a number: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abs(-5)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5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abs(1.5)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1.5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The syntax for using a function is the following: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function_name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(arguments)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If the function requires more than one argument, they should be separated by commas</a:t>
            </a:r>
          </a:p>
        </p:txBody>
      </p:sp>
    </p:spTree>
    <p:extLst>
      <p:ext uri="{BB962C8B-B14F-4D97-AF65-F5344CB8AC3E}">
        <p14:creationId xmlns:p14="http://schemas.microsoft.com/office/powerpoint/2010/main" val="127124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2469-FC09-4916-B925-3695B04F6B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Built-in Python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8A255-6B2B-487E-BC44-421FA15AE15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Find the list here: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Liberation Sans" pitchFamily="18"/>
                <a:hlinkClick r:id="rId3"/>
              </a:rPr>
              <a:t>https://docs.python.org/3/library/functions.html</a:t>
            </a:r>
          </a:p>
          <a:p>
            <a:pPr lvl="0">
              <a:buSzPct val="45000"/>
              <a:buFont typeface="StarSymbol"/>
              <a:buChar char="●"/>
            </a:pPr>
            <a:endParaRPr lang="en-GB"/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Another option using Python: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dir(__builtins__)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Look at the lower case names without strange characters</a:t>
            </a:r>
          </a:p>
        </p:txBody>
      </p:sp>
    </p:spTree>
    <p:extLst>
      <p:ext uri="{BB962C8B-B14F-4D97-AF65-F5344CB8AC3E}">
        <p14:creationId xmlns:p14="http://schemas.microsoft.com/office/powerpoint/2010/main" val="2383711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BA3C-3346-4ED8-B83F-3DB3DFBB946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2DC2A-8F6D-430B-885A-8F7589C1C6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Calculate the peak amplitude of the temperature of a day (</a:t>
            </a:r>
            <a:r>
              <a:rPr lang="en-GB">
                <a:latin typeface="MathJax_Math" pitchFamily="18"/>
              </a:rPr>
              <a:t>A = ||t</a:t>
            </a:r>
            <a:r>
              <a:rPr lang="en-GB" baseline="-33000">
                <a:latin typeface="MathJax_Math" pitchFamily="18"/>
              </a:rPr>
              <a:t>min</a:t>
            </a:r>
            <a:r>
              <a:rPr lang="en-GB">
                <a:latin typeface="MathJax_Math" pitchFamily="18"/>
              </a:rPr>
              <a:t> – t</a:t>
            </a:r>
            <a:r>
              <a:rPr lang="en-GB" baseline="-33000">
                <a:latin typeface="MathJax_Math" pitchFamily="18"/>
              </a:rPr>
              <a:t>max</a:t>
            </a:r>
            <a:r>
              <a:rPr lang="en-GB">
                <a:latin typeface="MathJax_Math" pitchFamily="18"/>
              </a:rPr>
              <a:t>||</a:t>
            </a:r>
            <a:r>
              <a:rPr lang="en-GB"/>
              <a:t>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Solution: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temp_min = -5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temp_max = 30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amplitude = abs(temp_min – temp_max)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amplitude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35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was the expression evaluated?</a:t>
            </a:r>
          </a:p>
        </p:txBody>
      </p:sp>
    </p:spTree>
    <p:extLst>
      <p:ext uri="{BB962C8B-B14F-4D97-AF65-F5344CB8AC3E}">
        <p14:creationId xmlns:p14="http://schemas.microsoft.com/office/powerpoint/2010/main" val="231023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22ABB-ECFB-480B-8E23-2E0D23A822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Expression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EB05-C0FA-4DF5-B755-5BE6BFF42FB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What would be the order of evaluation of the following expressions?</a:t>
            </a:r>
          </a:p>
          <a:p>
            <a:pPr lvl="1" hangingPunct="0">
              <a:spcBef>
                <a:spcPts val="1286"/>
              </a:spcBef>
              <a:buNone/>
            </a:pPr>
            <a:endParaRPr lang="en-GB" sz="2903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pow(abs(-2), round(2.5))</a:t>
            </a:r>
          </a:p>
          <a:p>
            <a:pPr lvl="1" hangingPunct="0">
              <a:spcBef>
                <a:spcPts val="1286"/>
              </a:spcBef>
              <a:buNone/>
            </a:pPr>
            <a:endParaRPr lang="en-GB" sz="2903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pow(2, 3) + abs(round(-2.1))</a:t>
            </a:r>
          </a:p>
          <a:p>
            <a:pPr lvl="1" hangingPunct="0">
              <a:spcBef>
                <a:spcPts val="1286"/>
              </a:spcBef>
              <a:buNone/>
            </a:pPr>
            <a:endParaRPr lang="en-GB" sz="2903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total = pow(2 – 1, abs(-20)) + 1</a:t>
            </a:r>
          </a:p>
        </p:txBody>
      </p:sp>
    </p:spTree>
    <p:extLst>
      <p:ext uri="{BB962C8B-B14F-4D97-AF65-F5344CB8AC3E}">
        <p14:creationId xmlns:p14="http://schemas.microsoft.com/office/powerpoint/2010/main" val="3552200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975E-1BF8-44D2-B6DC-693EC2E849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Type conversion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75C7D-3BA4-4165-B178-77469839F1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Python provides functions to allow the conversion between types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Those have the same name as the types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Examples: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int(2.6)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float(2)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2.0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float(int(2.6))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????</a:t>
            </a:r>
          </a:p>
        </p:txBody>
      </p:sp>
    </p:spTree>
    <p:extLst>
      <p:ext uri="{BB962C8B-B14F-4D97-AF65-F5344CB8AC3E}">
        <p14:creationId xmlns:p14="http://schemas.microsoft.com/office/powerpoint/2010/main" val="2514425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4461-A102-4320-A3F5-A3A1768F642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Getting help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750DD-EC7E-49D4-99CC-681253C7868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When we don’t know how to use a function, we can use function </a:t>
            </a:r>
            <a:r>
              <a:rPr lang="en-GB">
                <a:latin typeface="Courier 10 Pitch" pitchFamily="17"/>
              </a:rPr>
              <a:t>help</a:t>
            </a:r>
            <a:r>
              <a:rPr lang="en-GB"/>
              <a:t> to ask about it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help(pow)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Help on built-in function pow in module builtins: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pow(x, y, z=None, /)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   Equivalent to x**y (with two arguments) or x**y % z (with three arguments)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First line: which function is being described, and to which module it belongs to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Second line: how to call the function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Third line: description of the function</a:t>
            </a:r>
          </a:p>
        </p:txBody>
      </p:sp>
    </p:spTree>
    <p:extLst>
      <p:ext uri="{BB962C8B-B14F-4D97-AF65-F5344CB8AC3E}">
        <p14:creationId xmlns:p14="http://schemas.microsoft.com/office/powerpoint/2010/main" val="1790703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E9D0-5CB8-41E5-BA50-D772C5133D4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EA690-AC82-4041-A2BD-4EE694A2891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How to round a number to its nearest hundredth (e.g. 2.3499 → 2.35)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Solution: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help(round)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Help on built-in function round in module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builtins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round(…)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   round(number[,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ndigits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]) -&gt; number    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16575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AA5486-B449-4C94-A809-9B243EDB2C0A}"/>
              </a:ext>
            </a:extLst>
          </p:cNvPr>
          <p:cNvSpPr/>
          <p:nvPr/>
        </p:nvSpPr>
        <p:spPr>
          <a:xfrm>
            <a:off x="1105392" y="726131"/>
            <a:ext cx="9144960" cy="4893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hangingPunct="0">
              <a:spcBef>
                <a:spcPts val="1286"/>
              </a:spcBef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round(…)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   round(number[,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ndigits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]) -&gt; number    </a:t>
            </a:r>
          </a:p>
          <a:p>
            <a:pPr lvl="1" hangingPunct="0">
              <a:spcBef>
                <a:spcPts val="1286"/>
              </a:spcBef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   Round a number to a given precision in decimal digits (default 0 digits). This returns an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int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when called with one argument, otherwise the same type as the number.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ndigits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may be negative.</a:t>
            </a:r>
          </a:p>
          <a:p>
            <a:pPr lvl="1" hangingPunct="0">
              <a:spcBef>
                <a:spcPts val="1286"/>
              </a:spcBef>
            </a:pPr>
            <a:r>
              <a:rPr lang="en-GB" sz="2903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round(2.3499, 2)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2.35</a:t>
            </a:r>
          </a:p>
        </p:txBody>
      </p:sp>
    </p:spTree>
    <p:extLst>
      <p:ext uri="{BB962C8B-B14F-4D97-AF65-F5344CB8AC3E}">
        <p14:creationId xmlns:p14="http://schemas.microsoft.com/office/powerpoint/2010/main" val="3322640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6872B-5DF8-4BF0-8B31-FBC7EF1B749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Heads up!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28EF2-438D-44F8-AEE5-3872491D6D9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The most common way of rounding 0.5 is up (e.g. 2.5 → 3)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If we have lots of 0.5s (e.g. 1.5, 3.5, 7.5), rounding up, results in bias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We could round up or down randomly, but there are many other ways of rounding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Python uses Round to Even, which results in rounding a number to its nearest even if the number is half way between both (e.g 2.5 → 2)</a:t>
            </a:r>
          </a:p>
        </p:txBody>
      </p:sp>
    </p:spTree>
    <p:extLst>
      <p:ext uri="{BB962C8B-B14F-4D97-AF65-F5344CB8AC3E}">
        <p14:creationId xmlns:p14="http://schemas.microsoft.com/office/powerpoint/2010/main" val="46323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A7F07-F0C8-495B-95C3-88E66501B66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9544" y="221639"/>
            <a:ext cx="8229627" cy="701731"/>
          </a:xfrm>
        </p:spPr>
        <p:txBody>
          <a:bodyPr>
            <a:spAutoFit/>
          </a:bodyPr>
          <a:lstStyle/>
          <a:p>
            <a:pPr lvl="0"/>
            <a:r>
              <a:rPr lang="en-GB" dirty="0"/>
              <a:t>Technical note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FCD6B-F9D1-4B0F-9BE4-80B4673AC50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1187" y="873733"/>
            <a:ext cx="8229627" cy="3977484"/>
          </a:xfrm>
        </p:spPr>
        <p:txBody>
          <a:bodyPr>
            <a:normAutofit fontScale="85000" lnSpcReduction="1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Literals, functions, variables are also called objects (in Python)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Every object has an id (kind of where it “lives” in memory)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To know the id of any object, use the function </a:t>
            </a:r>
            <a:r>
              <a:rPr lang="en-GB" dirty="0">
                <a:latin typeface="Courier 10 Pitch" pitchFamily="17"/>
              </a:rPr>
              <a:t>id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age = 10	# a variable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id(age)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10916032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id(10) 	# a literal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10916032			# WHAT?!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id(abs) 	# a function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139989436034720</a:t>
            </a:r>
          </a:p>
        </p:txBody>
      </p:sp>
    </p:spTree>
    <p:extLst>
      <p:ext uri="{BB962C8B-B14F-4D97-AF65-F5344CB8AC3E}">
        <p14:creationId xmlns:p14="http://schemas.microsoft.com/office/powerpoint/2010/main" val="4063611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9872-B296-42F7-B970-D35207AC93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1187" y="1"/>
            <a:ext cx="8229627" cy="582628"/>
          </a:xfrm>
        </p:spPr>
        <p:txBody>
          <a:bodyPr>
            <a:normAutofit fontScale="90000"/>
          </a:bodyPr>
          <a:lstStyle/>
          <a:p>
            <a:pPr lvl="0"/>
            <a:r>
              <a:rPr lang="en-GB" dirty="0"/>
              <a:t>Defining a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2E49A-C8FD-4BE2-849B-B6460F5788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en-GB" b="1" dirty="0">
                <a:latin typeface="Courier 10 Pitch" pitchFamily="17"/>
              </a:rPr>
              <a:t>def</a:t>
            </a:r>
            <a:r>
              <a:rPr lang="en-GB" dirty="0">
                <a:latin typeface="Courier 10 Pitch" pitchFamily="17"/>
              </a:rPr>
              <a:t> </a:t>
            </a:r>
            <a:r>
              <a:rPr lang="en-GB" dirty="0" err="1">
                <a:latin typeface="Courier 10 Pitch" pitchFamily="17"/>
              </a:rPr>
              <a:t>convert_to_celsius</a:t>
            </a:r>
            <a:r>
              <a:rPr lang="en-GB" dirty="0">
                <a:latin typeface="Courier 10 Pitch" pitchFamily="17"/>
              </a:rPr>
              <a:t>(</a:t>
            </a:r>
            <a:r>
              <a:rPr lang="en-GB" dirty="0" err="1">
                <a:latin typeface="Courier 10 Pitch" pitchFamily="17"/>
              </a:rPr>
              <a:t>fahrenheit</a:t>
            </a:r>
            <a:r>
              <a:rPr lang="en-GB" dirty="0">
                <a:latin typeface="Courier 10 Pitch" pitchFamily="17"/>
              </a:rPr>
              <a:t>):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	</a:t>
            </a:r>
            <a:r>
              <a:rPr lang="en-GB" b="1" dirty="0">
                <a:latin typeface="Courier 10 Pitch" pitchFamily="17"/>
              </a:rPr>
              <a:t>return</a:t>
            </a:r>
            <a:r>
              <a:rPr lang="en-GB" dirty="0">
                <a:latin typeface="Courier 10 Pitch" pitchFamily="17"/>
              </a:rPr>
              <a:t> (</a:t>
            </a:r>
            <a:r>
              <a:rPr lang="en-GB" dirty="0" err="1">
                <a:latin typeface="Courier 10 Pitch" pitchFamily="17"/>
              </a:rPr>
              <a:t>fahrenheit</a:t>
            </a:r>
            <a:r>
              <a:rPr lang="en-GB" dirty="0">
                <a:latin typeface="Courier 10 Pitch" pitchFamily="17"/>
              </a:rPr>
              <a:t> – 32) * 5 / 9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First line: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Starts with keyword 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def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Followed by the name we want to give the function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Followed by the parameter names between parenthesis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Followed by a colon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F4E3ABF-B7C7-4E72-B282-16B88722BC6B}"/>
              </a:ext>
            </a:extLst>
          </p:cNvPr>
          <p:cNvSpPr/>
          <p:nvPr/>
        </p:nvSpPr>
        <p:spPr>
          <a:xfrm>
            <a:off x="7447781" y="3298366"/>
            <a:ext cx="1632927" cy="26126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algn="ctr" hangingPunct="0"/>
            <a: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  <a:t>Very important!!!</a:t>
            </a:r>
          </a:p>
        </p:txBody>
      </p:sp>
    </p:spTree>
    <p:extLst>
      <p:ext uri="{BB962C8B-B14F-4D97-AF65-F5344CB8AC3E}">
        <p14:creationId xmlns:p14="http://schemas.microsoft.com/office/powerpoint/2010/main" val="3463992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04B76D-BAF2-4074-B682-947DA54B03F2}"/>
              </a:ext>
            </a:extLst>
          </p:cNvPr>
          <p:cNvSpPr/>
          <p:nvPr/>
        </p:nvSpPr>
        <p:spPr>
          <a:xfrm>
            <a:off x="1621939" y="239018"/>
            <a:ext cx="8871722" cy="344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sz="3992" dirty="0"/>
              <a:t>Second line: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Starts with a tab (key above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CapsLock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)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Followed by keyword 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return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(in case it returns any value)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Followed by the expression that we want returned (computed)</a:t>
            </a:r>
          </a:p>
        </p:txBody>
      </p:sp>
    </p:spTree>
    <p:extLst>
      <p:ext uri="{BB962C8B-B14F-4D97-AF65-F5344CB8AC3E}">
        <p14:creationId xmlns:p14="http://schemas.microsoft.com/office/powerpoint/2010/main" val="2064942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FFFD-CB14-4A81-87D2-479802B702F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061732" y="1"/>
            <a:ext cx="8229627" cy="612414"/>
          </a:xfrm>
        </p:spPr>
        <p:txBody>
          <a:bodyPr>
            <a:normAutofit fontScale="90000"/>
          </a:bodyPr>
          <a:lstStyle/>
          <a:p>
            <a:pPr lvl="0"/>
            <a:r>
              <a:rPr lang="en-GB" dirty="0"/>
              <a:t>Defining our own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81505-2317-49DC-887F-13611CDAD15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745599" y="688951"/>
            <a:ext cx="8229627" cy="3977484"/>
          </a:xfrm>
        </p:spPr>
        <p:txBody>
          <a:bodyPr>
            <a:normAutofit fontScale="850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When converting any temperature in Fahrenheit to Celsius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Instead of doing: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(</a:t>
            </a:r>
            <a:r>
              <a:rPr lang="en-GB" sz="2903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200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- 32) * 5 / 9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93.33333333333333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(</a:t>
            </a:r>
            <a:r>
              <a:rPr lang="en-GB" sz="2903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100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- 32) * 5 / 9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37.77777777777778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We’d rather do: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convert_to_celsius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</a:t>
            </a:r>
            <a:r>
              <a:rPr lang="en-GB" sz="2903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200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93.33333333333333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convert_to_celsius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</a:t>
            </a:r>
            <a:r>
              <a:rPr lang="en-GB" sz="2903" b="1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100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37.77777777777778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E57FFE5-8F74-444D-B958-DA991EA149F7}"/>
              </a:ext>
            </a:extLst>
          </p:cNvPr>
          <p:cNvSpPr/>
          <p:nvPr/>
        </p:nvSpPr>
        <p:spPr>
          <a:xfrm>
            <a:off x="7613195" y="5900890"/>
            <a:ext cx="2873952" cy="78380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  <a:t>Warning!!!</a:t>
            </a:r>
            <a:b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633" dirty="0" err="1">
                <a:latin typeface="Courier 10 Pitch" pitchFamily="17"/>
                <a:ea typeface="DejaVu Sans" pitchFamily="2"/>
                <a:cs typeface="FreeSans" pitchFamily="2"/>
              </a:rPr>
              <a:t>convert_to_celsius</a:t>
            </a:r>
            <a: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  <a:t> does</a:t>
            </a:r>
            <a:b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  <a:t>not exist. We must define it.</a:t>
            </a:r>
          </a:p>
        </p:txBody>
      </p:sp>
      <p:grpSp>
        <p:nvGrpSpPr>
          <p:cNvPr id="5" name="Group 4" descr="28§display§C = (F - 32)\times\frac{5}{9}§svg§600§FALSE§" title="TexMaths">
            <a:extLst>
              <a:ext uri="{FF2B5EF4-FFF2-40B4-BE49-F238E27FC236}">
                <a16:creationId xmlns:a16="http://schemas.microsoft.com/office/drawing/2014/main" id="{482B9640-4789-44B0-8702-75CD7CAEB6AA}"/>
              </a:ext>
            </a:extLst>
          </p:cNvPr>
          <p:cNvGrpSpPr/>
          <p:nvPr/>
        </p:nvGrpSpPr>
        <p:grpSpPr>
          <a:xfrm>
            <a:off x="7808984" y="2616603"/>
            <a:ext cx="2483357" cy="659049"/>
            <a:chOff x="6928559" y="2884320"/>
            <a:chExt cx="2737441" cy="72648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3C32A53-D4E8-4D95-8537-90D189F46D5E}"/>
                </a:ext>
              </a:extLst>
            </p:cNvPr>
            <p:cNvSpPr/>
            <p:nvPr/>
          </p:nvSpPr>
          <p:spPr>
            <a:xfrm>
              <a:off x="6928559" y="2892239"/>
              <a:ext cx="2736360" cy="7113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602" h="1977">
                  <a:moveTo>
                    <a:pt x="3803" y="1977"/>
                  </a:moveTo>
                  <a:lnTo>
                    <a:pt x="0" y="1977"/>
                  </a:lnTo>
                  <a:lnTo>
                    <a:pt x="0" y="0"/>
                  </a:lnTo>
                  <a:lnTo>
                    <a:pt x="7602" y="0"/>
                  </a:lnTo>
                  <a:lnTo>
                    <a:pt x="7602" y="1977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291B240-8ABE-40BC-A750-4CACD9841E34}"/>
                </a:ext>
              </a:extLst>
            </p:cNvPr>
            <p:cNvSpPr/>
            <p:nvPr/>
          </p:nvSpPr>
          <p:spPr>
            <a:xfrm>
              <a:off x="6946560" y="3110039"/>
              <a:ext cx="252720" cy="258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03" h="720">
                  <a:moveTo>
                    <a:pt x="703" y="11"/>
                  </a:moveTo>
                  <a:cubicBezTo>
                    <a:pt x="703" y="6"/>
                    <a:pt x="700" y="0"/>
                    <a:pt x="692" y="0"/>
                  </a:cubicBezTo>
                  <a:cubicBezTo>
                    <a:pt x="689" y="0"/>
                    <a:pt x="686" y="0"/>
                    <a:pt x="675" y="11"/>
                  </a:cubicBezTo>
                  <a:lnTo>
                    <a:pt x="608" y="87"/>
                  </a:lnTo>
                  <a:cubicBezTo>
                    <a:pt x="596" y="73"/>
                    <a:pt x="552" y="0"/>
                    <a:pt x="442" y="0"/>
                  </a:cubicBezTo>
                  <a:cubicBezTo>
                    <a:pt x="221" y="0"/>
                    <a:pt x="0" y="218"/>
                    <a:pt x="0" y="448"/>
                  </a:cubicBezTo>
                  <a:cubicBezTo>
                    <a:pt x="0" y="610"/>
                    <a:pt x="118" y="720"/>
                    <a:pt x="269" y="720"/>
                  </a:cubicBezTo>
                  <a:cubicBezTo>
                    <a:pt x="353" y="720"/>
                    <a:pt x="428" y="678"/>
                    <a:pt x="482" y="633"/>
                  </a:cubicBezTo>
                  <a:cubicBezTo>
                    <a:pt x="574" y="552"/>
                    <a:pt x="591" y="462"/>
                    <a:pt x="591" y="459"/>
                  </a:cubicBezTo>
                  <a:cubicBezTo>
                    <a:pt x="591" y="451"/>
                    <a:pt x="580" y="451"/>
                    <a:pt x="577" y="451"/>
                  </a:cubicBezTo>
                  <a:cubicBezTo>
                    <a:pt x="571" y="451"/>
                    <a:pt x="568" y="451"/>
                    <a:pt x="566" y="459"/>
                  </a:cubicBezTo>
                  <a:cubicBezTo>
                    <a:pt x="557" y="487"/>
                    <a:pt x="535" y="557"/>
                    <a:pt x="465" y="616"/>
                  </a:cubicBezTo>
                  <a:cubicBezTo>
                    <a:pt x="398" y="672"/>
                    <a:pt x="336" y="689"/>
                    <a:pt x="283" y="689"/>
                  </a:cubicBezTo>
                  <a:cubicBezTo>
                    <a:pt x="196" y="689"/>
                    <a:pt x="90" y="636"/>
                    <a:pt x="90" y="482"/>
                  </a:cubicBezTo>
                  <a:cubicBezTo>
                    <a:pt x="90" y="426"/>
                    <a:pt x="112" y="266"/>
                    <a:pt x="210" y="151"/>
                  </a:cubicBezTo>
                  <a:cubicBezTo>
                    <a:pt x="269" y="81"/>
                    <a:pt x="361" y="31"/>
                    <a:pt x="451" y="31"/>
                  </a:cubicBezTo>
                  <a:cubicBezTo>
                    <a:pt x="552" y="31"/>
                    <a:pt x="610" y="106"/>
                    <a:pt x="610" y="221"/>
                  </a:cubicBezTo>
                  <a:cubicBezTo>
                    <a:pt x="610" y="260"/>
                    <a:pt x="608" y="263"/>
                    <a:pt x="608" y="272"/>
                  </a:cubicBezTo>
                  <a:cubicBezTo>
                    <a:pt x="608" y="283"/>
                    <a:pt x="619" y="283"/>
                    <a:pt x="622" y="283"/>
                  </a:cubicBezTo>
                  <a:cubicBezTo>
                    <a:pt x="636" y="283"/>
                    <a:pt x="636" y="280"/>
                    <a:pt x="638" y="26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D92B890-0D07-41AE-A5FD-A8523972971A}"/>
                </a:ext>
              </a:extLst>
            </p:cNvPr>
            <p:cNvSpPr/>
            <p:nvPr/>
          </p:nvSpPr>
          <p:spPr>
            <a:xfrm>
              <a:off x="7324560" y="3229200"/>
              <a:ext cx="236520" cy="83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8" h="232">
                  <a:moveTo>
                    <a:pt x="624" y="39"/>
                  </a:moveTo>
                  <a:cubicBezTo>
                    <a:pt x="638" y="39"/>
                    <a:pt x="658" y="39"/>
                    <a:pt x="658" y="20"/>
                  </a:cubicBezTo>
                  <a:cubicBezTo>
                    <a:pt x="658" y="0"/>
                    <a:pt x="638" y="0"/>
                    <a:pt x="624" y="0"/>
                  </a:cubicBezTo>
                  <a:lnTo>
                    <a:pt x="34" y="0"/>
                  </a:lnTo>
                  <a:cubicBezTo>
                    <a:pt x="20" y="0"/>
                    <a:pt x="0" y="0"/>
                    <a:pt x="0" y="20"/>
                  </a:cubicBezTo>
                  <a:cubicBezTo>
                    <a:pt x="0" y="39"/>
                    <a:pt x="20" y="39"/>
                    <a:pt x="34" y="39"/>
                  </a:cubicBezTo>
                  <a:close/>
                  <a:moveTo>
                    <a:pt x="624" y="232"/>
                  </a:moveTo>
                  <a:cubicBezTo>
                    <a:pt x="638" y="232"/>
                    <a:pt x="658" y="232"/>
                    <a:pt x="658" y="213"/>
                  </a:cubicBezTo>
                  <a:cubicBezTo>
                    <a:pt x="658" y="193"/>
                    <a:pt x="638" y="193"/>
                    <a:pt x="624" y="193"/>
                  </a:cubicBezTo>
                  <a:lnTo>
                    <a:pt x="34" y="193"/>
                  </a:lnTo>
                  <a:cubicBezTo>
                    <a:pt x="20" y="193"/>
                    <a:pt x="0" y="193"/>
                    <a:pt x="0" y="213"/>
                  </a:cubicBezTo>
                  <a:cubicBezTo>
                    <a:pt x="0" y="232"/>
                    <a:pt x="20" y="232"/>
                    <a:pt x="34" y="23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199E218-34A5-4C2D-872A-5B3BF479BB88}"/>
                </a:ext>
              </a:extLst>
            </p:cNvPr>
            <p:cNvSpPr/>
            <p:nvPr/>
          </p:nvSpPr>
          <p:spPr>
            <a:xfrm>
              <a:off x="7712640" y="3093840"/>
              <a:ext cx="83160" cy="354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6">
                  <a:moveTo>
                    <a:pt x="232" y="977"/>
                  </a:moveTo>
                  <a:cubicBezTo>
                    <a:pt x="232" y="974"/>
                    <a:pt x="232" y="972"/>
                    <a:pt x="216" y="955"/>
                  </a:cubicBezTo>
                  <a:cubicBezTo>
                    <a:pt x="90" y="832"/>
                    <a:pt x="59" y="644"/>
                    <a:pt x="59" y="493"/>
                  </a:cubicBezTo>
                  <a:cubicBezTo>
                    <a:pt x="59" y="322"/>
                    <a:pt x="95" y="151"/>
                    <a:pt x="218" y="28"/>
                  </a:cubicBezTo>
                  <a:cubicBezTo>
                    <a:pt x="232" y="14"/>
                    <a:pt x="232" y="14"/>
                    <a:pt x="232" y="11"/>
                  </a:cubicBezTo>
                  <a:cubicBezTo>
                    <a:pt x="232" y="3"/>
                    <a:pt x="227" y="0"/>
                    <a:pt x="221" y="0"/>
                  </a:cubicBezTo>
                  <a:cubicBezTo>
                    <a:pt x="210" y="0"/>
                    <a:pt x="120" y="67"/>
                    <a:pt x="62" y="193"/>
                  </a:cubicBezTo>
                  <a:cubicBezTo>
                    <a:pt x="11" y="302"/>
                    <a:pt x="0" y="412"/>
                    <a:pt x="0" y="493"/>
                  </a:cubicBezTo>
                  <a:cubicBezTo>
                    <a:pt x="0" y="571"/>
                    <a:pt x="11" y="689"/>
                    <a:pt x="64" y="801"/>
                  </a:cubicBezTo>
                  <a:cubicBezTo>
                    <a:pt x="126" y="924"/>
                    <a:pt x="210" y="986"/>
                    <a:pt x="221" y="986"/>
                  </a:cubicBezTo>
                  <a:cubicBezTo>
                    <a:pt x="227" y="986"/>
                    <a:pt x="232" y="983"/>
                    <a:pt x="232" y="977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7AFA709-AB92-448F-9EE3-BBD17C936F4A}"/>
                </a:ext>
              </a:extLst>
            </p:cNvPr>
            <p:cNvSpPr/>
            <p:nvPr/>
          </p:nvSpPr>
          <p:spPr>
            <a:xfrm>
              <a:off x="7828559" y="3118320"/>
              <a:ext cx="253080" cy="241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04" h="672">
                  <a:moveTo>
                    <a:pt x="263" y="350"/>
                  </a:moveTo>
                  <a:lnTo>
                    <a:pt x="358" y="350"/>
                  </a:lnTo>
                  <a:cubicBezTo>
                    <a:pt x="431" y="350"/>
                    <a:pt x="440" y="367"/>
                    <a:pt x="440" y="395"/>
                  </a:cubicBezTo>
                  <a:cubicBezTo>
                    <a:pt x="440" y="403"/>
                    <a:pt x="440" y="414"/>
                    <a:pt x="434" y="442"/>
                  </a:cubicBezTo>
                  <a:cubicBezTo>
                    <a:pt x="431" y="448"/>
                    <a:pt x="431" y="454"/>
                    <a:pt x="431" y="454"/>
                  </a:cubicBezTo>
                  <a:cubicBezTo>
                    <a:pt x="431" y="462"/>
                    <a:pt x="437" y="468"/>
                    <a:pt x="442" y="468"/>
                  </a:cubicBezTo>
                  <a:cubicBezTo>
                    <a:pt x="451" y="468"/>
                    <a:pt x="451" y="465"/>
                    <a:pt x="456" y="445"/>
                  </a:cubicBezTo>
                  <a:lnTo>
                    <a:pt x="510" y="232"/>
                  </a:lnTo>
                  <a:cubicBezTo>
                    <a:pt x="512" y="221"/>
                    <a:pt x="512" y="218"/>
                    <a:pt x="512" y="216"/>
                  </a:cubicBezTo>
                  <a:cubicBezTo>
                    <a:pt x="512" y="213"/>
                    <a:pt x="512" y="204"/>
                    <a:pt x="501" y="204"/>
                  </a:cubicBezTo>
                  <a:cubicBezTo>
                    <a:pt x="493" y="204"/>
                    <a:pt x="490" y="210"/>
                    <a:pt x="487" y="224"/>
                  </a:cubicBezTo>
                  <a:cubicBezTo>
                    <a:pt x="468" y="302"/>
                    <a:pt x="442" y="319"/>
                    <a:pt x="358" y="319"/>
                  </a:cubicBezTo>
                  <a:lnTo>
                    <a:pt x="269" y="319"/>
                  </a:lnTo>
                  <a:lnTo>
                    <a:pt x="333" y="70"/>
                  </a:lnTo>
                  <a:cubicBezTo>
                    <a:pt x="342" y="34"/>
                    <a:pt x="342" y="31"/>
                    <a:pt x="386" y="31"/>
                  </a:cubicBezTo>
                  <a:lnTo>
                    <a:pt x="518" y="31"/>
                  </a:lnTo>
                  <a:cubicBezTo>
                    <a:pt x="638" y="31"/>
                    <a:pt x="661" y="64"/>
                    <a:pt x="661" y="140"/>
                  </a:cubicBezTo>
                  <a:cubicBezTo>
                    <a:pt x="661" y="162"/>
                    <a:pt x="661" y="165"/>
                    <a:pt x="658" y="193"/>
                  </a:cubicBezTo>
                  <a:cubicBezTo>
                    <a:pt x="655" y="204"/>
                    <a:pt x="655" y="207"/>
                    <a:pt x="655" y="210"/>
                  </a:cubicBezTo>
                  <a:cubicBezTo>
                    <a:pt x="655" y="216"/>
                    <a:pt x="658" y="221"/>
                    <a:pt x="669" y="221"/>
                  </a:cubicBezTo>
                  <a:cubicBezTo>
                    <a:pt x="678" y="221"/>
                    <a:pt x="680" y="216"/>
                    <a:pt x="680" y="199"/>
                  </a:cubicBezTo>
                  <a:lnTo>
                    <a:pt x="703" y="28"/>
                  </a:lnTo>
                  <a:cubicBezTo>
                    <a:pt x="706" y="0"/>
                    <a:pt x="700" y="0"/>
                    <a:pt x="675" y="0"/>
                  </a:cubicBezTo>
                  <a:lnTo>
                    <a:pt x="190" y="0"/>
                  </a:lnTo>
                  <a:cubicBezTo>
                    <a:pt x="171" y="0"/>
                    <a:pt x="162" y="0"/>
                    <a:pt x="162" y="20"/>
                  </a:cubicBezTo>
                  <a:cubicBezTo>
                    <a:pt x="162" y="31"/>
                    <a:pt x="171" y="31"/>
                    <a:pt x="188" y="31"/>
                  </a:cubicBezTo>
                  <a:cubicBezTo>
                    <a:pt x="224" y="31"/>
                    <a:pt x="252" y="31"/>
                    <a:pt x="252" y="48"/>
                  </a:cubicBezTo>
                  <a:cubicBezTo>
                    <a:pt x="252" y="53"/>
                    <a:pt x="252" y="53"/>
                    <a:pt x="249" y="73"/>
                  </a:cubicBezTo>
                  <a:lnTo>
                    <a:pt x="118" y="594"/>
                  </a:lnTo>
                  <a:cubicBezTo>
                    <a:pt x="106" y="633"/>
                    <a:pt x="106" y="641"/>
                    <a:pt x="28" y="641"/>
                  </a:cubicBezTo>
                  <a:cubicBezTo>
                    <a:pt x="11" y="641"/>
                    <a:pt x="0" y="641"/>
                    <a:pt x="0" y="661"/>
                  </a:cubicBezTo>
                  <a:cubicBezTo>
                    <a:pt x="0" y="672"/>
                    <a:pt x="11" y="672"/>
                    <a:pt x="14" y="672"/>
                  </a:cubicBezTo>
                  <a:cubicBezTo>
                    <a:pt x="45" y="672"/>
                    <a:pt x="118" y="669"/>
                    <a:pt x="146" y="669"/>
                  </a:cubicBezTo>
                  <a:cubicBezTo>
                    <a:pt x="179" y="669"/>
                    <a:pt x="260" y="672"/>
                    <a:pt x="291" y="672"/>
                  </a:cubicBezTo>
                  <a:cubicBezTo>
                    <a:pt x="302" y="672"/>
                    <a:pt x="314" y="672"/>
                    <a:pt x="314" y="652"/>
                  </a:cubicBezTo>
                  <a:cubicBezTo>
                    <a:pt x="314" y="644"/>
                    <a:pt x="308" y="644"/>
                    <a:pt x="308" y="641"/>
                  </a:cubicBezTo>
                  <a:cubicBezTo>
                    <a:pt x="305" y="641"/>
                    <a:pt x="302" y="641"/>
                    <a:pt x="280" y="641"/>
                  </a:cubicBezTo>
                  <a:cubicBezTo>
                    <a:pt x="258" y="641"/>
                    <a:pt x="252" y="641"/>
                    <a:pt x="227" y="638"/>
                  </a:cubicBezTo>
                  <a:cubicBezTo>
                    <a:pt x="199" y="636"/>
                    <a:pt x="196" y="633"/>
                    <a:pt x="196" y="619"/>
                  </a:cubicBezTo>
                  <a:cubicBezTo>
                    <a:pt x="196" y="619"/>
                    <a:pt x="196" y="610"/>
                    <a:pt x="202" y="59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9250707-A71F-421D-9360-681075709106}"/>
                </a:ext>
              </a:extLst>
            </p:cNvPr>
            <p:cNvSpPr/>
            <p:nvPr/>
          </p:nvSpPr>
          <p:spPr>
            <a:xfrm>
              <a:off x="8198640" y="3264480"/>
              <a:ext cx="217440" cy="147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5" h="42">
                  <a:moveTo>
                    <a:pt x="568" y="42"/>
                  </a:moveTo>
                  <a:cubicBezTo>
                    <a:pt x="585" y="42"/>
                    <a:pt x="605" y="42"/>
                    <a:pt x="605" y="22"/>
                  </a:cubicBezTo>
                  <a:cubicBezTo>
                    <a:pt x="605" y="0"/>
                    <a:pt x="585" y="0"/>
                    <a:pt x="568" y="0"/>
                  </a:cubicBezTo>
                  <a:lnTo>
                    <a:pt x="34" y="0"/>
                  </a:lnTo>
                  <a:cubicBezTo>
                    <a:pt x="17" y="0"/>
                    <a:pt x="0" y="0"/>
                    <a:pt x="0" y="22"/>
                  </a:cubicBezTo>
                  <a:cubicBezTo>
                    <a:pt x="0" y="42"/>
                    <a:pt x="17" y="42"/>
                    <a:pt x="34" y="4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3D2C46-600C-45E4-BA0E-F6FA2B8BAC83}"/>
                </a:ext>
              </a:extLst>
            </p:cNvPr>
            <p:cNvSpPr/>
            <p:nvPr/>
          </p:nvSpPr>
          <p:spPr>
            <a:xfrm>
              <a:off x="8537400" y="3123360"/>
              <a:ext cx="147960" cy="244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2" h="680">
                  <a:moveTo>
                    <a:pt x="246" y="311"/>
                  </a:moveTo>
                  <a:cubicBezTo>
                    <a:pt x="328" y="283"/>
                    <a:pt x="384" y="216"/>
                    <a:pt x="384" y="137"/>
                  </a:cubicBezTo>
                  <a:cubicBezTo>
                    <a:pt x="384" y="56"/>
                    <a:pt x="297" y="0"/>
                    <a:pt x="202" y="0"/>
                  </a:cubicBezTo>
                  <a:cubicBezTo>
                    <a:pt x="101" y="0"/>
                    <a:pt x="28" y="59"/>
                    <a:pt x="28" y="134"/>
                  </a:cubicBezTo>
                  <a:cubicBezTo>
                    <a:pt x="28" y="168"/>
                    <a:pt x="48" y="185"/>
                    <a:pt x="78" y="185"/>
                  </a:cubicBezTo>
                  <a:cubicBezTo>
                    <a:pt x="109" y="185"/>
                    <a:pt x="129" y="165"/>
                    <a:pt x="129" y="134"/>
                  </a:cubicBezTo>
                  <a:cubicBezTo>
                    <a:pt x="129" y="87"/>
                    <a:pt x="81" y="87"/>
                    <a:pt x="67" y="87"/>
                  </a:cubicBezTo>
                  <a:cubicBezTo>
                    <a:pt x="98" y="36"/>
                    <a:pt x="162" y="25"/>
                    <a:pt x="199" y="25"/>
                  </a:cubicBezTo>
                  <a:cubicBezTo>
                    <a:pt x="238" y="25"/>
                    <a:pt x="294" y="48"/>
                    <a:pt x="294" y="134"/>
                  </a:cubicBezTo>
                  <a:cubicBezTo>
                    <a:pt x="294" y="148"/>
                    <a:pt x="291" y="204"/>
                    <a:pt x="266" y="249"/>
                  </a:cubicBezTo>
                  <a:cubicBezTo>
                    <a:pt x="235" y="297"/>
                    <a:pt x="202" y="300"/>
                    <a:pt x="176" y="300"/>
                  </a:cubicBezTo>
                  <a:cubicBezTo>
                    <a:pt x="171" y="300"/>
                    <a:pt x="146" y="302"/>
                    <a:pt x="140" y="302"/>
                  </a:cubicBezTo>
                  <a:cubicBezTo>
                    <a:pt x="132" y="302"/>
                    <a:pt x="123" y="305"/>
                    <a:pt x="123" y="314"/>
                  </a:cubicBezTo>
                  <a:cubicBezTo>
                    <a:pt x="123" y="325"/>
                    <a:pt x="132" y="325"/>
                    <a:pt x="148" y="325"/>
                  </a:cubicBezTo>
                  <a:lnTo>
                    <a:pt x="190" y="325"/>
                  </a:lnTo>
                  <a:cubicBezTo>
                    <a:pt x="272" y="325"/>
                    <a:pt x="308" y="392"/>
                    <a:pt x="308" y="490"/>
                  </a:cubicBezTo>
                  <a:cubicBezTo>
                    <a:pt x="308" y="624"/>
                    <a:pt x="241" y="652"/>
                    <a:pt x="196" y="652"/>
                  </a:cubicBezTo>
                  <a:cubicBezTo>
                    <a:pt x="154" y="652"/>
                    <a:pt x="81" y="636"/>
                    <a:pt x="45" y="577"/>
                  </a:cubicBezTo>
                  <a:cubicBezTo>
                    <a:pt x="81" y="582"/>
                    <a:pt x="112" y="560"/>
                    <a:pt x="112" y="524"/>
                  </a:cubicBezTo>
                  <a:cubicBezTo>
                    <a:pt x="112" y="487"/>
                    <a:pt x="84" y="468"/>
                    <a:pt x="56" y="468"/>
                  </a:cubicBezTo>
                  <a:cubicBezTo>
                    <a:pt x="31" y="468"/>
                    <a:pt x="0" y="482"/>
                    <a:pt x="0" y="524"/>
                  </a:cubicBezTo>
                  <a:cubicBezTo>
                    <a:pt x="0" y="616"/>
                    <a:pt x="92" y="680"/>
                    <a:pt x="202" y="680"/>
                  </a:cubicBezTo>
                  <a:cubicBezTo>
                    <a:pt x="322" y="680"/>
                    <a:pt x="412" y="591"/>
                    <a:pt x="412" y="490"/>
                  </a:cubicBezTo>
                  <a:cubicBezTo>
                    <a:pt x="412" y="409"/>
                    <a:pt x="350" y="330"/>
                    <a:pt x="246" y="311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691A1A-5FF8-4656-BEA8-16C7EC6BB55A}"/>
                </a:ext>
              </a:extLst>
            </p:cNvPr>
            <p:cNvSpPr/>
            <p:nvPr/>
          </p:nvSpPr>
          <p:spPr>
            <a:xfrm>
              <a:off x="8716680" y="3123360"/>
              <a:ext cx="141840" cy="236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5" h="658">
                  <a:moveTo>
                    <a:pt x="76" y="582"/>
                  </a:moveTo>
                  <a:lnTo>
                    <a:pt x="182" y="482"/>
                  </a:lnTo>
                  <a:cubicBezTo>
                    <a:pt x="336" y="344"/>
                    <a:pt x="395" y="291"/>
                    <a:pt x="395" y="190"/>
                  </a:cubicBezTo>
                  <a:cubicBezTo>
                    <a:pt x="395" y="78"/>
                    <a:pt x="305" y="0"/>
                    <a:pt x="185" y="0"/>
                  </a:cubicBezTo>
                  <a:cubicBezTo>
                    <a:pt x="73" y="0"/>
                    <a:pt x="0" y="90"/>
                    <a:pt x="0" y="179"/>
                  </a:cubicBezTo>
                  <a:cubicBezTo>
                    <a:pt x="0" y="235"/>
                    <a:pt x="50" y="235"/>
                    <a:pt x="53" y="235"/>
                  </a:cubicBezTo>
                  <a:cubicBezTo>
                    <a:pt x="70" y="235"/>
                    <a:pt x="104" y="221"/>
                    <a:pt x="104" y="182"/>
                  </a:cubicBezTo>
                  <a:cubicBezTo>
                    <a:pt x="104" y="157"/>
                    <a:pt x="87" y="132"/>
                    <a:pt x="50" y="132"/>
                  </a:cubicBezTo>
                  <a:cubicBezTo>
                    <a:pt x="45" y="132"/>
                    <a:pt x="42" y="132"/>
                    <a:pt x="39" y="132"/>
                  </a:cubicBezTo>
                  <a:cubicBezTo>
                    <a:pt x="62" y="67"/>
                    <a:pt x="115" y="31"/>
                    <a:pt x="174" y="31"/>
                  </a:cubicBezTo>
                  <a:cubicBezTo>
                    <a:pt x="263" y="31"/>
                    <a:pt x="305" y="112"/>
                    <a:pt x="305" y="190"/>
                  </a:cubicBezTo>
                  <a:cubicBezTo>
                    <a:pt x="305" y="272"/>
                    <a:pt x="255" y="350"/>
                    <a:pt x="202" y="409"/>
                  </a:cubicBezTo>
                  <a:lnTo>
                    <a:pt x="11" y="622"/>
                  </a:lnTo>
                  <a:cubicBezTo>
                    <a:pt x="0" y="633"/>
                    <a:pt x="0" y="636"/>
                    <a:pt x="0" y="658"/>
                  </a:cubicBezTo>
                  <a:lnTo>
                    <a:pt x="367" y="658"/>
                  </a:lnTo>
                  <a:lnTo>
                    <a:pt x="395" y="487"/>
                  </a:lnTo>
                  <a:lnTo>
                    <a:pt x="370" y="487"/>
                  </a:lnTo>
                  <a:cubicBezTo>
                    <a:pt x="367" y="515"/>
                    <a:pt x="358" y="560"/>
                    <a:pt x="350" y="574"/>
                  </a:cubicBezTo>
                  <a:cubicBezTo>
                    <a:pt x="342" y="582"/>
                    <a:pt x="277" y="582"/>
                    <a:pt x="255" y="58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E23015A-D083-4288-8B4E-143C1E407449}"/>
                </a:ext>
              </a:extLst>
            </p:cNvPr>
            <p:cNvSpPr/>
            <p:nvPr/>
          </p:nvSpPr>
          <p:spPr>
            <a:xfrm>
              <a:off x="8896320" y="3093840"/>
              <a:ext cx="83160" cy="354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6">
                  <a:moveTo>
                    <a:pt x="232" y="493"/>
                  </a:moveTo>
                  <a:cubicBezTo>
                    <a:pt x="232" y="417"/>
                    <a:pt x="221" y="297"/>
                    <a:pt x="165" y="185"/>
                  </a:cubicBezTo>
                  <a:cubicBezTo>
                    <a:pt x="106" y="64"/>
                    <a:pt x="20" y="0"/>
                    <a:pt x="11" y="0"/>
                  </a:cubicBezTo>
                  <a:cubicBezTo>
                    <a:pt x="3" y="0"/>
                    <a:pt x="0" y="3"/>
                    <a:pt x="0" y="11"/>
                  </a:cubicBezTo>
                  <a:cubicBezTo>
                    <a:pt x="0" y="14"/>
                    <a:pt x="0" y="14"/>
                    <a:pt x="20" y="34"/>
                  </a:cubicBezTo>
                  <a:cubicBezTo>
                    <a:pt x="118" y="132"/>
                    <a:pt x="174" y="288"/>
                    <a:pt x="174" y="493"/>
                  </a:cubicBezTo>
                  <a:cubicBezTo>
                    <a:pt x="174" y="664"/>
                    <a:pt x="137" y="837"/>
                    <a:pt x="14" y="960"/>
                  </a:cubicBezTo>
                  <a:cubicBezTo>
                    <a:pt x="0" y="972"/>
                    <a:pt x="0" y="974"/>
                    <a:pt x="0" y="977"/>
                  </a:cubicBezTo>
                  <a:cubicBezTo>
                    <a:pt x="0" y="983"/>
                    <a:pt x="3" y="986"/>
                    <a:pt x="11" y="986"/>
                  </a:cubicBezTo>
                  <a:cubicBezTo>
                    <a:pt x="20" y="986"/>
                    <a:pt x="109" y="918"/>
                    <a:pt x="168" y="795"/>
                  </a:cubicBezTo>
                  <a:cubicBezTo>
                    <a:pt x="218" y="686"/>
                    <a:pt x="232" y="577"/>
                    <a:pt x="232" y="49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C7101A-CC91-4350-BBF0-62A310CD9464}"/>
                </a:ext>
              </a:extLst>
            </p:cNvPr>
            <p:cNvSpPr/>
            <p:nvPr/>
          </p:nvSpPr>
          <p:spPr>
            <a:xfrm>
              <a:off x="9144360" y="3185640"/>
              <a:ext cx="172080" cy="171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79" h="476">
                  <a:moveTo>
                    <a:pt x="241" y="210"/>
                  </a:moveTo>
                  <a:lnTo>
                    <a:pt x="42" y="14"/>
                  </a:lnTo>
                  <a:cubicBezTo>
                    <a:pt x="31" y="3"/>
                    <a:pt x="28" y="0"/>
                    <a:pt x="20" y="0"/>
                  </a:cubicBezTo>
                  <a:cubicBezTo>
                    <a:pt x="11" y="0"/>
                    <a:pt x="0" y="8"/>
                    <a:pt x="0" y="20"/>
                  </a:cubicBezTo>
                  <a:cubicBezTo>
                    <a:pt x="0" y="28"/>
                    <a:pt x="3" y="28"/>
                    <a:pt x="14" y="39"/>
                  </a:cubicBezTo>
                  <a:lnTo>
                    <a:pt x="210" y="238"/>
                  </a:lnTo>
                  <a:lnTo>
                    <a:pt x="14" y="437"/>
                  </a:lnTo>
                  <a:cubicBezTo>
                    <a:pt x="3" y="448"/>
                    <a:pt x="0" y="451"/>
                    <a:pt x="0" y="456"/>
                  </a:cubicBezTo>
                  <a:cubicBezTo>
                    <a:pt x="0" y="468"/>
                    <a:pt x="11" y="476"/>
                    <a:pt x="20" y="476"/>
                  </a:cubicBezTo>
                  <a:cubicBezTo>
                    <a:pt x="28" y="476"/>
                    <a:pt x="31" y="476"/>
                    <a:pt x="42" y="462"/>
                  </a:cubicBezTo>
                  <a:lnTo>
                    <a:pt x="238" y="266"/>
                  </a:lnTo>
                  <a:lnTo>
                    <a:pt x="442" y="470"/>
                  </a:lnTo>
                  <a:cubicBezTo>
                    <a:pt x="445" y="473"/>
                    <a:pt x="454" y="476"/>
                    <a:pt x="459" y="476"/>
                  </a:cubicBezTo>
                  <a:cubicBezTo>
                    <a:pt x="470" y="476"/>
                    <a:pt x="479" y="468"/>
                    <a:pt x="479" y="456"/>
                  </a:cubicBezTo>
                  <a:cubicBezTo>
                    <a:pt x="479" y="456"/>
                    <a:pt x="479" y="451"/>
                    <a:pt x="476" y="445"/>
                  </a:cubicBezTo>
                  <a:cubicBezTo>
                    <a:pt x="473" y="445"/>
                    <a:pt x="316" y="288"/>
                    <a:pt x="266" y="238"/>
                  </a:cubicBezTo>
                  <a:lnTo>
                    <a:pt x="448" y="59"/>
                  </a:lnTo>
                  <a:cubicBezTo>
                    <a:pt x="454" y="50"/>
                    <a:pt x="468" y="39"/>
                    <a:pt x="473" y="34"/>
                  </a:cubicBezTo>
                  <a:cubicBezTo>
                    <a:pt x="473" y="31"/>
                    <a:pt x="479" y="28"/>
                    <a:pt x="479" y="20"/>
                  </a:cubicBezTo>
                  <a:cubicBezTo>
                    <a:pt x="479" y="8"/>
                    <a:pt x="470" y="0"/>
                    <a:pt x="459" y="0"/>
                  </a:cubicBezTo>
                  <a:cubicBezTo>
                    <a:pt x="451" y="0"/>
                    <a:pt x="445" y="3"/>
                    <a:pt x="437" y="1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978ED5-3A9D-44AC-9F9F-9BE8FC91A8F7}"/>
                </a:ext>
              </a:extLst>
            </p:cNvPr>
            <p:cNvSpPr/>
            <p:nvPr/>
          </p:nvSpPr>
          <p:spPr>
            <a:xfrm>
              <a:off x="9505080" y="2884320"/>
              <a:ext cx="141840" cy="244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5" h="680">
                  <a:moveTo>
                    <a:pt x="395" y="459"/>
                  </a:moveTo>
                  <a:cubicBezTo>
                    <a:pt x="395" y="342"/>
                    <a:pt x="314" y="244"/>
                    <a:pt x="207" y="244"/>
                  </a:cubicBezTo>
                  <a:cubicBezTo>
                    <a:pt x="160" y="244"/>
                    <a:pt x="118" y="258"/>
                    <a:pt x="81" y="294"/>
                  </a:cubicBezTo>
                  <a:lnTo>
                    <a:pt x="81" y="101"/>
                  </a:lnTo>
                  <a:cubicBezTo>
                    <a:pt x="101" y="106"/>
                    <a:pt x="134" y="115"/>
                    <a:pt x="165" y="115"/>
                  </a:cubicBezTo>
                  <a:cubicBezTo>
                    <a:pt x="288" y="115"/>
                    <a:pt x="356" y="22"/>
                    <a:pt x="356" y="11"/>
                  </a:cubicBezTo>
                  <a:cubicBezTo>
                    <a:pt x="356" y="6"/>
                    <a:pt x="353" y="0"/>
                    <a:pt x="347" y="0"/>
                  </a:cubicBezTo>
                  <a:cubicBezTo>
                    <a:pt x="347" y="0"/>
                    <a:pt x="344" y="0"/>
                    <a:pt x="339" y="3"/>
                  </a:cubicBezTo>
                  <a:cubicBezTo>
                    <a:pt x="319" y="11"/>
                    <a:pt x="272" y="31"/>
                    <a:pt x="204" y="31"/>
                  </a:cubicBezTo>
                  <a:cubicBezTo>
                    <a:pt x="165" y="31"/>
                    <a:pt x="118" y="25"/>
                    <a:pt x="73" y="3"/>
                  </a:cubicBezTo>
                  <a:cubicBezTo>
                    <a:pt x="64" y="0"/>
                    <a:pt x="62" y="0"/>
                    <a:pt x="62" y="0"/>
                  </a:cubicBezTo>
                  <a:cubicBezTo>
                    <a:pt x="50" y="0"/>
                    <a:pt x="50" y="8"/>
                    <a:pt x="50" y="25"/>
                  </a:cubicBezTo>
                  <a:lnTo>
                    <a:pt x="50" y="316"/>
                  </a:lnTo>
                  <a:cubicBezTo>
                    <a:pt x="50" y="336"/>
                    <a:pt x="50" y="342"/>
                    <a:pt x="64" y="342"/>
                  </a:cubicBezTo>
                  <a:cubicBezTo>
                    <a:pt x="70" y="342"/>
                    <a:pt x="73" y="339"/>
                    <a:pt x="78" y="333"/>
                  </a:cubicBezTo>
                  <a:cubicBezTo>
                    <a:pt x="87" y="319"/>
                    <a:pt x="126" y="266"/>
                    <a:pt x="204" y="266"/>
                  </a:cubicBezTo>
                  <a:cubicBezTo>
                    <a:pt x="258" y="266"/>
                    <a:pt x="283" y="311"/>
                    <a:pt x="288" y="328"/>
                  </a:cubicBezTo>
                  <a:cubicBezTo>
                    <a:pt x="305" y="364"/>
                    <a:pt x="308" y="403"/>
                    <a:pt x="308" y="454"/>
                  </a:cubicBezTo>
                  <a:cubicBezTo>
                    <a:pt x="308" y="487"/>
                    <a:pt x="308" y="546"/>
                    <a:pt x="283" y="588"/>
                  </a:cubicBezTo>
                  <a:cubicBezTo>
                    <a:pt x="260" y="627"/>
                    <a:pt x="224" y="652"/>
                    <a:pt x="176" y="652"/>
                  </a:cubicBezTo>
                  <a:cubicBezTo>
                    <a:pt x="106" y="652"/>
                    <a:pt x="48" y="599"/>
                    <a:pt x="31" y="540"/>
                  </a:cubicBezTo>
                  <a:cubicBezTo>
                    <a:pt x="34" y="543"/>
                    <a:pt x="36" y="543"/>
                    <a:pt x="48" y="543"/>
                  </a:cubicBezTo>
                  <a:cubicBezTo>
                    <a:pt x="81" y="543"/>
                    <a:pt x="98" y="518"/>
                    <a:pt x="98" y="496"/>
                  </a:cubicBezTo>
                  <a:cubicBezTo>
                    <a:pt x="98" y="470"/>
                    <a:pt x="81" y="448"/>
                    <a:pt x="48" y="448"/>
                  </a:cubicBezTo>
                  <a:cubicBezTo>
                    <a:pt x="34" y="448"/>
                    <a:pt x="0" y="454"/>
                    <a:pt x="0" y="498"/>
                  </a:cubicBezTo>
                  <a:cubicBezTo>
                    <a:pt x="0" y="585"/>
                    <a:pt x="67" y="680"/>
                    <a:pt x="179" y="680"/>
                  </a:cubicBezTo>
                  <a:cubicBezTo>
                    <a:pt x="294" y="680"/>
                    <a:pt x="395" y="585"/>
                    <a:pt x="395" y="459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88953CA-80BC-4F75-B935-502BD0E6B069}"/>
                </a:ext>
              </a:extLst>
            </p:cNvPr>
            <p:cNvSpPr/>
            <p:nvPr/>
          </p:nvSpPr>
          <p:spPr>
            <a:xfrm>
              <a:off x="9487800" y="3264480"/>
              <a:ext cx="178200" cy="147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6" h="42">
                  <a:moveTo>
                    <a:pt x="246" y="42"/>
                  </a:moveTo>
                  <a:lnTo>
                    <a:pt x="0" y="42"/>
                  </a:lnTo>
                  <a:lnTo>
                    <a:pt x="0" y="0"/>
                  </a:lnTo>
                  <a:lnTo>
                    <a:pt x="496" y="0"/>
                  </a:lnTo>
                  <a:lnTo>
                    <a:pt x="496" y="42"/>
                  </a:ln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04F6AE-27FD-41C0-A9ED-E21A74D43681}"/>
                </a:ext>
              </a:extLst>
            </p:cNvPr>
            <p:cNvSpPr/>
            <p:nvPr/>
          </p:nvSpPr>
          <p:spPr>
            <a:xfrm>
              <a:off x="9502200" y="3366360"/>
              <a:ext cx="147960" cy="244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2" h="680">
                  <a:moveTo>
                    <a:pt x="322" y="344"/>
                  </a:moveTo>
                  <a:lnTo>
                    <a:pt x="322" y="375"/>
                  </a:lnTo>
                  <a:cubicBezTo>
                    <a:pt x="322" y="608"/>
                    <a:pt x="218" y="652"/>
                    <a:pt x="162" y="652"/>
                  </a:cubicBezTo>
                  <a:cubicBezTo>
                    <a:pt x="146" y="652"/>
                    <a:pt x="92" y="650"/>
                    <a:pt x="64" y="616"/>
                  </a:cubicBezTo>
                  <a:cubicBezTo>
                    <a:pt x="109" y="616"/>
                    <a:pt x="115" y="588"/>
                    <a:pt x="115" y="571"/>
                  </a:cubicBezTo>
                  <a:cubicBezTo>
                    <a:pt x="115" y="540"/>
                    <a:pt x="92" y="526"/>
                    <a:pt x="70" y="526"/>
                  </a:cubicBezTo>
                  <a:cubicBezTo>
                    <a:pt x="53" y="526"/>
                    <a:pt x="25" y="535"/>
                    <a:pt x="25" y="574"/>
                  </a:cubicBezTo>
                  <a:cubicBezTo>
                    <a:pt x="25" y="638"/>
                    <a:pt x="78" y="680"/>
                    <a:pt x="162" y="680"/>
                  </a:cubicBezTo>
                  <a:cubicBezTo>
                    <a:pt x="291" y="680"/>
                    <a:pt x="412" y="546"/>
                    <a:pt x="412" y="333"/>
                  </a:cubicBezTo>
                  <a:cubicBezTo>
                    <a:pt x="412" y="67"/>
                    <a:pt x="297" y="0"/>
                    <a:pt x="210" y="0"/>
                  </a:cubicBezTo>
                  <a:cubicBezTo>
                    <a:pt x="154" y="0"/>
                    <a:pt x="106" y="17"/>
                    <a:pt x="64" y="62"/>
                  </a:cubicBezTo>
                  <a:cubicBezTo>
                    <a:pt x="22" y="106"/>
                    <a:pt x="0" y="148"/>
                    <a:pt x="0" y="221"/>
                  </a:cubicBezTo>
                  <a:cubicBezTo>
                    <a:pt x="0" y="347"/>
                    <a:pt x="87" y="442"/>
                    <a:pt x="199" y="442"/>
                  </a:cubicBezTo>
                  <a:cubicBezTo>
                    <a:pt x="258" y="442"/>
                    <a:pt x="300" y="400"/>
                    <a:pt x="322" y="344"/>
                  </a:cubicBezTo>
                  <a:close/>
                  <a:moveTo>
                    <a:pt x="199" y="420"/>
                  </a:moveTo>
                  <a:cubicBezTo>
                    <a:pt x="182" y="420"/>
                    <a:pt x="137" y="420"/>
                    <a:pt x="106" y="358"/>
                  </a:cubicBezTo>
                  <a:cubicBezTo>
                    <a:pt x="90" y="322"/>
                    <a:pt x="90" y="272"/>
                    <a:pt x="90" y="224"/>
                  </a:cubicBezTo>
                  <a:cubicBezTo>
                    <a:pt x="90" y="171"/>
                    <a:pt x="90" y="123"/>
                    <a:pt x="109" y="87"/>
                  </a:cubicBezTo>
                  <a:cubicBezTo>
                    <a:pt x="137" y="36"/>
                    <a:pt x="174" y="25"/>
                    <a:pt x="210" y="25"/>
                  </a:cubicBezTo>
                  <a:cubicBezTo>
                    <a:pt x="255" y="25"/>
                    <a:pt x="288" y="59"/>
                    <a:pt x="305" y="104"/>
                  </a:cubicBezTo>
                  <a:cubicBezTo>
                    <a:pt x="316" y="134"/>
                    <a:pt x="319" y="196"/>
                    <a:pt x="319" y="241"/>
                  </a:cubicBezTo>
                  <a:cubicBezTo>
                    <a:pt x="319" y="325"/>
                    <a:pt x="286" y="420"/>
                    <a:pt x="199" y="42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3465A4"/>
              </a:solidFill>
              <a:prstDash val="solid"/>
              <a:miter/>
            </a:ln>
          </p:spPr>
          <p:txBody>
            <a:bodyPr vert="horz" wrap="none" lIns="87198" tIns="46375" rIns="87198" bIns="46375" anchorCtr="0" compatLnSpc="0"/>
            <a:lstStyle/>
            <a:p>
              <a:pPr hangingPunct="0"/>
              <a:endParaRPr lang="en-GB" sz="1633">
                <a:latin typeface="Liberation Sans" pitchFamily="18"/>
                <a:ea typeface="DejaVu Sans" pitchFamily="2"/>
                <a:cs typeface="FreeSans" pitchFamily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364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45D8-5819-4C09-A0C2-DC38333B1ED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118695"/>
            <a:ext cx="8229627" cy="570235"/>
          </a:xfrm>
        </p:spPr>
        <p:txBody>
          <a:bodyPr>
            <a:normAutofit fontScale="90000"/>
          </a:bodyPr>
          <a:lstStyle/>
          <a:p>
            <a:pPr lvl="0"/>
            <a:r>
              <a:rPr lang="en-GB" dirty="0"/>
              <a:t>Sequence of execution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F33D1-32BC-4B2C-832E-AF24BD061C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688930"/>
            <a:ext cx="8229627" cy="3977484"/>
          </a:xfrm>
        </p:spPr>
        <p:txBody>
          <a:bodyPr>
            <a:noAutofit/>
          </a:bodyPr>
          <a:lstStyle/>
          <a:p>
            <a:pPr lvl="0"/>
            <a:r>
              <a:rPr lang="en-GB" sz="2000" dirty="0">
                <a:latin typeface="Courier 10 Pitch" pitchFamily="17"/>
              </a:rPr>
              <a:t>def</a:t>
            </a:r>
            <a:r>
              <a:rPr lang="en-GB" sz="2000" b="1" dirty="0">
                <a:latin typeface="Courier 10 Pitch" pitchFamily="17"/>
              </a:rPr>
              <a:t> </a:t>
            </a:r>
            <a:r>
              <a:rPr lang="en-GB" sz="2000" dirty="0" err="1">
                <a:latin typeface="Courier 10 Pitch" pitchFamily="17"/>
              </a:rPr>
              <a:t>convert_to_celsius</a:t>
            </a:r>
            <a:r>
              <a:rPr lang="en-GB" sz="2000" dirty="0">
                <a:latin typeface="Courier 10 Pitch" pitchFamily="17"/>
              </a:rPr>
              <a:t>(</a:t>
            </a:r>
            <a:r>
              <a:rPr lang="en-GB" sz="2000" dirty="0" err="1">
                <a:latin typeface="Courier 10 Pitch" pitchFamily="17"/>
              </a:rPr>
              <a:t>fahrenheit</a:t>
            </a:r>
            <a:r>
              <a:rPr lang="en-GB" sz="2000" dirty="0">
                <a:latin typeface="Courier 10 Pitch" pitchFamily="17"/>
              </a:rPr>
              <a:t>):</a:t>
            </a:r>
            <a:br>
              <a:rPr lang="en-GB" sz="2000" dirty="0">
                <a:latin typeface="Courier 10 Pitch" pitchFamily="17"/>
              </a:rPr>
            </a:br>
            <a:r>
              <a:rPr lang="en-GB" sz="2000" dirty="0">
                <a:latin typeface="Courier 10 Pitch" pitchFamily="17"/>
              </a:rPr>
              <a:t>	return (</a:t>
            </a:r>
            <a:r>
              <a:rPr lang="en-GB" sz="2000" dirty="0" err="1">
                <a:latin typeface="Courier 10 Pitch" pitchFamily="17"/>
              </a:rPr>
              <a:t>fahrenheit</a:t>
            </a:r>
            <a:r>
              <a:rPr lang="en-GB" sz="2000" dirty="0">
                <a:latin typeface="Courier 10 Pitch" pitchFamily="17"/>
              </a:rPr>
              <a:t> – 32) * 5 / 9</a:t>
            </a:r>
          </a:p>
          <a:p>
            <a:pPr lvl="0"/>
            <a:r>
              <a:rPr lang="en-GB" sz="2000" dirty="0" err="1">
                <a:latin typeface="Courier 10 Pitch" pitchFamily="17"/>
              </a:rPr>
              <a:t>convert_to_celsius</a:t>
            </a:r>
            <a:r>
              <a:rPr lang="en-GB" sz="2000" dirty="0">
                <a:latin typeface="Courier 10 Pitch" pitchFamily="17"/>
              </a:rPr>
              <a:t>(100)</a:t>
            </a:r>
            <a:br>
              <a:rPr lang="en-GB" sz="2000" dirty="0">
                <a:latin typeface="Courier 10 Pitch" pitchFamily="17"/>
              </a:rPr>
            </a:br>
            <a:r>
              <a:rPr lang="en-GB" sz="2000" dirty="0">
                <a:latin typeface="Courier 10 Pitch" pitchFamily="17"/>
              </a:rPr>
              <a:t>37.77777777777778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Python executes the function </a:t>
            </a:r>
            <a:r>
              <a:rPr lang="en-GB" sz="2000" b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definition</a:t>
            </a: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(creates an object called </a:t>
            </a:r>
            <a:r>
              <a:rPr lang="en-GB" sz="20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convert_to_celsius</a:t>
            </a: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)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Pythons executes the function call </a:t>
            </a:r>
            <a:r>
              <a:rPr lang="en-GB" sz="20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convert_to_celsius</a:t>
            </a: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(100)</a:t>
            </a:r>
          </a:p>
          <a:p>
            <a:pPr lvl="2" hangingPunct="0">
              <a:spcBef>
                <a:spcPts val="1286"/>
              </a:spcBef>
              <a:buSzPct val="45000"/>
              <a:buFont typeface="StarSymbol"/>
              <a:buChar char="●"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The argument 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100</a:t>
            </a: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is assigned to the variable (parameter) </a:t>
            </a:r>
            <a:r>
              <a:rPr lang="en-GB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endParaRPr lang="en-GB" dirty="0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  <a:p>
            <a:pPr lvl="2" hangingPunct="0">
              <a:spcBef>
                <a:spcPts val="1286"/>
              </a:spcBef>
              <a:buSzPct val="45000"/>
              <a:buFont typeface="StarSymbol"/>
              <a:buChar char="●"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The computation is performed</a:t>
            </a:r>
          </a:p>
          <a:p>
            <a:pPr lvl="2" hangingPunct="0">
              <a:spcBef>
                <a:spcPts val="1286"/>
              </a:spcBef>
              <a:buSzPct val="45000"/>
              <a:buFont typeface="StarSymbol"/>
              <a:buChar char="●"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The result is returned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The return is made to the location where the call was made</a:t>
            </a:r>
          </a:p>
        </p:txBody>
      </p:sp>
    </p:spTree>
    <p:extLst>
      <p:ext uri="{BB962C8B-B14F-4D97-AF65-F5344CB8AC3E}">
        <p14:creationId xmlns:p14="http://schemas.microsoft.com/office/powerpoint/2010/main" val="1604390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72AD-27B9-4EFE-BA3B-95722EEAA72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en-GB"/>
              <a:t>More keywords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2A599-66F1-40B0-871B-D8411D340B5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1604841"/>
            <a:ext cx="8229627" cy="1897135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latin typeface="Courier 10 Pitch" pitchFamily="17"/>
              </a:rPr>
              <a:t>def</a:t>
            </a:r>
            <a:r>
              <a:rPr lang="en-GB" dirty="0"/>
              <a:t> and </a:t>
            </a:r>
            <a:r>
              <a:rPr lang="en-GB" dirty="0">
                <a:latin typeface="Courier 10 Pitch" pitchFamily="17"/>
              </a:rPr>
              <a:t>return</a:t>
            </a:r>
            <a:r>
              <a:rPr lang="en-GB" dirty="0"/>
              <a:t> are Python keywords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A keyword is a word that has a special meaning for Python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They can’t be used as variable nor function names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62C349-3442-42B6-88DF-D40DCA141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55014"/>
              </p:ext>
            </p:extLst>
          </p:nvPr>
        </p:nvGraphicFramePr>
        <p:xfrm>
          <a:off x="1469295" y="3728045"/>
          <a:ext cx="8230280" cy="1935345"/>
        </p:xfrm>
        <a:graphic>
          <a:graphicData uri="http://schemas.openxmlformats.org/drawingml/2006/table">
            <a:tbl>
              <a:tblPr firstRow="1" bandRow="1"/>
              <a:tblGrid>
                <a:gridCol w="1175381">
                  <a:extLst>
                    <a:ext uri="{9D8B030D-6E8A-4147-A177-3AD203B41FA5}">
                      <a16:colId xmlns:a16="http://schemas.microsoft.com/office/drawing/2014/main" val="1400652971"/>
                    </a:ext>
                  </a:extLst>
                </a:gridCol>
                <a:gridCol w="1175381">
                  <a:extLst>
                    <a:ext uri="{9D8B030D-6E8A-4147-A177-3AD203B41FA5}">
                      <a16:colId xmlns:a16="http://schemas.microsoft.com/office/drawing/2014/main" val="1712498228"/>
                    </a:ext>
                  </a:extLst>
                </a:gridCol>
                <a:gridCol w="1175381">
                  <a:extLst>
                    <a:ext uri="{9D8B030D-6E8A-4147-A177-3AD203B41FA5}">
                      <a16:colId xmlns:a16="http://schemas.microsoft.com/office/drawing/2014/main" val="3500338113"/>
                    </a:ext>
                  </a:extLst>
                </a:gridCol>
                <a:gridCol w="1175381">
                  <a:extLst>
                    <a:ext uri="{9D8B030D-6E8A-4147-A177-3AD203B41FA5}">
                      <a16:colId xmlns:a16="http://schemas.microsoft.com/office/drawing/2014/main" val="2556988848"/>
                    </a:ext>
                  </a:extLst>
                </a:gridCol>
                <a:gridCol w="1175381">
                  <a:extLst>
                    <a:ext uri="{9D8B030D-6E8A-4147-A177-3AD203B41FA5}">
                      <a16:colId xmlns:a16="http://schemas.microsoft.com/office/drawing/2014/main" val="524278955"/>
                    </a:ext>
                  </a:extLst>
                </a:gridCol>
                <a:gridCol w="1175381">
                  <a:extLst>
                    <a:ext uri="{9D8B030D-6E8A-4147-A177-3AD203B41FA5}">
                      <a16:colId xmlns:a16="http://schemas.microsoft.com/office/drawing/2014/main" val="2994591318"/>
                    </a:ext>
                  </a:extLst>
                </a:gridCol>
                <a:gridCol w="1177994">
                  <a:extLst>
                    <a:ext uri="{9D8B030D-6E8A-4147-A177-3AD203B41FA5}">
                      <a16:colId xmlns:a16="http://schemas.microsoft.com/office/drawing/2014/main" val="2225151210"/>
                    </a:ext>
                  </a:extLst>
                </a:gridCol>
              </a:tblGrid>
              <a:tr h="386677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False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assert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del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for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in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or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while</a:t>
                      </a: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961329800"/>
                  </a:ext>
                </a:extLst>
              </a:tr>
              <a:tr h="386677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None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 dirty="0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break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elif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from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is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pass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with</a:t>
                      </a: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401016504"/>
                  </a:ext>
                </a:extLst>
              </a:tr>
              <a:tr h="386677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True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class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else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global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lambda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raise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yield</a:t>
                      </a: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2541236085"/>
                  </a:ext>
                </a:extLst>
              </a:tr>
              <a:tr h="386677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and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continue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except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if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nonlocal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return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GB" sz="1600" b="0" i="0" u="none" strike="noStrike" kern="1200" cap="none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3923136775"/>
                  </a:ext>
                </a:extLst>
              </a:tr>
              <a:tr h="388637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as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 dirty="0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def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finally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import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not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try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GB" sz="1600" b="0" i="0" u="none" strike="noStrike" kern="1200" cap="none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3275557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1561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9A32-3234-4B78-BBA6-ECBC279857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92968-093C-4B30-BB12-5558EA4A323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200" y="142266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Create a function that returns the argument to the third power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Examples of usage: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cube_it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(3)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27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cube_it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(4)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64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cube_it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(2.5)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15.625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cube_it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(5) +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cube_it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(1.5)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128.375</a:t>
            </a:r>
          </a:p>
        </p:txBody>
      </p:sp>
    </p:spTree>
    <p:extLst>
      <p:ext uri="{BB962C8B-B14F-4D97-AF65-F5344CB8AC3E}">
        <p14:creationId xmlns:p14="http://schemas.microsoft.com/office/powerpoint/2010/main" val="112500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00F1-F874-45D2-B8B4-9A9717BBA13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en-GB"/>
              <a:t>Some possible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E724-D39B-4662-8782-3BEF5D8D80B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1604841"/>
            <a:ext cx="4016022" cy="1897135"/>
          </a:xfrm>
        </p:spPr>
        <p:txBody>
          <a:bodyPr/>
          <a:lstStyle/>
          <a:p>
            <a:pPr lvl="0"/>
            <a:r>
              <a:rPr lang="en-GB" sz="1633">
                <a:latin typeface="Courier 10 Pitch" pitchFamily="17"/>
              </a:rPr>
              <a:t>def cube_it(number):</a:t>
            </a:r>
            <a:br>
              <a:rPr lang="en-GB" sz="1633">
                <a:latin typeface="Courier 10 Pitch" pitchFamily="17"/>
              </a:rPr>
            </a:br>
            <a:r>
              <a:rPr lang="en-GB" sz="1633">
                <a:latin typeface="Courier 10 Pitch" pitchFamily="17"/>
              </a:rPr>
              <a:t>	return number*number*number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5B77C-5DC6-44AC-A3A6-30F13903E87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97938" y="1604841"/>
            <a:ext cx="4016022" cy="1897135"/>
          </a:xfrm>
        </p:spPr>
        <p:txBody>
          <a:bodyPr/>
          <a:lstStyle/>
          <a:p>
            <a:pPr lvl="0"/>
            <a:r>
              <a:rPr lang="en-GB" sz="2177">
                <a:latin typeface="Courier 10 Pitch" pitchFamily="17"/>
              </a:rPr>
              <a:t>def cube_it(number):</a:t>
            </a:r>
            <a:br>
              <a:rPr lang="en-GB" sz="2177">
                <a:latin typeface="Courier 10 Pitch" pitchFamily="17"/>
              </a:rPr>
            </a:br>
            <a:r>
              <a:rPr lang="en-GB" sz="2177">
                <a:latin typeface="Courier 10 Pitch" pitchFamily="17"/>
              </a:rPr>
              <a:t>	return pow(number, 3)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F744ED-D553-46B7-A98D-8F0B8AEBEC8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97938" y="3682578"/>
            <a:ext cx="4016022" cy="1897135"/>
          </a:xfrm>
        </p:spPr>
        <p:txBody>
          <a:bodyPr/>
          <a:lstStyle/>
          <a:p>
            <a:pPr lvl="0"/>
            <a:r>
              <a:rPr lang="en-GB" sz="2540">
                <a:latin typeface="Courier 10 Pitch" pitchFamily="17"/>
              </a:rPr>
              <a:t>def cube_it(number):</a:t>
            </a:r>
            <a:br>
              <a:rPr lang="en-GB" sz="2540">
                <a:latin typeface="Courier 10 Pitch" pitchFamily="17"/>
              </a:rPr>
            </a:br>
            <a:r>
              <a:rPr lang="en-GB" sz="2540">
                <a:latin typeface="Courier 10 Pitch" pitchFamily="17"/>
              </a:rPr>
              <a:t>	total = number**3</a:t>
            </a:r>
            <a:br>
              <a:rPr lang="en-GB" sz="2540">
                <a:latin typeface="Courier 10 Pitch" pitchFamily="17"/>
              </a:rPr>
            </a:br>
            <a:r>
              <a:rPr lang="en-GB" sz="2540">
                <a:latin typeface="Courier 10 Pitch" pitchFamily="17"/>
              </a:rPr>
              <a:t>	return total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DC70BA-EE2E-4791-94B2-ECE91BC5CB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3682578"/>
            <a:ext cx="4016022" cy="1897135"/>
          </a:xfrm>
        </p:spPr>
        <p:txBody>
          <a:bodyPr/>
          <a:lstStyle/>
          <a:p>
            <a:pPr lvl="0"/>
            <a:r>
              <a:rPr lang="en-GB" sz="2540">
                <a:latin typeface="Courier 10 Pitch" pitchFamily="17"/>
              </a:rPr>
              <a:t>def cube_it(number):</a:t>
            </a:r>
            <a:br>
              <a:rPr lang="en-GB" sz="2540">
                <a:latin typeface="Courier 10 Pitch" pitchFamily="17"/>
              </a:rPr>
            </a:br>
            <a:r>
              <a:rPr lang="en-GB" sz="2540">
                <a:latin typeface="Courier 10 Pitch" pitchFamily="17"/>
              </a:rPr>
              <a:t>	return number**3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4B7C19D-D4A4-44BB-9472-BB61083893D4}"/>
              </a:ext>
            </a:extLst>
          </p:cNvPr>
          <p:cNvSpPr/>
          <p:nvPr/>
        </p:nvSpPr>
        <p:spPr>
          <a:xfrm rot="16200000">
            <a:off x="-1515848" y="3499037"/>
            <a:ext cx="4833465" cy="104507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algn="ctr" hangingPunct="0"/>
            <a: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  <a:t>Warning!!!</a:t>
            </a:r>
          </a:p>
          <a:p>
            <a:pPr hangingPunct="0"/>
            <a: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  <a:t>We could define all the functions, but only the last</a:t>
            </a:r>
            <a:b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  <a:t>definition remains (the previous is replaced), unless</a:t>
            </a:r>
          </a:p>
          <a:p>
            <a:pPr hangingPunct="0"/>
            <a: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  <a:t>different function names are used for each.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F27A464-CDC5-4AB4-889C-480D2AC21700}"/>
              </a:ext>
            </a:extLst>
          </p:cNvPr>
          <p:cNvSpPr/>
          <p:nvPr/>
        </p:nvSpPr>
        <p:spPr>
          <a:xfrm>
            <a:off x="1915423" y="1502293"/>
            <a:ext cx="4049660" cy="84912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GB" sz="1633"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A3EC460-A2F9-43AC-972F-B949AEE887F5}"/>
              </a:ext>
            </a:extLst>
          </p:cNvPr>
          <p:cNvSpPr/>
          <p:nvPr/>
        </p:nvSpPr>
        <p:spPr>
          <a:xfrm>
            <a:off x="6161034" y="1502293"/>
            <a:ext cx="4049660" cy="84912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GB" sz="1633"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40C2769-CF00-4577-BAFA-CC5D736BF932}"/>
              </a:ext>
            </a:extLst>
          </p:cNvPr>
          <p:cNvSpPr/>
          <p:nvPr/>
        </p:nvSpPr>
        <p:spPr>
          <a:xfrm>
            <a:off x="1915423" y="3592440"/>
            <a:ext cx="4049660" cy="117570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GB" sz="1633"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F4F98B7-057C-4DAB-9520-366773AC0102}"/>
              </a:ext>
            </a:extLst>
          </p:cNvPr>
          <p:cNvSpPr/>
          <p:nvPr/>
        </p:nvSpPr>
        <p:spPr>
          <a:xfrm>
            <a:off x="6128375" y="3592440"/>
            <a:ext cx="4049660" cy="117570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GB" sz="1633"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75253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9F4D-68C2-4DA3-AF6F-8ACE921CA64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Variable’s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4EB3A-E44D-4653-8BDB-E15E1A3CA9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 dirty="0">
                <a:latin typeface="Courier 10 Pitch" pitchFamily="17"/>
              </a:rPr>
              <a:t>def </a:t>
            </a:r>
            <a:r>
              <a:rPr lang="en-GB" dirty="0" err="1">
                <a:latin typeface="Courier 10 Pitch" pitchFamily="17"/>
              </a:rPr>
              <a:t>my_adder</a:t>
            </a:r>
            <a:r>
              <a:rPr lang="en-GB" dirty="0">
                <a:latin typeface="Courier 10 Pitch" pitchFamily="17"/>
              </a:rPr>
              <a:t>(a, b, c):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	</a:t>
            </a:r>
            <a:r>
              <a:rPr lang="en-GB" dirty="0" err="1">
                <a:latin typeface="Courier 10 Pitch" pitchFamily="17"/>
              </a:rPr>
              <a:t>sub_total</a:t>
            </a:r>
            <a:r>
              <a:rPr lang="en-GB" dirty="0">
                <a:latin typeface="Courier 10 Pitch" pitchFamily="17"/>
              </a:rPr>
              <a:t> = a + b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	total = </a:t>
            </a:r>
            <a:r>
              <a:rPr lang="en-GB" dirty="0" err="1">
                <a:latin typeface="Courier 10 Pitch" pitchFamily="17"/>
              </a:rPr>
              <a:t>sub_total</a:t>
            </a:r>
            <a:r>
              <a:rPr lang="en-GB" dirty="0">
                <a:latin typeface="Courier 10 Pitch" pitchFamily="17"/>
              </a:rPr>
              <a:t> + c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	return total</a:t>
            </a:r>
          </a:p>
          <a:p>
            <a:pPr lvl="0"/>
            <a:r>
              <a:rPr lang="en-GB" sz="2540" dirty="0">
                <a:latin typeface="Courier 10 Pitch" pitchFamily="17"/>
              </a:rPr>
              <a:t>&gt;&gt;&gt; total</a:t>
            </a:r>
            <a:br>
              <a:rPr lang="en-GB" sz="2540" dirty="0">
                <a:latin typeface="Courier 10 Pitch" pitchFamily="17"/>
              </a:rPr>
            </a:br>
            <a:r>
              <a:rPr lang="en-GB" sz="2540" dirty="0">
                <a:latin typeface="Courier 10 Pitch" pitchFamily="17"/>
              </a:rPr>
              <a:t>Traceback (most recent call last):</a:t>
            </a:r>
            <a:br>
              <a:rPr lang="en-GB" sz="2540" dirty="0">
                <a:latin typeface="Courier 10 Pitch" pitchFamily="17"/>
              </a:rPr>
            </a:br>
            <a:r>
              <a:rPr lang="en-GB" sz="2540" dirty="0">
                <a:latin typeface="Courier 10 Pitch" pitchFamily="17"/>
              </a:rPr>
              <a:t>  File "&lt;pyshell#36&gt;", line 1, in &lt;module&gt;</a:t>
            </a:r>
            <a:br>
              <a:rPr lang="en-GB" sz="2540" dirty="0">
                <a:latin typeface="Courier 10 Pitch" pitchFamily="17"/>
              </a:rPr>
            </a:br>
            <a:r>
              <a:rPr lang="en-GB" sz="2540" dirty="0">
                <a:latin typeface="Courier 10 Pitch" pitchFamily="17"/>
              </a:rPr>
              <a:t>     total</a:t>
            </a:r>
            <a:br>
              <a:rPr lang="en-GB" sz="2540" dirty="0">
                <a:latin typeface="Courier 10 Pitch" pitchFamily="17"/>
              </a:rPr>
            </a:br>
            <a:r>
              <a:rPr lang="en-GB" sz="2540" dirty="0" err="1">
                <a:latin typeface="Courier 10 Pitch" pitchFamily="17"/>
              </a:rPr>
              <a:t>NameError</a:t>
            </a:r>
            <a:r>
              <a:rPr lang="en-GB" sz="2540" dirty="0">
                <a:latin typeface="Courier 10 Pitch" pitchFamily="17"/>
              </a:rPr>
              <a:t>: name 'total' is not defined</a:t>
            </a:r>
          </a:p>
          <a:p>
            <a:pPr lvl="0"/>
            <a:r>
              <a:rPr lang="en-GB" dirty="0">
                <a:latin typeface="Courier 10 Pitch" pitchFamily="17"/>
              </a:rPr>
              <a:t>&gt;&gt;&gt; c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???????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7ACE232-1E6C-44E8-B4DB-4D5B9D2C3980}"/>
              </a:ext>
            </a:extLst>
          </p:cNvPr>
          <p:cNvSpPr/>
          <p:nvPr/>
        </p:nvSpPr>
        <p:spPr>
          <a:xfrm>
            <a:off x="7859845" y="1667135"/>
            <a:ext cx="2808635" cy="52253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r>
              <a:rPr lang="en-GB" sz="1633">
                <a:latin typeface="Courier 10 Pitch" pitchFamily="17"/>
                <a:ea typeface="DejaVu Sans" pitchFamily="2"/>
                <a:cs typeface="FreeSans" pitchFamily="2"/>
              </a:rPr>
              <a:t>a</a:t>
            </a:r>
            <a:r>
              <a:rPr lang="en-GB" sz="1633">
                <a:latin typeface="Liberation Sans" pitchFamily="18"/>
                <a:ea typeface="DejaVu Sans" pitchFamily="2"/>
                <a:cs typeface="FreeSans" pitchFamily="2"/>
              </a:rPr>
              <a:t>, </a:t>
            </a:r>
            <a:r>
              <a:rPr lang="en-GB" sz="1633">
                <a:latin typeface="Courier 10 Pitch" pitchFamily="17"/>
                <a:ea typeface="DejaVu Sans" pitchFamily="2"/>
                <a:cs typeface="FreeSans" pitchFamily="2"/>
              </a:rPr>
              <a:t>b</a:t>
            </a:r>
            <a:r>
              <a:rPr lang="en-GB" sz="1633">
                <a:latin typeface="Liberation Sans" pitchFamily="18"/>
                <a:ea typeface="DejaVu Sans" pitchFamily="2"/>
                <a:cs typeface="FreeSans" pitchFamily="2"/>
              </a:rPr>
              <a:t>, </a:t>
            </a:r>
            <a:r>
              <a:rPr lang="en-GB" sz="1633">
                <a:latin typeface="Courier 10 Pitch" pitchFamily="17"/>
                <a:ea typeface="DejaVu Sans" pitchFamily="2"/>
                <a:cs typeface="FreeSans" pitchFamily="2"/>
              </a:rPr>
              <a:t>c</a:t>
            </a:r>
            <a:r>
              <a:rPr lang="en-GB" sz="1633">
                <a:latin typeface="Liberation Sans" pitchFamily="18"/>
                <a:ea typeface="DejaVu Sans" pitchFamily="2"/>
                <a:cs typeface="FreeSans" pitchFamily="2"/>
              </a:rPr>
              <a:t>, </a:t>
            </a:r>
            <a:r>
              <a:rPr lang="en-GB" sz="1633">
                <a:latin typeface="Courier 10 Pitch" pitchFamily="17"/>
                <a:ea typeface="DejaVu Sans" pitchFamily="2"/>
                <a:cs typeface="FreeSans" pitchFamily="2"/>
              </a:rPr>
              <a:t>sub_total</a:t>
            </a:r>
            <a:r>
              <a:rPr lang="en-GB" sz="1633">
                <a:latin typeface="Liberation Sans" pitchFamily="18"/>
                <a:ea typeface="DejaVu Sans" pitchFamily="2"/>
                <a:cs typeface="FreeSans" pitchFamily="2"/>
              </a:rPr>
              <a:t>, </a:t>
            </a:r>
            <a:r>
              <a:rPr lang="en-GB" sz="1633">
                <a:latin typeface="Courier 10 Pitch" pitchFamily="17"/>
                <a:ea typeface="DejaVu Sans" pitchFamily="2"/>
                <a:cs typeface="FreeSans" pitchFamily="2"/>
              </a:rPr>
              <a:t>total</a:t>
            </a:r>
            <a:r>
              <a:rPr lang="en-GB" sz="1633">
                <a:latin typeface="Liberation Sans" pitchFamily="34"/>
                <a:ea typeface="DejaVu Sans" pitchFamily="2"/>
                <a:cs typeface="FreeSans" pitchFamily="2"/>
              </a:rPr>
              <a:t> </a:t>
            </a:r>
            <a:br>
              <a:rPr lang="en-GB" sz="1633">
                <a:latin typeface="Liberation Sans" pitchFamily="34"/>
                <a:ea typeface="DejaVu Sans" pitchFamily="2"/>
                <a:cs typeface="FreeSans" pitchFamily="2"/>
              </a:rPr>
            </a:br>
            <a:r>
              <a:rPr lang="en-GB" sz="1633">
                <a:latin typeface="Liberation Sans" pitchFamily="34"/>
                <a:ea typeface="DejaVu Sans" pitchFamily="2"/>
                <a:cs typeface="FreeSans" pitchFamily="2"/>
              </a:rPr>
              <a:t>only </a:t>
            </a:r>
            <a:r>
              <a:rPr lang="en-GB" sz="1633">
                <a:latin typeface="Liberation Sans" pitchFamily="18"/>
                <a:ea typeface="DejaVu Sans" pitchFamily="2"/>
                <a:cs typeface="FreeSans" pitchFamily="2"/>
              </a:rPr>
              <a:t>exist inside the function!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265AE7E-2FC7-4216-BE57-9720F9283CC7}"/>
              </a:ext>
            </a:extLst>
          </p:cNvPr>
          <p:cNvSpPr/>
          <p:nvPr/>
        </p:nvSpPr>
        <p:spPr>
          <a:xfrm>
            <a:off x="7152857" y="1665840"/>
            <a:ext cx="130634" cy="783805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0800"/>
              <a:gd name="f13" fmla="val 162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8 f15 1"/>
              <a:gd name="f28" fmla="*/ f18 f16 1"/>
              <a:gd name="f29" fmla="*/ 0 f15 1"/>
              <a:gd name="f30" fmla="*/ 7800 f15 1"/>
              <a:gd name="f31" fmla="*/ 0 f16 1"/>
              <a:gd name="f32" fmla="*/ f19 1 f4"/>
              <a:gd name="f33" fmla="*/ 21600 f16 1"/>
              <a:gd name="f34" fmla="*/ 21600 f15 1"/>
              <a:gd name="f35" fmla="*/ 108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29" y="f31"/>
              </a:cxn>
              <a:cxn ang="f42">
                <a:pos x="f29" y="f33"/>
              </a:cxn>
              <a:cxn ang="f42">
                <a:pos x="f34" y="f35"/>
              </a:cxn>
            </a:cxnLst>
            <a:rect l="f29" t="f44" r="f30" b="f45"/>
            <a:pathLst>
              <a:path w="21600" h="21600">
                <a:moveTo>
                  <a:pt x="f7" y="f7"/>
                </a:moveTo>
                <a:cubicBezTo>
                  <a:pt x="f11" y="f7"/>
                  <a:pt x="f12" y="f20"/>
                  <a:pt x="f12" y="f21"/>
                </a:cubicBezTo>
                <a:lnTo>
                  <a:pt x="f12" y="f36"/>
                </a:lnTo>
                <a:cubicBezTo>
                  <a:pt x="f12" y="f37"/>
                  <a:pt x="f13" y="f22"/>
                  <a:pt x="f8" y="f22"/>
                </a:cubicBezTo>
                <a:cubicBezTo>
                  <a:pt x="f13" y="f22"/>
                  <a:pt x="f12" y="f38"/>
                  <a:pt x="f12" y="f39"/>
                </a:cubicBezTo>
                <a:lnTo>
                  <a:pt x="f12" y="f23"/>
                </a:lnTo>
                <a:cubicBezTo>
                  <a:pt x="f12" y="f40"/>
                  <a:pt x="f11" y="f8"/>
                  <a:pt x="f7" y="f8"/>
                </a:cubicBezTo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GB" sz="1633"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04263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09CD8-1E28-42FB-B03D-E98A3C3026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What happens here?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C54DA-665B-4186-B368-D42E6E2891E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en-GB">
                <a:latin typeface="Courier 10 Pitch" pitchFamily="17"/>
              </a:rPr>
              <a:t>def my_adder(a, b, c):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sub_total = a + b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total = sub_total + c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return total</a:t>
            </a:r>
          </a:p>
          <a:p>
            <a:pPr lvl="0"/>
            <a:r>
              <a:rPr lang="en-GB">
                <a:latin typeface="Courier 10 Pitch" pitchFamily="17"/>
              </a:rPr>
              <a:t>&gt;&gt;&gt; total = 10</a:t>
            </a:r>
          </a:p>
          <a:p>
            <a:pPr lvl="0"/>
            <a:r>
              <a:rPr lang="en-GB">
                <a:latin typeface="Courier 10 Pitch" pitchFamily="17"/>
              </a:rPr>
              <a:t>&gt;&gt;&gt; my_adder(5, 5, 5)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???</a:t>
            </a:r>
          </a:p>
          <a:p>
            <a:pPr lvl="0"/>
            <a:r>
              <a:rPr lang="en-GB">
                <a:latin typeface="Courier 10 Pitch" pitchFamily="17"/>
              </a:rPr>
              <a:t>&gt;&gt;&gt; total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215124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4447-1CA4-49E5-80E0-762F7DB7D36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What happens here?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A5DD2-02E7-4E7E-8338-F2E2C0E9E4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en-GB">
                <a:latin typeface="Courier 10 Pitch" pitchFamily="17"/>
              </a:rPr>
              <a:t>def my_adder(a, b, c):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sub_total = a + b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total = sub_total + c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return total</a:t>
            </a:r>
          </a:p>
          <a:p>
            <a:pPr lvl="0"/>
            <a:r>
              <a:rPr lang="en-GB">
                <a:latin typeface="Courier 10 Pitch" pitchFamily="17"/>
              </a:rPr>
              <a:t>&gt;&gt;&gt; x = 5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&gt;&gt;&gt; y = 5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&gt;&gt;&gt; a = 5</a:t>
            </a:r>
          </a:p>
          <a:p>
            <a:pPr lvl="0"/>
            <a:r>
              <a:rPr lang="en-GB">
                <a:latin typeface="Courier 10 Pitch" pitchFamily="17"/>
              </a:rPr>
              <a:t>&gt;&gt;&gt; my_adder(x, y, a)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410138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B944-8E20-47B9-B8EC-C0CF402BE8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What happens here? (3)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2DEDD-64A5-46A4-9DEB-4389B54A6A2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en-GB">
                <a:latin typeface="Courier 10 Pitch" pitchFamily="17"/>
              </a:rPr>
              <a:t>def f(x):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x = 2 * x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return x</a:t>
            </a:r>
          </a:p>
          <a:p>
            <a:pPr lvl="0"/>
            <a:r>
              <a:rPr lang="en-GB">
                <a:latin typeface="Courier 10 Pitch" pitchFamily="17"/>
              </a:rPr>
              <a:t>&gt;&gt;&gt; x = 1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&gt;&gt;&gt; x = f(x + 1) + f(x + 2)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&gt;&gt;&gt; x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68799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4593-0644-4A88-8AED-9DD0B94BF67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en-GB"/>
              <a:t>Functions with “no return”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28847-741A-48E8-83C2-D9D91E1D587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1604841"/>
            <a:ext cx="4016022" cy="1897135"/>
          </a:xfrm>
        </p:spPr>
        <p:txBody>
          <a:bodyPr/>
          <a:lstStyle/>
          <a:p>
            <a:pPr lvl="0"/>
            <a:r>
              <a:rPr lang="en-GB">
                <a:latin typeface="Courier 10 Pitch" pitchFamily="17"/>
              </a:rPr>
              <a:t>def func_a(x):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x = x + 1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98936-242A-4FF2-9080-732342204B6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97938" y="1604841"/>
            <a:ext cx="4016022" cy="1897135"/>
          </a:xfrm>
        </p:spPr>
        <p:txBody>
          <a:bodyPr/>
          <a:lstStyle/>
          <a:p>
            <a:pPr lvl="0"/>
            <a:r>
              <a:rPr lang="en-GB">
                <a:latin typeface="Courier 10 Pitch" pitchFamily="17"/>
              </a:rPr>
              <a:t>def func_b(x):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x = x + 1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	return None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23937-7D1A-4B65-81B5-8819CC62143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3682578"/>
            <a:ext cx="8229627" cy="1897135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A function without any return is the same as a function that returns the keyword </a:t>
            </a:r>
            <a:r>
              <a:rPr lang="en-GB">
                <a:latin typeface="Courier 10 Pitch" pitchFamily="17"/>
              </a:rPr>
              <a:t>None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Both are returning </a:t>
            </a:r>
            <a:r>
              <a:rPr lang="en-GB">
                <a:latin typeface="Courier 10 Pitch" pitchFamily="17"/>
              </a:rPr>
              <a:t>None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is the use of such functions?</a:t>
            </a:r>
          </a:p>
        </p:txBody>
      </p:sp>
    </p:spTree>
    <p:extLst>
      <p:ext uri="{BB962C8B-B14F-4D97-AF65-F5344CB8AC3E}">
        <p14:creationId xmlns:p14="http://schemas.microsoft.com/office/powerpoint/2010/main" val="3509590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0316-BF43-4E26-AD15-CD23631F192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Going back to the questions…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BD019-A9D8-4EE8-806A-5E90A18F647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What are the advantages of using functions?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is the difference between a parameter and an argument?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are some built-in functions Python provides?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get help about a function?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define a function?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is indentation and how important is it?</a:t>
            </a:r>
          </a:p>
        </p:txBody>
      </p:sp>
    </p:spTree>
    <p:extLst>
      <p:ext uri="{BB962C8B-B14F-4D97-AF65-F5344CB8AC3E}">
        <p14:creationId xmlns:p14="http://schemas.microsoft.com/office/powerpoint/2010/main" val="20739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D6B5-212B-452F-98E6-06EDDCE71F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Next practical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A9320-E3C2-43C3-9F21-8747CFC233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Part 1: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Practical demonstration by the lecturer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Part 2: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Assessed Quiz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Assessed Worksheet</a:t>
            </a:r>
          </a:p>
        </p:txBody>
      </p:sp>
    </p:spTree>
    <p:extLst>
      <p:ext uri="{BB962C8B-B14F-4D97-AF65-F5344CB8AC3E}">
        <p14:creationId xmlns:p14="http://schemas.microsoft.com/office/powerpoint/2010/main" val="795586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77BC1-39C0-4591-9EE3-EAC736D49B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Further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6DBF0-4DE1-4FF9-95D1-849F1242547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PP, Chapter 3</a:t>
            </a:r>
          </a:p>
        </p:txBody>
      </p:sp>
    </p:spTree>
    <p:extLst>
      <p:ext uri="{BB962C8B-B14F-4D97-AF65-F5344CB8AC3E}">
        <p14:creationId xmlns:p14="http://schemas.microsoft.com/office/powerpoint/2010/main" val="59816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1726</Words>
  <Application>Microsoft Office PowerPoint</Application>
  <PresentationFormat>Widescreen</PresentationFormat>
  <Paragraphs>220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Courier 10 Pitch</vt:lpstr>
      <vt:lpstr>Liberation Sans</vt:lpstr>
      <vt:lpstr>MathJax_Math</vt:lpstr>
      <vt:lpstr>StarSymbol</vt:lpstr>
      <vt:lpstr>Office Theme</vt:lpstr>
      <vt:lpstr> FOU </vt:lpstr>
      <vt:lpstr>In this class</vt:lpstr>
      <vt:lpstr>Functions</vt:lpstr>
      <vt:lpstr>Functions in Python</vt:lpstr>
      <vt:lpstr>Built-in Python Functions</vt:lpstr>
      <vt:lpstr>Problem</vt:lpstr>
      <vt:lpstr>Expression evaluation</vt:lpstr>
      <vt:lpstr>Type conversion functions</vt:lpstr>
      <vt:lpstr>Getting help</vt:lpstr>
      <vt:lpstr>Problem</vt:lpstr>
      <vt:lpstr>PowerPoint Presentation</vt:lpstr>
      <vt:lpstr>Heads up!</vt:lpstr>
      <vt:lpstr>Technical note</vt:lpstr>
      <vt:lpstr>Defining a function</vt:lpstr>
      <vt:lpstr>PowerPoint Presentation</vt:lpstr>
      <vt:lpstr>Defining our own functions</vt:lpstr>
      <vt:lpstr>Sequence of execution</vt:lpstr>
      <vt:lpstr>More keywords</vt:lpstr>
      <vt:lpstr>Problem</vt:lpstr>
      <vt:lpstr>Some possible solutions</vt:lpstr>
      <vt:lpstr>Variable’s scope</vt:lpstr>
      <vt:lpstr>What happens here?</vt:lpstr>
      <vt:lpstr>What happens here? (2)</vt:lpstr>
      <vt:lpstr>What happens here? (3)</vt:lpstr>
      <vt:lpstr>Functions with “no return”</vt:lpstr>
      <vt:lpstr>Going back to the questions…</vt:lpstr>
      <vt:lpstr>Next practical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 Shahbazkia</dc:creator>
  <cp:lastModifiedBy>Hamid Reza Shahbazkia</cp:lastModifiedBy>
  <cp:revision>4</cp:revision>
  <dcterms:created xsi:type="dcterms:W3CDTF">2018-09-09T11:06:41Z</dcterms:created>
  <dcterms:modified xsi:type="dcterms:W3CDTF">2025-10-17T07:42:36Z</dcterms:modified>
</cp:coreProperties>
</file>