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9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jd5Nq+u3La2rgsW87kCW/E5Mp3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958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bcd4cdc91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8bcd4cdc91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8fd60c6b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68fd60c6b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bcd4cdc91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8bcd4cdc91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8fd60c6b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68fd60c6b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6148f6b07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86148f6b07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8bc6584b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68bc6584b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6148f6b0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86148f6b0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86148f6b07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86148f6b07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68fd60c6b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68fd60c6b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6148f6b0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86148f6b0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86148f6b0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86148f6b0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6148f6b0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86148f6b0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86148f6b07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86148f6b07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8bcd4cdc91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8bcd4cdc91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68fd60c6b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68fd60c6b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8bc6584b4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68bc6584b4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bcd4cdc91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8bcd4cdc91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bcd4cdc91_0_2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8bcd4cdc91_0_2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>
  <p:cSld name="Титульный слайд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/>
          <p:nvPr>
            <p:ph type="ctrTitle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>
  <p:cSld name="Заголовок и объект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21"/>
          <p:cNvSpPr txBox="1"/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21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1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accen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3"/>
          <p:cNvSpPr txBox="1"/>
          <p:nvPr>
            <p:ph type="ctrTitle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23"/>
          <p:cNvSpPr txBox="1"/>
          <p:nvPr>
            <p:ph idx="1" type="subTitle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40" name="Google Shape;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2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dk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" type="subTitle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>
            <p:ph type="ctrTitle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25"/>
          <p:cNvSpPr txBox="1"/>
          <p:nvPr>
            <p:ph idx="1" type="subTitle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5" name="Google Shape;5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4560" y="429394"/>
            <a:ext cx="2402881" cy="19538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Заголовок и объект">
  <p:cSld name="3_Заголовок и объект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 b="0" l="0" r="3231" t="29990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6"/>
          <p:cNvPicPr preferRelativeResize="0"/>
          <p:nvPr/>
        </p:nvPicPr>
        <p:blipFill rotWithShape="1">
          <a:blip r:embed="rId3">
            <a:alphaModFix/>
          </a:blip>
          <a:srcRect b="0" l="2885" r="8325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6"/>
          <p:cNvSpPr txBox="1"/>
          <p:nvPr>
            <p:ph type="title"/>
          </p:nvPr>
        </p:nvSpPr>
        <p:spPr>
          <a:xfrm>
            <a:off x="838201" y="474531"/>
            <a:ext cx="4857519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 и объект">
  <p:cSld name="8_Заголовок и объект">
    <p:bg>
      <p:bgPr>
        <a:solidFill>
          <a:schemeClr val="lt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27"/>
          <p:cNvSpPr txBox="1"/>
          <p:nvPr>
            <p:ph type="title"/>
          </p:nvPr>
        </p:nvSpPr>
        <p:spPr>
          <a:xfrm>
            <a:off x="838201" y="474531"/>
            <a:ext cx="4725317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7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и объект">
  <p:cSld name="2_Заголовок и объект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/>
          <p:nvPr>
            <p:ph type="title"/>
          </p:nvPr>
        </p:nvSpPr>
        <p:spPr>
          <a:xfrm>
            <a:off x="838201" y="474531"/>
            <a:ext cx="8558718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Заголовок и объект">
  <p:cSld name="7_Заголовок и объект">
    <p:bg>
      <p:bgPr>
        <a:solidFill>
          <a:schemeClr val="accent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/>
          <p:nvPr>
            <p:ph type="title"/>
          </p:nvPr>
        </p:nvSpPr>
        <p:spPr>
          <a:xfrm>
            <a:off x="838201" y="474531"/>
            <a:ext cx="867545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3" name="Google Shape;83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18941" y="700391"/>
            <a:ext cx="1634857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Заголовок и объект">
  <p:cSld name="6_Заголовок и объект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/>
          <p:nvPr>
            <p:ph type="title"/>
          </p:nvPr>
        </p:nvSpPr>
        <p:spPr>
          <a:xfrm>
            <a:off x="838201" y="474531"/>
            <a:ext cx="8646267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3186"/>
            <a:ext cx="12192000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Заголовок и объект">
  <p:cSld name="5_Заголовок и объект">
    <p:bg>
      <p:bgPr>
        <a:solidFill>
          <a:srgbClr val="ECEEEE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 txBox="1"/>
          <p:nvPr>
            <p:ph type="title"/>
          </p:nvPr>
        </p:nvSpPr>
        <p:spPr>
          <a:xfrm>
            <a:off x="838201" y="474531"/>
            <a:ext cx="8587901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31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Заголовок и объект">
  <p:cSld name="4_Заголовок и объект">
    <p:bg>
      <p:bgPr>
        <a:solidFill>
          <a:srgbClr val="EC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/>
          <p:nvPr>
            <p:ph idx="1" type="body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32"/>
          <p:cNvSpPr txBox="1"/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32"/>
          <p:cNvSpPr txBox="1"/>
          <p:nvPr>
            <p:ph idx="2" type="body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/>
          <p:nvPr>
            <p:ph type="title"/>
          </p:nvPr>
        </p:nvSpPr>
        <p:spPr>
          <a:xfrm>
            <a:off x="838201" y="474531"/>
            <a:ext cx="854899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3"/>
          <p:cNvSpPr txBox="1"/>
          <p:nvPr>
            <p:ph idx="3" type="body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3"/>
          <p:cNvSpPr txBox="1"/>
          <p:nvPr>
            <p:ph idx="4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33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/>
          <p:nvPr>
            <p:ph type="ctrTitle"/>
          </p:nvPr>
        </p:nvSpPr>
        <p:spPr>
          <a:xfrm>
            <a:off x="838200" y="1935497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/>
              <a:t>Fundamentals of programming:</a:t>
            </a:r>
            <a:br>
              <a:rPr lang="en-US" sz="3200"/>
            </a:br>
            <a:br>
              <a:rPr lang="en-US" sz="3200"/>
            </a:br>
            <a:r>
              <a:rPr lang="en-US" sz="3200"/>
              <a:t>Seminar 5</a:t>
            </a:r>
            <a:br>
              <a:rPr lang="en-US" sz="3200"/>
            </a:br>
            <a:endParaRPr sz="3200"/>
          </a:p>
        </p:txBody>
      </p:sp>
      <p:sp>
        <p:nvSpPr>
          <p:cNvPr id="125" name="Google Shape;125;p1"/>
          <p:cNvSpPr txBox="1"/>
          <p:nvPr>
            <p:ph idx="2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Diyora Sayfutdinova – dsayfutdinova@wiut.uz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/>
          <p:nvPr>
            <p:ph idx="1" type="body"/>
          </p:nvPr>
        </p:nvSpPr>
        <p:spPr>
          <a:xfrm>
            <a:off x="838200" y="667125"/>
            <a:ext cx="10360800" cy="51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“save” multiple values to one variable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does it mean when we say a list is mutable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Which List Methods do not modify the original list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?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the difference between append() and extend()?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the difference between list.sort() and built-in sorted()?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access/modify elements on a list?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How to check if an object is in a list?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Can a list contain values of different data types?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/>
          <p:nvPr>
            <p:ph type="title"/>
          </p:nvPr>
        </p:nvSpPr>
        <p:spPr>
          <a:xfrm>
            <a:off x="838200" y="94677"/>
            <a:ext cx="100365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/>
          </a:p>
        </p:txBody>
      </p:sp>
      <p:sp>
        <p:nvSpPr>
          <p:cNvPr id="133" name="Google Shape;133;p2"/>
          <p:cNvSpPr txBox="1"/>
          <p:nvPr>
            <p:ph idx="3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4" name="Google Shape;134;p2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bcd4cdc91_0_37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create a list of int from 1 to 40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only even numbers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only odd numbers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reversed copy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0" name="Google Shape;140;g38bcd4cdc91_0_37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Indexing and Slicing  </a:t>
            </a:r>
            <a:endParaRPr/>
          </a:p>
        </p:txBody>
      </p:sp>
      <p:sp>
        <p:nvSpPr>
          <p:cNvPr id="141" name="Google Shape;141;g38bcd4cdc91_0_37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2" name="Google Shape;142;g38bcd4cdc91_0_37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8fd60c6bc_0_23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Given L = ["a","b","c","d","e","f","g"], produce each (no loops):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["b","c","d"]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["a","c","e","g"]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["g","f","e","d"]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 reversed copy of L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8" name="Google Shape;148;g368fd60c6bc_0_23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Indexing and Slicing  </a:t>
            </a:r>
            <a:endParaRPr/>
          </a:p>
        </p:txBody>
      </p:sp>
      <p:sp>
        <p:nvSpPr>
          <p:cNvPr id="149" name="Google Shape;149;g368fd60c6bc_0_23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0" name="Google Shape;150;g368fd60c6bc_0_23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bcd4cdc91_0_44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myList = [10, 20, 30, 40, 50]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modify the values at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indices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0, 1, 2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to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70, 80, 90 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remove the last two elements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reversed copy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6" name="Google Shape;156;g38bcd4cdc91_0_4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Indexing and Slicing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bcd4cdc91_0_4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58" name="Google Shape;158;g38bcd4cdc91_0_4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8fd60c6bc_0_30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Non-overlapping Patch Start: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P = [1,2,3,4,5,6,7,8]. Replace positions 2..5 (inclusive) with ["x","y"] using one slice assignment; show the final P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64" name="Google Shape;164;g368fd60c6bc_0_30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Indexing and Slicing  </a:t>
            </a:r>
            <a:endParaRPr/>
          </a:p>
        </p:txBody>
      </p:sp>
      <p:sp>
        <p:nvSpPr>
          <p:cNvPr id="165" name="Google Shape;165;g368fd60c6bc_0_3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66" name="Google Shape;166;g368fd60c6bc_0_3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6148f6b07_0_82"/>
          <p:cNvSpPr txBox="1"/>
          <p:nvPr>
            <p:ph idx="1" type="body"/>
          </p:nvPr>
        </p:nvSpPr>
        <p:spPr>
          <a:xfrm>
            <a:off x="785725" y="758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myList = [“John”, 20, US, data </a:t>
            </a: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analyst</a:t>
            </a: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get the name and job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age and country assign to  “details”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6195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modify the values to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Steven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, 40, Germany, graphic designer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using unpacking method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000"/>
              <a:buChar char="•"/>
            </a:pPr>
            <a:r>
              <a:rPr lang="en-US" sz="2000">
                <a:solidFill>
                  <a:srgbClr val="980000"/>
                </a:solidFill>
              </a:rPr>
              <a:t>numbers = [2,6,7,9,15</a:t>
            </a:r>
            <a:r>
              <a:rPr lang="en-US">
                <a:solidFill>
                  <a:srgbClr val="980000"/>
                </a:solidFill>
              </a:rPr>
              <a:t>,</a:t>
            </a:r>
            <a:r>
              <a:rPr lang="en-US" sz="2000">
                <a:solidFill>
                  <a:srgbClr val="980000"/>
                </a:solidFill>
              </a:rPr>
              <a:t>27]</a:t>
            </a:r>
            <a:endParaRPr sz="2000">
              <a:solidFill>
                <a:srgbClr val="980000"/>
              </a:solidFill>
            </a:endParaRPr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assign</a:t>
            </a:r>
            <a:r>
              <a:rPr lang="en-US"/>
              <a:t> 2 → a</a:t>
            </a:r>
            <a:endParaRPr/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assign 6 → b</a:t>
            </a:r>
            <a:endParaRPr/>
          </a:p>
          <a:p>
            <a:pPr indent="-3810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assign the rest → others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2" name="Google Shape;172;g386148f6b07_0_82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List Unpacking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86148f6b07_0_82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74" name="Google Shape;174;g386148f6b07_0_82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8bc6584b4_0_29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Modifying Lists</a:t>
            </a:r>
            <a:endParaRPr/>
          </a:p>
        </p:txBody>
      </p:sp>
      <p:sp>
        <p:nvSpPr>
          <p:cNvPr id="180" name="Google Shape;180;g368bc6584b4_0_29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1" name="Google Shape;181;g368bc6584b4_0_29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368bc6584b4_0_29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Start with X = [].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X.append(5)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X.append([6, 7]).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Inspect X. Explain why it’s not [5, 6, 7].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6148f6b07_0_0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Modifying Lists</a:t>
            </a:r>
            <a:endParaRPr/>
          </a:p>
        </p:txBody>
      </p:sp>
      <p:sp>
        <p:nvSpPr>
          <p:cNvPr id="188" name="Google Shape;188;g386148f6b07_0_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89" name="Google Shape;189;g386148f6b07_0_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g386148f6b07_0_0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Y = [1, 2, 3]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Y.extend([4, 5]).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Compare extend vs append [1,2,3].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6148f6b07_0_8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Modifying Lists</a:t>
            </a:r>
            <a:endParaRPr/>
          </a:p>
        </p:txBody>
      </p:sp>
      <p:sp>
        <p:nvSpPr>
          <p:cNvPr id="196" name="Google Shape;196;g386148f6b07_0_8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97" name="Google Shape;197;g386148f6b07_0_8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g386148f6b07_0_8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N = [1,2,3,</a:t>
            </a:r>
            <a:r>
              <a:rPr b="1"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4,5,6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,7,8,9]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Replace the middle three elements with [0,0,0] using one slice assignment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(no loops).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Remove the last two elements using a slice (not pop).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Keep only every third element using slicing and rebind back into N.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	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8fd60c6bc_0_11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Mutability, Aliasing, and Cloning</a:t>
            </a:r>
            <a:endParaRPr/>
          </a:p>
        </p:txBody>
      </p:sp>
      <p:sp>
        <p:nvSpPr>
          <p:cNvPr id="204" name="Google Shape;204;g368fd60c6bc_0_1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5" name="Google Shape;205;g368fd60c6bc_0_1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g368fd60c6bc_0_11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A = [1,2]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B = A 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B.append(3)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print(A)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6148f6b07_0_20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Mutability, Aliasing, and Cloning</a:t>
            </a:r>
            <a:endParaRPr/>
          </a:p>
        </p:txBody>
      </p:sp>
      <p:sp>
        <p:nvSpPr>
          <p:cNvPr id="212" name="Google Shape;212;g386148f6b07_0_2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13" name="Google Shape;213;g386148f6b07_0_2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g386148f6b07_0_20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grid = [[0]*3]*4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grid[0][0] = 1</a:t>
            </a:r>
            <a:endParaRPr>
              <a:solidFill>
                <a:srgbClr val="000000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print(grid) 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			[[</a:t>
            </a:r>
            <a:r>
              <a:rPr lang="en-US">
                <a:solidFill>
                  <a:srgbClr val="980000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, 0, 0], </a:t>
            </a:r>
            <a:endParaRPr>
              <a:solidFill>
                <a:srgbClr val="000000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 [</a:t>
            </a:r>
            <a:r>
              <a:rPr lang="en-US">
                <a:solidFill>
                  <a:srgbClr val="980000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, 0, 0], </a:t>
            </a:r>
            <a:endParaRPr>
              <a:solidFill>
                <a:srgbClr val="000000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 [</a:t>
            </a:r>
            <a:r>
              <a:rPr lang="en-US">
                <a:solidFill>
                  <a:srgbClr val="980000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, 0, 0], </a:t>
            </a:r>
            <a:endParaRPr>
              <a:solidFill>
                <a:srgbClr val="000000"/>
              </a:solidFill>
            </a:endParaRPr>
          </a:p>
          <a:p>
            <a:pPr indent="0" lvl="0" marL="4572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 [</a:t>
            </a:r>
            <a:r>
              <a:rPr lang="en-US">
                <a:solidFill>
                  <a:srgbClr val="980000"/>
                </a:solidFill>
              </a:rPr>
              <a:t>1</a:t>
            </a:r>
            <a:r>
              <a:rPr lang="en-US">
                <a:solidFill>
                  <a:srgbClr val="000000"/>
                </a:solidFill>
              </a:rPr>
              <a:t>, 0, 0]]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86148f6b07_0_31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Mutability, Aliasing, and Cloning</a:t>
            </a:r>
            <a:endParaRPr/>
          </a:p>
        </p:txBody>
      </p:sp>
      <p:sp>
        <p:nvSpPr>
          <p:cNvPr id="220" name="Google Shape;220;g386148f6b07_0_3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1" name="Google Shape;221;g386148f6b07_0_3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g386148f6b07_0_31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Make independent copies using A[:], list(A), or A.copy(), literals</a:t>
            </a: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•"/>
            </a:pPr>
            <a:r>
              <a:rPr lang="en-US">
                <a:solidFill>
                  <a:srgbClr val="000000"/>
                </a:solidFill>
              </a:rPr>
              <a:t>grid = [0]*3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Are they fully </a:t>
            </a:r>
            <a:r>
              <a:rPr lang="en-US">
                <a:solidFill>
                  <a:srgbClr val="000000"/>
                </a:solidFill>
              </a:rPr>
              <a:t>independent to mutate?</a:t>
            </a:r>
            <a:r>
              <a:rPr lang="en-US">
                <a:solidFill>
                  <a:srgbClr val="000000"/>
                </a:solidFill>
              </a:rPr>
              <a:t>			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6148f6b07_0_40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Mutability, Aliasing, and Cloning</a:t>
            </a:r>
            <a:endParaRPr/>
          </a:p>
        </p:txBody>
      </p:sp>
      <p:sp>
        <p:nvSpPr>
          <p:cNvPr id="228" name="Google Shape;228;g386148f6b07_0_40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9" name="Google Shape;229;g386148f6b07_0_40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g386148f6b07_0_40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Make deepcopy and produce following result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                  original_data: ([0, 0, 0], [0, 0, 0], [0, 0, 0])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                  </a:t>
            </a:r>
            <a:r>
              <a:rPr b="1" lang="en-US" sz="2400">
                <a:solidFill>
                  <a:srgbClr val="000000"/>
                </a:solidFill>
              </a:rPr>
              <a:t>copied_data([0, 22, 0], [0, 0, 0], [0, 0, 0])</a:t>
            </a:r>
            <a:endParaRPr b="1" sz="2400">
              <a:solidFill>
                <a:srgbClr val="000000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6148f6b07_0_64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Mutability, Aliasing, and Cloning</a:t>
            </a:r>
            <a:endParaRPr/>
          </a:p>
        </p:txBody>
      </p:sp>
      <p:sp>
        <p:nvSpPr>
          <p:cNvPr id="236" name="Google Shape;236;g386148f6b07_0_6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37" name="Google Shape;237;g386148f6b07_0_6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g386148f6b07_0_64"/>
          <p:cNvSpPr txBox="1"/>
          <p:nvPr>
            <p:ph idx="1" type="body"/>
          </p:nvPr>
        </p:nvSpPr>
        <p:spPr>
          <a:xfrm>
            <a:off x="785725" y="862375"/>
            <a:ext cx="10915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7428C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07428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Make deepcopy and produce following result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                  original grid: ([0, 0, 0], [0, 0, 0], [0, 0, 0])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0000"/>
                </a:solidFill>
              </a:rPr>
              <a:t>                  copied_grid (</a:t>
            </a:r>
            <a:r>
              <a:rPr b="1" lang="en-US" sz="2400">
                <a:solidFill>
                  <a:srgbClr val="000000"/>
                </a:solidFill>
              </a:rPr>
              <a:t>[0, 99, 0], [0, 25, 0], [0, 45, 0], [0, 'Hello', 0])</a:t>
            </a:r>
            <a:endParaRPr b="1" sz="2400">
              <a:solidFill>
                <a:srgbClr val="000000"/>
              </a:solidFill>
            </a:endParaRPr>
          </a:p>
          <a:p>
            <a:pPr indent="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98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	</a:t>
            </a:r>
            <a:endParaRPr/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8bcd4cdc91_0_287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# Repetition</a:t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grid = [[0] * 3] * 4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grid[0][1] =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print("grid: ",  grid)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# Concatenation</a:t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grid = [[0] * 3]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grid_1 = [[0] * 3] + [[0] * 3] + [[0] * 3] + [[0] * 3]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grid_1[0][1] = 99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print("grid concat: ", grid_1)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44" name="Google Shape;244;g38bcd4cdc91_0_287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Concatenation &amp; Repetition</a:t>
            </a:r>
            <a:endParaRPr/>
          </a:p>
        </p:txBody>
      </p:sp>
      <p:sp>
        <p:nvSpPr>
          <p:cNvPr id="245" name="Google Shape;245;g38bcd4cdc91_0_287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6" name="Google Shape;246;g38bcd4cdc91_0_287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8fd60c6bc_0_4"/>
          <p:cNvSpPr txBox="1"/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sort() vs sorted()</a:t>
            </a:r>
            <a:endParaRPr/>
          </a:p>
        </p:txBody>
      </p:sp>
      <p:sp>
        <p:nvSpPr>
          <p:cNvPr id="252" name="Google Shape;252;g368fd60c6bc_0_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53" name="Google Shape;253;g368fd60c6bc_0_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g368fd60c6bc_0_4"/>
          <p:cNvSpPr txBox="1"/>
          <p:nvPr/>
        </p:nvSpPr>
        <p:spPr>
          <a:xfrm>
            <a:off x="605000" y="1065325"/>
            <a:ext cx="10859400" cy="41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Try it!</a:t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[3,1,4,1,5]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Append 9, then extend with [2,6].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Insert 0 at the front.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Remove the first 1 only.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Pop the last element; store it in last_val.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Sort L in ascending order in place;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then create L_desc as a separate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8bc6584b4_0_1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Lists ↔ Strings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g368bc6584b4_0_1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1" name="Google Shape;261;g368bc6584b4_0_1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g368bc6584b4_0_14"/>
          <p:cNvSpPr txBox="1"/>
          <p:nvPr/>
        </p:nvSpPr>
        <p:spPr>
          <a:xfrm>
            <a:off x="263050" y="841725"/>
            <a:ext cx="1162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.split(), .join(), list() for conversions.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68bc6584b4_0_14"/>
          <p:cNvSpPr txBox="1"/>
          <p:nvPr/>
        </p:nvSpPr>
        <p:spPr>
          <a:xfrm>
            <a:off x="263050" y="1933375"/>
            <a:ext cx="116748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"red,green,blue,," by comma. Explain the trailing empty elements.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 "red,green,blue,," by every single character and back to a string without loops.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number of  " e"  used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["2025","10","02"] into "2025-10-02" using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"a b c", show split() (no arg) vs split(" ") results and explain the difference.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bcd4cdc91_0_51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1E1E1E"/>
                </a:solidFill>
              </a:rPr>
              <a:t>text = """</a:t>
            </a:r>
            <a:endParaRPr>
              <a:solidFill>
                <a:srgbClr val="1E1E1E"/>
              </a:solidFill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1E1E1E"/>
                </a:solidFill>
              </a:rPr>
              <a:t>            Nature is everything around us that makes life possible and beautiful.</a:t>
            </a:r>
            <a:endParaRPr>
              <a:solidFill>
                <a:srgbClr val="1E1E1E"/>
              </a:solidFill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1E1E1E"/>
                </a:solidFill>
              </a:rPr>
              <a:t>            It includes the air we breathe, the weather we feel, the plants, animals,</a:t>
            </a:r>
            <a:endParaRPr>
              <a:solidFill>
                <a:srgbClr val="1E1E1E"/>
              </a:solidFill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1E1E1E"/>
                </a:solidFill>
              </a:rPr>
              <a:t>            and everything.    </a:t>
            </a:r>
            <a:endParaRPr>
              <a:solidFill>
                <a:srgbClr val="1E1E1E"/>
              </a:solidFill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>
                <a:solidFill>
                  <a:srgbClr val="1E1E1E"/>
                </a:solidFill>
              </a:rPr>
              <a:t>"""</a:t>
            </a:r>
            <a:endParaRPr>
              <a:solidFill>
                <a:srgbClr val="1E1E1E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split the text by space and join them “-”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split the text by a character and count the vowels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69" name="Google Shape;269;g38bcd4cdc91_0_51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/>
          </a:p>
        </p:txBody>
      </p:sp>
      <p:sp>
        <p:nvSpPr>
          <p:cNvPr id="270" name="Google Shape;270;g38bcd4cdc91_0_51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1" name="Google Shape;271;g38bcd4cdc91_0_51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bcd4cdc91_0_244"/>
          <p:cNvSpPr txBox="1"/>
          <p:nvPr>
            <p:ph idx="1" type="body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>
                <a:solidFill>
                  <a:srgbClr val="980000"/>
                </a:solidFill>
              </a:rPr>
              <a:t>Sort strings by length without a loop</a:t>
            </a:r>
            <a:endParaRPr>
              <a:solidFill>
                <a:srgbClr val="980000"/>
              </a:solidFill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text = [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"Airplane"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"Mood",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"class",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"Polymorphism",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"air"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]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-3048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77" name="Google Shape;277;g38bcd4cdc91_0_244"/>
          <p:cNvSpPr txBox="1"/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Try it!</a:t>
            </a:r>
            <a:endParaRPr/>
          </a:p>
        </p:txBody>
      </p:sp>
      <p:sp>
        <p:nvSpPr>
          <p:cNvPr id="278" name="Google Shape;278;g38bcd4cdc91_0_244"/>
          <p:cNvSpPr txBox="1"/>
          <p:nvPr>
            <p:ph idx="3" type="body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9" name="Google Shape;279;g38bcd4cdc91_0_244"/>
          <p:cNvSpPr txBox="1"/>
          <p:nvPr>
            <p:ph idx="12" type="sldNum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>
            <p:ph idx="1" type="body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 txBox="1"/>
          <p:nvPr>
            <p:ph idx="12" type="sldNum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8"/>
          <p:cNvSpPr txBox="1"/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7" name="Google Shape;287;p18"/>
          <p:cNvSpPr txBox="1"/>
          <p:nvPr>
            <p:ph idx="2" type="subTitle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84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16">
      <a:dk1>
        <a:srgbClr val="000000"/>
      </a:dk1>
      <a:lt1>
        <a:srgbClr val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Другая 13">
      <a:dk1>
        <a:srgbClr val="000000"/>
      </a:dk1>
      <a:lt1>
        <a:srgbClr val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2022-06-28T05:50:22Z</dcterms:created>
  <dc:creator>User</dc:creator>
</cp:coreProperties>
</file>