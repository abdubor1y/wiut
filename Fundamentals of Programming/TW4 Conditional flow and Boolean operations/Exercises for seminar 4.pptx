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9" r:id="rId13"/>
    <p:sldId id="271" r:id="rId14"/>
    <p:sldId id="273" r:id="rId15"/>
    <p:sldId id="274" r:id="rId16"/>
    <p:sldId id="276" r:id="rId17"/>
    <p:sldId id="277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958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8" roundtripDataSignature="AMtx7mjBr8N+/e7kpXrWA8cp9u1PE0UQ6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828" y="96"/>
      </p:cViewPr>
      <p:guideLst>
        <p:guide orient="horz" pos="958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8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68bc6584b4_0_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g368bc6584b4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68bc6584b4_0_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g368bc6584b4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847426b1ca_0_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g3847426b1ca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847426b1ca_0_9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g3847426b1ca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68bc6584b4_0_8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g368bc6584b4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892936ba56_0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g3892936ba56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892936ba56_0_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g3892936ba56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892936ba56_0_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g3892936ba56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892936ba56_0_6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g3892936ba56_0_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892936ba56_0_7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g3892936ba56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892936ba56_0_9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g3892936ba56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892936ba56_1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g3892936ba5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>
  <p:cSld name="Титульный слайд">
    <p:bg>
      <p:bgPr>
        <a:solidFill>
          <a:schemeClr val="lt1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5910309"/>
            <a:ext cx="12192000" cy="947691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20"/>
          <p:cNvSpPr txBox="1">
            <a:spLocks noGrp="1"/>
          </p:cNvSpPr>
          <p:nvPr>
            <p:ph type="ctrTitle"/>
          </p:nvPr>
        </p:nvSpPr>
        <p:spPr>
          <a:xfrm>
            <a:off x="838200" y="1671545"/>
            <a:ext cx="105156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6" name="Google Shape;16;p20"/>
          <p:cNvSpPr txBox="1">
            <a:spLocks noGrp="1"/>
          </p:cNvSpPr>
          <p:nvPr>
            <p:ph type="subTitle" idx="1"/>
          </p:nvPr>
        </p:nvSpPr>
        <p:spPr>
          <a:xfrm>
            <a:off x="838199" y="4151220"/>
            <a:ext cx="10515599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7" name="Google Shape;17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94560" y="867420"/>
            <a:ext cx="2402881" cy="139283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20"/>
          <p:cNvSpPr txBox="1">
            <a:spLocks noGrp="1"/>
          </p:cNvSpPr>
          <p:nvPr>
            <p:ph type="body" idx="2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sldNum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" name="Google Shape;20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71382" y="6306797"/>
            <a:ext cx="1849235" cy="355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>
  <p:cSld name="Заголовок и объект">
    <p:bg>
      <p:bgPr>
        <a:solidFill>
          <a:schemeClr val="lt1"/>
        </a:soli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body" idx="1"/>
          </p:nvPr>
        </p:nvSpPr>
        <p:spPr>
          <a:xfrm>
            <a:off x="838201" y="1714500"/>
            <a:ext cx="5074557" cy="17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title"/>
          </p:nvPr>
        </p:nvSpPr>
        <p:spPr>
          <a:xfrm>
            <a:off x="838201" y="474531"/>
            <a:ext cx="8578173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body" idx="2"/>
          </p:nvPr>
        </p:nvSpPr>
        <p:spPr>
          <a:xfrm>
            <a:off x="6223821" y="1714500"/>
            <a:ext cx="5129978" cy="17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25" name="Google Shape;25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5910309"/>
            <a:ext cx="12192000" cy="947691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21"/>
          <p:cNvSpPr txBox="1">
            <a:spLocks noGrp="1"/>
          </p:cNvSpPr>
          <p:nvPr>
            <p:ph type="body" idx="3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" name="Google Shape;27;p21"/>
          <p:cNvSpPr txBox="1">
            <a:spLocks noGrp="1"/>
          </p:cNvSpPr>
          <p:nvPr>
            <p:ph type="sldNum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8" name="Google Shape;28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71380" y="6306797"/>
            <a:ext cx="1849240" cy="355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Титульный слайд">
  <p:cSld name="4_Титульный слайд">
    <p:bg>
      <p:bgPr>
        <a:solidFill>
          <a:schemeClr val="accent2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2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499630"/>
            <a:ext cx="12192000" cy="5576705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22"/>
          <p:cNvSpPr txBox="1">
            <a:spLocks noGrp="1"/>
          </p:cNvSpPr>
          <p:nvPr>
            <p:ph type="body" idx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2" name="Google Shape;32;p22"/>
          <p:cNvSpPr txBox="1">
            <a:spLocks noGrp="1"/>
          </p:cNvSpPr>
          <p:nvPr>
            <p:ph type="sldNum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3" name="Google Shape;33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71382" y="6306797"/>
            <a:ext cx="1849235" cy="355038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22"/>
          <p:cNvSpPr txBox="1">
            <a:spLocks noGrp="1"/>
          </p:cNvSpPr>
          <p:nvPr>
            <p:ph type="ctrTitle"/>
          </p:nvPr>
        </p:nvSpPr>
        <p:spPr>
          <a:xfrm>
            <a:off x="838201" y="2528374"/>
            <a:ext cx="10515599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5" name="Google Shape;35;p22"/>
          <p:cNvSpPr txBox="1">
            <a:spLocks noGrp="1"/>
          </p:cNvSpPr>
          <p:nvPr>
            <p:ph type="subTitle" idx="2"/>
          </p:nvPr>
        </p:nvSpPr>
        <p:spPr>
          <a:xfrm>
            <a:off x="838201" y="5008049"/>
            <a:ext cx="10515599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Титульный слайд">
  <p:cSld name="1_Титульный слайд">
    <p:bg>
      <p:bgPr>
        <a:solidFill>
          <a:schemeClr val="dk2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5910309"/>
            <a:ext cx="12192000" cy="947691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23"/>
          <p:cNvSpPr txBox="1">
            <a:spLocks noGrp="1"/>
          </p:cNvSpPr>
          <p:nvPr>
            <p:ph type="ctrTitle"/>
          </p:nvPr>
        </p:nvSpPr>
        <p:spPr>
          <a:xfrm>
            <a:off x="838201" y="1682560"/>
            <a:ext cx="10515599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9" name="Google Shape;39;p23"/>
          <p:cNvSpPr txBox="1">
            <a:spLocks noGrp="1"/>
          </p:cNvSpPr>
          <p:nvPr>
            <p:ph type="subTitle" idx="1"/>
          </p:nvPr>
        </p:nvSpPr>
        <p:spPr>
          <a:xfrm>
            <a:off x="838201" y="4162235"/>
            <a:ext cx="10515599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40" name="Google Shape;40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94560" y="429394"/>
            <a:ext cx="2402881" cy="1953883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23"/>
          <p:cNvSpPr txBox="1">
            <a:spLocks noGrp="1"/>
          </p:cNvSpPr>
          <p:nvPr>
            <p:ph type="body" idx="2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" name="Google Shape;42;p23"/>
          <p:cNvSpPr txBox="1">
            <a:spLocks noGrp="1"/>
          </p:cNvSpPr>
          <p:nvPr>
            <p:ph type="sldNum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3" name="Google Shape;43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71380" y="6306797"/>
            <a:ext cx="1849240" cy="355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Титульный слайд">
  <p:cSld name="3_Титульный слайд">
    <p:bg>
      <p:bgPr>
        <a:solidFill>
          <a:schemeClr val="dk2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" y="499630"/>
            <a:ext cx="12192000" cy="5576705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24"/>
          <p:cNvSpPr txBox="1">
            <a:spLocks noGrp="1"/>
          </p:cNvSpPr>
          <p:nvPr>
            <p:ph type="ctrTitle"/>
          </p:nvPr>
        </p:nvSpPr>
        <p:spPr>
          <a:xfrm>
            <a:off x="838201" y="2528374"/>
            <a:ext cx="10515599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7" name="Google Shape;47;p24"/>
          <p:cNvSpPr txBox="1">
            <a:spLocks noGrp="1"/>
          </p:cNvSpPr>
          <p:nvPr>
            <p:ph type="subTitle" idx="1"/>
          </p:nvPr>
        </p:nvSpPr>
        <p:spPr>
          <a:xfrm>
            <a:off x="838201" y="5008049"/>
            <a:ext cx="10515599" cy="10682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8" name="Google Shape;48;p24"/>
          <p:cNvSpPr txBox="1">
            <a:spLocks noGrp="1"/>
          </p:cNvSpPr>
          <p:nvPr>
            <p:ph type="body" idx="2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9" name="Google Shape;49;p24"/>
          <p:cNvSpPr txBox="1">
            <a:spLocks noGrp="1"/>
          </p:cNvSpPr>
          <p:nvPr>
            <p:ph type="sldNum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0" name="Google Shape;50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71382" y="6306797"/>
            <a:ext cx="1849235" cy="355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Титульный слайд">
  <p:cSld name="2_Титульный слайд">
    <p:bg>
      <p:bgPr>
        <a:solidFill>
          <a:schemeClr val="accent2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Google Shape;52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5910309"/>
            <a:ext cx="12192000" cy="947691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25"/>
          <p:cNvSpPr txBox="1">
            <a:spLocks noGrp="1"/>
          </p:cNvSpPr>
          <p:nvPr>
            <p:ph type="ctrTitle"/>
          </p:nvPr>
        </p:nvSpPr>
        <p:spPr>
          <a:xfrm>
            <a:off x="838201" y="1319003"/>
            <a:ext cx="10515599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4" name="Google Shape;54;p25"/>
          <p:cNvSpPr txBox="1">
            <a:spLocks noGrp="1"/>
          </p:cNvSpPr>
          <p:nvPr>
            <p:ph type="subTitle" idx="1"/>
          </p:nvPr>
        </p:nvSpPr>
        <p:spPr>
          <a:xfrm>
            <a:off x="838201" y="3798678"/>
            <a:ext cx="10515599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55" name="Google Shape;55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94560" y="429394"/>
            <a:ext cx="2402881" cy="1953882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25"/>
          <p:cNvSpPr txBox="1">
            <a:spLocks noGrp="1"/>
          </p:cNvSpPr>
          <p:nvPr>
            <p:ph type="body" idx="2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7" name="Google Shape;57;p25"/>
          <p:cNvSpPr txBox="1">
            <a:spLocks noGrp="1"/>
          </p:cNvSpPr>
          <p:nvPr>
            <p:ph type="sldNum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8" name="Google Shape;58;p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71380" y="6306797"/>
            <a:ext cx="1849240" cy="355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Заголовок и объект">
  <p:cSld name="3_Заголовок и объект">
    <p:bg>
      <p:bgPr>
        <a:solidFill>
          <a:schemeClr val="lt1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26"/>
          <p:cNvPicPr preferRelativeResize="0"/>
          <p:nvPr/>
        </p:nvPicPr>
        <p:blipFill rotWithShape="1">
          <a:blip r:embed="rId2">
            <a:alphaModFix/>
          </a:blip>
          <a:srcRect t="29990" r="3232"/>
          <a:stretch/>
        </p:blipFill>
        <p:spPr>
          <a:xfrm>
            <a:off x="6806594" y="0"/>
            <a:ext cx="5385406" cy="584444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26"/>
          <p:cNvPicPr preferRelativeResize="0"/>
          <p:nvPr/>
        </p:nvPicPr>
        <p:blipFill rotWithShape="1">
          <a:blip r:embed="rId3">
            <a:alphaModFix/>
          </a:blip>
          <a:srcRect l="2885" r="8325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26"/>
          <p:cNvSpPr txBox="1">
            <a:spLocks noGrp="1"/>
          </p:cNvSpPr>
          <p:nvPr>
            <p:ph type="body" idx="1"/>
          </p:nvPr>
        </p:nvSpPr>
        <p:spPr>
          <a:xfrm>
            <a:off x="838202" y="2056024"/>
            <a:ext cx="5129980" cy="17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3" name="Google Shape;63;p26"/>
          <p:cNvSpPr txBox="1">
            <a:spLocks noGrp="1"/>
          </p:cNvSpPr>
          <p:nvPr>
            <p:ph type="title"/>
          </p:nvPr>
        </p:nvSpPr>
        <p:spPr>
          <a:xfrm>
            <a:off x="838201" y="474531"/>
            <a:ext cx="4857519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4" name="Google Shape;64;p26"/>
          <p:cNvSpPr txBox="1">
            <a:spLocks noGrp="1"/>
          </p:cNvSpPr>
          <p:nvPr>
            <p:ph type="body" idx="2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5" name="Google Shape;65;p26"/>
          <p:cNvSpPr txBox="1">
            <a:spLocks noGrp="1"/>
          </p:cNvSpPr>
          <p:nvPr>
            <p:ph type="sldNum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6" name="Google Shape;66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71382" y="6306797"/>
            <a:ext cx="1849235" cy="355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Заголовок и объект">
  <p:cSld name="8_Заголовок и объект">
    <p:bg>
      <p:bgPr>
        <a:solidFill>
          <a:schemeClr val="lt1"/>
        </a:soli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7"/>
          <p:cNvSpPr txBox="1">
            <a:spLocks noGrp="1"/>
          </p:cNvSpPr>
          <p:nvPr>
            <p:ph type="body" idx="1"/>
          </p:nvPr>
        </p:nvSpPr>
        <p:spPr>
          <a:xfrm>
            <a:off x="838201" y="2056020"/>
            <a:ext cx="5129981" cy="17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" name="Google Shape;69;p27"/>
          <p:cNvSpPr txBox="1">
            <a:spLocks noGrp="1"/>
          </p:cNvSpPr>
          <p:nvPr>
            <p:ph type="title"/>
          </p:nvPr>
        </p:nvSpPr>
        <p:spPr>
          <a:xfrm>
            <a:off x="838201" y="474531"/>
            <a:ext cx="4725317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accent3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pic>
        <p:nvPicPr>
          <p:cNvPr id="70" name="Google Shape;70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718940" y="700391"/>
            <a:ext cx="1634859" cy="400373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27"/>
          <p:cNvSpPr txBox="1">
            <a:spLocks noGrp="1"/>
          </p:cNvSpPr>
          <p:nvPr>
            <p:ph type="body" idx="2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2" name="Google Shape;72;p27"/>
          <p:cNvSpPr txBox="1">
            <a:spLocks noGrp="1"/>
          </p:cNvSpPr>
          <p:nvPr>
            <p:ph type="sldNum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3" name="Google Shape;73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71380" y="6306797"/>
            <a:ext cx="1849240" cy="355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Заголовок и объект">
  <p:cSld name="2_Заголовок и объект">
    <p:bg>
      <p:bgPr>
        <a:solidFill>
          <a:schemeClr val="accent5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5914401"/>
            <a:ext cx="12192000" cy="231589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28"/>
          <p:cNvSpPr txBox="1">
            <a:spLocks noGrp="1"/>
          </p:cNvSpPr>
          <p:nvPr>
            <p:ph type="title"/>
          </p:nvPr>
        </p:nvSpPr>
        <p:spPr>
          <a:xfrm>
            <a:off x="838201" y="474531"/>
            <a:ext cx="8558718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pic>
        <p:nvPicPr>
          <p:cNvPr id="77" name="Google Shape;77;p2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18940" y="700391"/>
            <a:ext cx="1634859" cy="400373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28"/>
          <p:cNvSpPr txBox="1">
            <a:spLocks noGrp="1"/>
          </p:cNvSpPr>
          <p:nvPr>
            <p:ph type="body" idx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9" name="Google Shape;79;p28"/>
          <p:cNvSpPr txBox="1">
            <a:spLocks noGrp="1"/>
          </p:cNvSpPr>
          <p:nvPr>
            <p:ph type="sldNum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0" name="Google Shape;80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71382" y="6306797"/>
            <a:ext cx="1849235" cy="355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Заголовок и объект">
  <p:cSld name="7_Заголовок и объект">
    <p:bg>
      <p:bgPr>
        <a:solidFill>
          <a:schemeClr val="accent6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9"/>
          <p:cNvSpPr txBox="1">
            <a:spLocks noGrp="1"/>
          </p:cNvSpPr>
          <p:nvPr>
            <p:ph type="title"/>
          </p:nvPr>
        </p:nvSpPr>
        <p:spPr>
          <a:xfrm>
            <a:off x="838201" y="474531"/>
            <a:ext cx="867545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pic>
        <p:nvPicPr>
          <p:cNvPr id="83" name="Google Shape;83;p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718941" y="700391"/>
            <a:ext cx="1634857" cy="400373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29"/>
          <p:cNvSpPr txBox="1">
            <a:spLocks noGrp="1"/>
          </p:cNvSpPr>
          <p:nvPr>
            <p:ph type="body" idx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" name="Google Shape;85;p29"/>
          <p:cNvSpPr txBox="1">
            <a:spLocks noGrp="1"/>
          </p:cNvSpPr>
          <p:nvPr>
            <p:ph type="sldNum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6" name="Google Shape;86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71382" y="6306797"/>
            <a:ext cx="1849235" cy="355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Заголовок и объект">
  <p:cSld name="6_Заголовок и объект">
    <p:bg>
      <p:bgPr>
        <a:solidFill>
          <a:schemeClr val="lt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30"/>
          <p:cNvSpPr txBox="1">
            <a:spLocks noGrp="1"/>
          </p:cNvSpPr>
          <p:nvPr>
            <p:ph type="title"/>
          </p:nvPr>
        </p:nvSpPr>
        <p:spPr>
          <a:xfrm>
            <a:off x="838201" y="474531"/>
            <a:ext cx="8646267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accent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pic>
        <p:nvPicPr>
          <p:cNvPr id="89" name="Google Shape;89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5913186"/>
            <a:ext cx="12192000" cy="23159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18940" y="700391"/>
            <a:ext cx="1634859" cy="400373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30"/>
          <p:cNvSpPr txBox="1">
            <a:spLocks noGrp="1"/>
          </p:cNvSpPr>
          <p:nvPr>
            <p:ph type="body" idx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2" name="Google Shape;92;p30"/>
          <p:cNvSpPr txBox="1">
            <a:spLocks noGrp="1"/>
          </p:cNvSpPr>
          <p:nvPr>
            <p:ph type="sldNum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3" name="Google Shape;93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71380" y="6306797"/>
            <a:ext cx="1849240" cy="355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Заголовок и объект">
  <p:cSld name="5_Заголовок и объект">
    <p:bg>
      <p:bgPr>
        <a:solidFill>
          <a:srgbClr val="ECEEEE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5914401"/>
            <a:ext cx="12192000" cy="231589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31"/>
          <p:cNvSpPr txBox="1">
            <a:spLocks noGrp="1"/>
          </p:cNvSpPr>
          <p:nvPr>
            <p:ph type="title"/>
          </p:nvPr>
        </p:nvSpPr>
        <p:spPr>
          <a:xfrm>
            <a:off x="838201" y="474531"/>
            <a:ext cx="8587901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pic>
        <p:nvPicPr>
          <p:cNvPr id="97" name="Google Shape;97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18940" y="700391"/>
            <a:ext cx="1634859" cy="400373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31"/>
          <p:cNvSpPr txBox="1">
            <a:spLocks noGrp="1"/>
          </p:cNvSpPr>
          <p:nvPr>
            <p:ph type="body" idx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9" name="Google Shape;99;p31"/>
          <p:cNvSpPr txBox="1">
            <a:spLocks noGrp="1"/>
          </p:cNvSpPr>
          <p:nvPr>
            <p:ph type="sldNum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0" name="Google Shape;100;p3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71380" y="6306797"/>
            <a:ext cx="1849240" cy="355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Заголовок и объект">
  <p:cSld name="4_Заголовок и объект">
    <p:bg>
      <p:bgPr>
        <a:solidFill>
          <a:srgbClr val="ECEEEE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5914401"/>
            <a:ext cx="12192000" cy="231589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32"/>
          <p:cNvSpPr txBox="1">
            <a:spLocks noGrp="1"/>
          </p:cNvSpPr>
          <p:nvPr>
            <p:ph type="body" idx="1"/>
          </p:nvPr>
        </p:nvSpPr>
        <p:spPr>
          <a:xfrm>
            <a:off x="893624" y="1714500"/>
            <a:ext cx="5074557" cy="17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4" name="Google Shape;104;p32"/>
          <p:cNvSpPr txBox="1">
            <a:spLocks noGrp="1"/>
          </p:cNvSpPr>
          <p:nvPr>
            <p:ph type="title"/>
          </p:nvPr>
        </p:nvSpPr>
        <p:spPr>
          <a:xfrm>
            <a:off x="893699" y="474531"/>
            <a:ext cx="8561586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5" name="Google Shape;105;p32"/>
          <p:cNvSpPr txBox="1">
            <a:spLocks noGrp="1"/>
          </p:cNvSpPr>
          <p:nvPr>
            <p:ph type="body" idx="2"/>
          </p:nvPr>
        </p:nvSpPr>
        <p:spPr>
          <a:xfrm>
            <a:off x="6223821" y="1714500"/>
            <a:ext cx="5129978" cy="17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06" name="Google Shape;106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18940" y="700391"/>
            <a:ext cx="1634859" cy="400373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32"/>
          <p:cNvSpPr txBox="1">
            <a:spLocks noGrp="1"/>
          </p:cNvSpPr>
          <p:nvPr>
            <p:ph type="body" idx="3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8" name="Google Shape;108;p32"/>
          <p:cNvSpPr txBox="1">
            <a:spLocks noGrp="1"/>
          </p:cNvSpPr>
          <p:nvPr>
            <p:ph type="sldNum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9" name="Google Shape;109;p3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71380" y="6306797"/>
            <a:ext cx="1849240" cy="355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Заголовок и объект">
  <p:cSld name="1_Заголовок и объект">
    <p:bg>
      <p:bgPr>
        <a:solidFill>
          <a:schemeClr val="lt1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3"/>
          <p:cNvSpPr txBox="1">
            <a:spLocks noGrp="1"/>
          </p:cNvSpPr>
          <p:nvPr>
            <p:ph type="title"/>
          </p:nvPr>
        </p:nvSpPr>
        <p:spPr>
          <a:xfrm>
            <a:off x="838201" y="474531"/>
            <a:ext cx="854899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pic>
        <p:nvPicPr>
          <p:cNvPr id="112" name="Google Shape;112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5910309"/>
            <a:ext cx="12192000" cy="947691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33"/>
          <p:cNvSpPr txBox="1">
            <a:spLocks noGrp="1"/>
          </p:cNvSpPr>
          <p:nvPr>
            <p:ph type="body" idx="1"/>
          </p:nvPr>
        </p:nvSpPr>
        <p:spPr>
          <a:xfrm>
            <a:off x="838201" y="1597742"/>
            <a:ext cx="3291347" cy="13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4" name="Google Shape;114;p33"/>
          <p:cNvSpPr txBox="1">
            <a:spLocks noGrp="1"/>
          </p:cNvSpPr>
          <p:nvPr>
            <p:ph type="body" idx="2"/>
          </p:nvPr>
        </p:nvSpPr>
        <p:spPr>
          <a:xfrm>
            <a:off x="4450326" y="1597742"/>
            <a:ext cx="3291347" cy="13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5" name="Google Shape;115;p33"/>
          <p:cNvSpPr txBox="1">
            <a:spLocks noGrp="1"/>
          </p:cNvSpPr>
          <p:nvPr>
            <p:ph type="body" idx="3"/>
          </p:nvPr>
        </p:nvSpPr>
        <p:spPr>
          <a:xfrm>
            <a:off x="8062452" y="1597742"/>
            <a:ext cx="3291347" cy="13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pic>
        <p:nvPicPr>
          <p:cNvPr id="116" name="Google Shape;116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18940" y="700391"/>
            <a:ext cx="1634859" cy="400373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33"/>
          <p:cNvSpPr txBox="1">
            <a:spLocks noGrp="1"/>
          </p:cNvSpPr>
          <p:nvPr>
            <p:ph type="body" idx="4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8" name="Google Shape;118;p33"/>
          <p:cNvSpPr txBox="1">
            <a:spLocks noGrp="1"/>
          </p:cNvSpPr>
          <p:nvPr>
            <p:ph type="sldNum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rgbClr val="767676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9" name="Google Shape;119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71380" y="6306797"/>
            <a:ext cx="1849240" cy="355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leetcode.com/problems/fizz-buzz/description/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hackerrank.com/challenges/python-arithmetic-operators/problem" TargetMode="External"/><Relationship Id="rId4" Type="http://schemas.openxmlformats.org/officeDocument/2006/relationships/hyperlink" Target="https://www.hackerrank.com/challenges/py-if-else/problem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"/>
          <p:cNvSpPr txBox="1">
            <a:spLocks noGrp="1"/>
          </p:cNvSpPr>
          <p:nvPr>
            <p:ph type="ctrTitle"/>
          </p:nvPr>
        </p:nvSpPr>
        <p:spPr>
          <a:xfrm>
            <a:off x="838200" y="1935497"/>
            <a:ext cx="105156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</a:pPr>
            <a:r>
              <a:rPr lang="en-US" sz="3200"/>
              <a:t>Fundamentals of programming:</a:t>
            </a:r>
            <a:br>
              <a:rPr lang="en-US" sz="3200"/>
            </a:br>
            <a:br>
              <a:rPr lang="en-US" sz="3200"/>
            </a:br>
            <a:r>
              <a:rPr lang="en-US" sz="3200"/>
              <a:t>Seminar 4</a:t>
            </a:r>
            <a:br>
              <a:rPr lang="en-US" sz="3200"/>
            </a:br>
            <a:endParaRPr sz="3200"/>
          </a:p>
        </p:txBody>
      </p:sp>
      <p:sp>
        <p:nvSpPr>
          <p:cNvPr id="125" name="Google Shape;125;p1"/>
          <p:cNvSpPr txBox="1">
            <a:spLocks noGrp="1"/>
          </p:cNvSpPr>
          <p:nvPr>
            <p:ph type="body" idx="2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</a:pPr>
            <a:r>
              <a:rPr lang="en-US"/>
              <a:t>Computing Department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</a:pPr>
            <a:endParaRPr/>
          </a:p>
        </p:txBody>
      </p:sp>
      <p:sp>
        <p:nvSpPr>
          <p:cNvPr id="126" name="Google Shape;126;p1"/>
          <p:cNvSpPr txBox="1"/>
          <p:nvPr/>
        </p:nvSpPr>
        <p:spPr>
          <a:xfrm>
            <a:off x="94002" y="5265189"/>
            <a:ext cx="4394108" cy="313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Diyora Sayfutdinova – dsayfutdinova@wiut.uz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"/>
          <p:cNvSpPr txBox="1">
            <a:spLocks noGrp="1"/>
          </p:cNvSpPr>
          <p:nvPr>
            <p:ph type="body" idx="1"/>
          </p:nvPr>
        </p:nvSpPr>
        <p:spPr>
          <a:xfrm>
            <a:off x="838200" y="667125"/>
            <a:ext cx="10360800" cy="51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54000" algn="l" rtl="0"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 sz="1250" dirty="0"/>
              <a:t>  </a:t>
            </a:r>
            <a:r>
              <a:rPr lang="en-US" sz="2800" dirty="0">
                <a:latin typeface="Calibri"/>
                <a:ea typeface="Calibri"/>
                <a:cs typeface="Calibri"/>
                <a:sym typeface="Calibri"/>
              </a:rPr>
              <a:t>What type Python uses for representing </a:t>
            </a:r>
            <a:r>
              <a:rPr lang="en-US" sz="2800" dirty="0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True </a:t>
            </a:r>
            <a:r>
              <a:rPr lang="en-US" sz="2800" dirty="0"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lang="en-US" sz="2800" dirty="0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False</a:t>
            </a:r>
            <a:r>
              <a:rPr lang="en-US" sz="2800" dirty="0">
                <a:latin typeface="Calibri"/>
                <a:ea typeface="Calibri"/>
                <a:cs typeface="Calibri"/>
                <a:sym typeface="Calibri"/>
              </a:rPr>
              <a:t>?</a:t>
            </a:r>
            <a:endParaRPr sz="2800" dirty="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254000" algn="l" rtl="0"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 sz="1250" dirty="0"/>
              <a:t> </a:t>
            </a:r>
            <a:r>
              <a:rPr lang="en-US" sz="2800" dirty="0">
                <a:latin typeface="Calibri"/>
                <a:ea typeface="Calibri"/>
                <a:cs typeface="Calibri"/>
                <a:sym typeface="Calibri"/>
              </a:rPr>
              <a:t>What are the logical operators available in Python? </a:t>
            </a:r>
            <a:endParaRPr sz="2800" dirty="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254000" algn="l" rtl="0"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 sz="2800" dirty="0">
                <a:latin typeface="Calibri"/>
                <a:ea typeface="Calibri"/>
                <a:cs typeface="Calibri"/>
                <a:sym typeface="Calibri"/>
              </a:rPr>
              <a:t> What kind of operators do you know in python?</a:t>
            </a:r>
            <a:endParaRPr sz="2800" dirty="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228600" algn="l" rtl="0"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 sz="1250" dirty="0"/>
              <a:t> </a:t>
            </a:r>
            <a:r>
              <a:rPr lang="en-US" sz="2800" dirty="0">
                <a:latin typeface="Calibri"/>
                <a:ea typeface="Calibri"/>
                <a:cs typeface="Calibri"/>
                <a:sym typeface="Calibri"/>
              </a:rPr>
              <a:t>How can we obtain </a:t>
            </a:r>
            <a:r>
              <a:rPr lang="en-US" sz="2800" dirty="0" err="1">
                <a:latin typeface="Calibri"/>
                <a:ea typeface="Calibri"/>
                <a:cs typeface="Calibri"/>
                <a:sym typeface="Calibri"/>
              </a:rPr>
              <a:t>boolean</a:t>
            </a:r>
            <a:r>
              <a:rPr lang="en-US" sz="2800" dirty="0">
                <a:latin typeface="Calibri"/>
                <a:ea typeface="Calibri"/>
                <a:cs typeface="Calibri"/>
                <a:sym typeface="Calibri"/>
              </a:rPr>
              <a:t> values from other values? </a:t>
            </a:r>
            <a:endParaRPr sz="2800" dirty="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228600" algn="l" rtl="0"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 sz="2800" dirty="0">
                <a:latin typeface="Calibri"/>
                <a:ea typeface="Calibri"/>
                <a:cs typeface="Calibri"/>
                <a:sym typeface="Calibri"/>
              </a:rPr>
              <a:t>Is it always necessary to evaluate all the expression to determine its logical value?</a:t>
            </a:r>
            <a:endParaRPr sz="2800" dirty="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228600" algn="l" rtl="0"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 sz="1250" dirty="0"/>
              <a:t> </a:t>
            </a:r>
            <a:r>
              <a:rPr lang="en-US" sz="2800" dirty="0">
                <a:latin typeface="Calibri"/>
                <a:ea typeface="Calibri"/>
                <a:cs typeface="Calibri"/>
                <a:sym typeface="Calibri"/>
              </a:rPr>
              <a:t>Can strings be compared using relational operators?</a:t>
            </a:r>
            <a:endParaRPr sz="2800" dirty="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228600" algn="l" rtl="0"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 sz="1250" dirty="0"/>
              <a:t> </a:t>
            </a:r>
            <a:r>
              <a:rPr lang="en-US" sz="2800" dirty="0">
                <a:latin typeface="Calibri"/>
                <a:ea typeface="Calibri"/>
                <a:cs typeface="Calibri"/>
                <a:sym typeface="Calibri"/>
              </a:rPr>
              <a:t>Which operator allows me to “ask” if one string is present in another string? </a:t>
            </a:r>
            <a:endParaRPr sz="2800" dirty="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800" dirty="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800" dirty="0"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04800" algn="l" rtl="0">
              <a:lnSpc>
                <a:spcPct val="90000"/>
              </a:lnSpc>
              <a:spcBef>
                <a:spcPts val="1000"/>
              </a:spcBef>
              <a:spcAft>
                <a:spcPts val="600"/>
              </a:spcAft>
              <a:buClr>
                <a:schemeClr val="dk1"/>
              </a:buClr>
              <a:buSzPts val="2400"/>
              <a:buNone/>
            </a:pPr>
            <a:endParaRPr sz="2400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"/>
          <p:cNvSpPr txBox="1">
            <a:spLocks noGrp="1"/>
          </p:cNvSpPr>
          <p:nvPr>
            <p:ph type="title"/>
          </p:nvPr>
        </p:nvSpPr>
        <p:spPr>
          <a:xfrm>
            <a:off x="838200" y="94677"/>
            <a:ext cx="10036500" cy="54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Quick Recap</a:t>
            </a:r>
            <a:endParaRPr/>
          </a:p>
        </p:txBody>
      </p:sp>
      <p:sp>
        <p:nvSpPr>
          <p:cNvPr id="133" name="Google Shape;133;p2"/>
          <p:cNvSpPr txBox="1">
            <a:spLocks noGrp="1"/>
          </p:cNvSpPr>
          <p:nvPr>
            <p:ph type="body" idx="3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rPr lang="en-US"/>
              <a:t>Computing Department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endParaRPr/>
          </a:p>
        </p:txBody>
      </p:sp>
      <p:sp>
        <p:nvSpPr>
          <p:cNvPr id="134" name="Google Shape;134;p2"/>
          <p:cNvSpPr txBox="1">
            <a:spLocks noGrp="1"/>
          </p:cNvSpPr>
          <p:nvPr>
            <p:ph type="sldNum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"/>
          <p:cNvSpPr txBox="1">
            <a:spLocks noGrp="1"/>
          </p:cNvSpPr>
          <p:nvPr>
            <p:ph type="body" idx="1"/>
          </p:nvPr>
        </p:nvSpPr>
        <p:spPr>
          <a:xfrm>
            <a:off x="785725" y="862375"/>
            <a:ext cx="10360800" cy="492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5400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print(</a:t>
            </a:r>
            <a:r>
              <a:rPr lang="en-US" sz="2400" b="1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bool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(0))   → 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25400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print(</a:t>
            </a:r>
            <a:r>
              <a:rPr lang="en-US" sz="2400" b="1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bool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(1))   → 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25400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print(</a:t>
            </a:r>
            <a:r>
              <a:rPr lang="en-US" sz="2400" b="1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bool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(     ))  →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25400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print(</a:t>
            </a:r>
            <a:r>
              <a:rPr lang="en-US" sz="2400" b="1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bool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("sky"))  → 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25400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print(</a:t>
            </a:r>
            <a:r>
              <a:rPr lang="en-US" sz="2400" b="1">
                <a:solidFill>
                  <a:srgbClr val="CE9178"/>
                </a:solidFill>
                <a:latin typeface="Calibri"/>
                <a:ea typeface="Calibri"/>
                <a:cs typeface="Calibri"/>
                <a:sym typeface="Calibri"/>
              </a:rPr>
              <a:t>int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(True)) → 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25400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print(</a:t>
            </a:r>
            <a:r>
              <a:rPr lang="en-US" sz="2400" b="1">
                <a:solidFill>
                  <a:srgbClr val="CE9178"/>
                </a:solidFill>
                <a:latin typeface="Calibri"/>
                <a:ea typeface="Calibri"/>
                <a:cs typeface="Calibri"/>
                <a:sym typeface="Calibri"/>
              </a:rPr>
              <a:t>int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(False))  → 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25400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print(</a:t>
            </a:r>
            <a:r>
              <a:rPr lang="en-US" sz="2400" b="1">
                <a:solidFill>
                  <a:srgbClr val="38761D"/>
                </a:solidFill>
                <a:latin typeface="Calibri"/>
                <a:ea typeface="Calibri"/>
                <a:cs typeface="Calibri"/>
                <a:sym typeface="Calibri"/>
              </a:rPr>
              <a:t>float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(True))  → 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25400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print(</a:t>
            </a:r>
            <a:r>
              <a:rPr lang="en-US" sz="2400" b="1">
                <a:solidFill>
                  <a:srgbClr val="38761D"/>
                </a:solidFill>
                <a:latin typeface="Calibri"/>
                <a:ea typeface="Calibri"/>
                <a:cs typeface="Calibri"/>
                <a:sym typeface="Calibri"/>
              </a:rPr>
              <a:t>float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(False))  → 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25400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print(</a:t>
            </a:r>
            <a:r>
              <a:rPr lang="en-US" sz="2400"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str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(True))  →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25400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 print(</a:t>
            </a:r>
            <a:r>
              <a:rPr lang="en-US" sz="2400" b="1">
                <a:solidFill>
                  <a:srgbClr val="0B5394"/>
                </a:solidFill>
                <a:latin typeface="Calibri"/>
                <a:ea typeface="Calibri"/>
                <a:cs typeface="Calibri"/>
                <a:sym typeface="Calibri"/>
              </a:rPr>
              <a:t>str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(False))  →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rgbClr val="D4D4D4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>
              <a:solidFill>
                <a:srgbClr val="FF0000"/>
              </a:solidFill>
            </a:endParaRPr>
          </a:p>
          <a:p>
            <a:pPr marL="457200" lvl="0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3"/>
          <p:cNvSpPr txBox="1">
            <a:spLocks noGrp="1"/>
          </p:cNvSpPr>
          <p:nvPr>
            <p:ph type="title"/>
          </p:nvPr>
        </p:nvSpPr>
        <p:spPr>
          <a:xfrm>
            <a:off x="785725" y="157302"/>
            <a:ext cx="100365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Boolean type</a:t>
            </a:r>
            <a:endParaRPr/>
          </a:p>
        </p:txBody>
      </p:sp>
      <p:sp>
        <p:nvSpPr>
          <p:cNvPr id="141" name="Google Shape;141;p3"/>
          <p:cNvSpPr txBox="1">
            <a:spLocks noGrp="1"/>
          </p:cNvSpPr>
          <p:nvPr>
            <p:ph type="body" idx="3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rPr lang="en-US"/>
              <a:t>Computing Department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endParaRPr/>
          </a:p>
        </p:txBody>
      </p:sp>
      <p:sp>
        <p:nvSpPr>
          <p:cNvPr id="142" name="Google Shape;142;p3"/>
          <p:cNvSpPr txBox="1">
            <a:spLocks noGrp="1"/>
          </p:cNvSpPr>
          <p:nvPr>
            <p:ph type="sldNum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68bc6584b4_0_14"/>
          <p:cNvSpPr txBox="1">
            <a:spLocks noGrp="1"/>
          </p:cNvSpPr>
          <p:nvPr>
            <p:ph type="body" idx="1"/>
          </p:nvPr>
        </p:nvSpPr>
        <p:spPr>
          <a:xfrm>
            <a:off x="785725" y="862375"/>
            <a:ext cx="10360800" cy="492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5400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print(10 </a:t>
            </a:r>
            <a:r>
              <a:rPr lang="en-US" sz="2400" b="1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&gt;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 9)  →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25400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print(9</a:t>
            </a:r>
            <a:r>
              <a:rPr lang="en-US" sz="2400" b="1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!=</a:t>
            </a:r>
            <a:r>
              <a:rPr lang="en-US" sz="2400" b="1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9)  →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25400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print(2 </a:t>
            </a:r>
            <a:r>
              <a:rPr lang="en-US" sz="2400" b="1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&lt;</a:t>
            </a:r>
            <a:r>
              <a:rPr lang="en-US" sz="2400" b="1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3)  →</a:t>
            </a: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-25400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print(0 </a:t>
            </a:r>
            <a:r>
              <a:rPr lang="en-US" sz="2400" b="1">
                <a:solidFill>
                  <a:srgbClr val="980000"/>
                </a:solidFill>
                <a:latin typeface="Calibri"/>
                <a:ea typeface="Calibri"/>
                <a:cs typeface="Calibri"/>
                <a:sym typeface="Calibri"/>
              </a:rPr>
              <a:t>==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 0)  →</a:t>
            </a:r>
            <a:endParaRPr sz="1050">
              <a:solidFill>
                <a:srgbClr val="D4D4D4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22860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rgbClr val="D4D4D4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>
              <a:solidFill>
                <a:srgbClr val="FF0000"/>
              </a:solidFill>
            </a:endParaRPr>
          </a:p>
          <a:p>
            <a:pPr marL="457200" lvl="0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g368bc6584b4_0_14"/>
          <p:cNvSpPr txBox="1">
            <a:spLocks noGrp="1"/>
          </p:cNvSpPr>
          <p:nvPr>
            <p:ph type="title"/>
          </p:nvPr>
        </p:nvSpPr>
        <p:spPr>
          <a:xfrm>
            <a:off x="785725" y="157302"/>
            <a:ext cx="100365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Comparison Operators | Relational Operators</a:t>
            </a:r>
            <a:endParaRPr/>
          </a:p>
        </p:txBody>
      </p:sp>
      <p:sp>
        <p:nvSpPr>
          <p:cNvPr id="149" name="Google Shape;149;g368bc6584b4_0_14"/>
          <p:cNvSpPr txBox="1">
            <a:spLocks noGrp="1"/>
          </p:cNvSpPr>
          <p:nvPr>
            <p:ph type="body" idx="3"/>
          </p:nvPr>
        </p:nvSpPr>
        <p:spPr>
          <a:xfrm>
            <a:off x="838201" y="6341397"/>
            <a:ext cx="31014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rPr lang="en-US"/>
              <a:t>Computing Department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endParaRPr/>
          </a:p>
        </p:txBody>
      </p:sp>
      <p:sp>
        <p:nvSpPr>
          <p:cNvPr id="150" name="Google Shape;150;g368bc6584b4_0_14"/>
          <p:cNvSpPr txBox="1">
            <a:spLocks noGrp="1"/>
          </p:cNvSpPr>
          <p:nvPr>
            <p:ph type="sldNum" idx="12"/>
          </p:nvPr>
        </p:nvSpPr>
        <p:spPr>
          <a:xfrm>
            <a:off x="9318522" y="6356350"/>
            <a:ext cx="2035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68bc6584b4_0_29"/>
          <p:cNvSpPr txBox="1">
            <a:spLocks noGrp="1"/>
          </p:cNvSpPr>
          <p:nvPr>
            <p:ph type="body" idx="1"/>
          </p:nvPr>
        </p:nvSpPr>
        <p:spPr>
          <a:xfrm>
            <a:off x="785725" y="862375"/>
            <a:ext cx="10360800" cy="492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print(text.</a:t>
            </a:r>
            <a:r>
              <a:rPr lang="en-US" b="1">
                <a:solidFill>
                  <a:srgbClr val="980000"/>
                </a:solidFill>
              </a:rPr>
              <a:t>isalnum()</a:t>
            </a:r>
            <a:r>
              <a:rPr lang="en-US"/>
              <a:t>)  -&gt; Returns True if all characters in the string are alphanumeric (letters+digits)</a:t>
            </a:r>
            <a:endParaRPr/>
          </a:p>
          <a:p>
            <a:pPr marL="2286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2286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print(text.</a:t>
            </a:r>
            <a:r>
              <a:rPr lang="en-US" b="1">
                <a:solidFill>
                  <a:srgbClr val="980000"/>
                </a:solidFill>
              </a:rPr>
              <a:t>isalpha()</a:t>
            </a:r>
            <a:r>
              <a:rPr lang="en-US"/>
              <a:t>)  -&gt; Returns True if all characters in the string are in the alphabet</a:t>
            </a:r>
            <a:endParaRPr/>
          </a:p>
          <a:p>
            <a:pPr marL="2286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2286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print(text.</a:t>
            </a:r>
            <a:r>
              <a:rPr lang="en-US" b="1">
                <a:solidFill>
                  <a:srgbClr val="980000"/>
                </a:solidFill>
              </a:rPr>
              <a:t>isdecimal()</a:t>
            </a:r>
            <a:r>
              <a:rPr lang="en-US"/>
              <a:t>)  -&gt; Returns True if all characters in the string are decimals</a:t>
            </a:r>
            <a:endParaRPr/>
          </a:p>
          <a:p>
            <a:pPr marL="2286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2286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/>
              <a:t>print(text</a:t>
            </a:r>
            <a:r>
              <a:rPr lang="en-US" b="1"/>
              <a:t>.</a:t>
            </a:r>
            <a:r>
              <a:rPr lang="en-US" b="1">
                <a:solidFill>
                  <a:srgbClr val="980000"/>
                </a:solidFill>
              </a:rPr>
              <a:t>isdigit()</a:t>
            </a:r>
            <a:r>
              <a:rPr lang="en-US"/>
              <a:t>)  -&gt; Returns True if all characters in the string are digits</a:t>
            </a:r>
            <a:endParaRPr/>
          </a:p>
          <a:p>
            <a:pPr marL="2286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228600" lvl="0" indent="-26670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2600"/>
              <a:buChar char="•"/>
            </a:pPr>
            <a:r>
              <a:rPr lang="en-US"/>
              <a:t>print(text.</a:t>
            </a:r>
            <a:r>
              <a:rPr lang="en-US" b="1">
                <a:solidFill>
                  <a:srgbClr val="980000"/>
                </a:solidFill>
              </a:rPr>
              <a:t>isnumeric()</a:t>
            </a:r>
            <a:r>
              <a:rPr lang="en-US"/>
              <a:t>)  -&gt; Returns True if all characters in the string are numeric</a:t>
            </a:r>
            <a:endParaRPr sz="1250">
              <a:solidFill>
                <a:srgbClr val="D4D4D4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22860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rgbClr val="D4D4D4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>
              <a:solidFill>
                <a:srgbClr val="FF0000"/>
              </a:solidFill>
            </a:endParaRPr>
          </a:p>
          <a:p>
            <a:pPr marL="457200" lvl="0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2400">
              <a:latin typeface="Calibri"/>
              <a:ea typeface="Calibri"/>
              <a:cs typeface="Calibri"/>
              <a:sym typeface="Calibri"/>
            </a:endParaRPr>
          </a:p>
          <a:p>
            <a:pPr marL="2286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g368bc6584b4_0_29"/>
          <p:cNvSpPr txBox="1">
            <a:spLocks noGrp="1"/>
          </p:cNvSpPr>
          <p:nvPr>
            <p:ph type="title"/>
          </p:nvPr>
        </p:nvSpPr>
        <p:spPr>
          <a:xfrm>
            <a:off x="457975" y="183527"/>
            <a:ext cx="100365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String Methods</a:t>
            </a:r>
            <a:endParaRPr/>
          </a:p>
        </p:txBody>
      </p:sp>
      <p:sp>
        <p:nvSpPr>
          <p:cNvPr id="157" name="Google Shape;157;g368bc6584b4_0_29"/>
          <p:cNvSpPr txBox="1">
            <a:spLocks noGrp="1"/>
          </p:cNvSpPr>
          <p:nvPr>
            <p:ph type="body" idx="3"/>
          </p:nvPr>
        </p:nvSpPr>
        <p:spPr>
          <a:xfrm>
            <a:off x="838201" y="6341397"/>
            <a:ext cx="31014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rPr lang="en-US"/>
              <a:t>Computing Department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endParaRPr/>
          </a:p>
        </p:txBody>
      </p:sp>
      <p:sp>
        <p:nvSpPr>
          <p:cNvPr id="158" name="Google Shape;158;g368bc6584b4_0_29"/>
          <p:cNvSpPr txBox="1">
            <a:spLocks noGrp="1"/>
          </p:cNvSpPr>
          <p:nvPr>
            <p:ph type="sldNum" idx="12"/>
          </p:nvPr>
        </p:nvSpPr>
        <p:spPr>
          <a:xfrm>
            <a:off x="9318522" y="6356350"/>
            <a:ext cx="2035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"/>
          <p:cNvSpPr txBox="1">
            <a:spLocks noGrp="1"/>
          </p:cNvSpPr>
          <p:nvPr>
            <p:ph type="title"/>
          </p:nvPr>
        </p:nvSpPr>
        <p:spPr>
          <a:xfrm>
            <a:off x="838200" y="285578"/>
            <a:ext cx="100365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Logical Operators and their Precedence</a:t>
            </a:r>
            <a:endParaRPr/>
          </a:p>
        </p:txBody>
      </p:sp>
      <p:sp>
        <p:nvSpPr>
          <p:cNvPr id="164" name="Google Shape;164;p4"/>
          <p:cNvSpPr txBox="1">
            <a:spLocks noGrp="1"/>
          </p:cNvSpPr>
          <p:nvPr>
            <p:ph type="body" idx="1"/>
          </p:nvPr>
        </p:nvSpPr>
        <p:spPr>
          <a:xfrm>
            <a:off x="770175" y="852800"/>
            <a:ext cx="10360800" cy="49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b="1" dirty="0">
                <a:solidFill>
                  <a:srgbClr val="980000"/>
                </a:solidFill>
              </a:rPr>
              <a:t>OR</a:t>
            </a:r>
            <a:r>
              <a:rPr lang="en-US" dirty="0"/>
              <a:t>   →     At least </a:t>
            </a:r>
            <a:r>
              <a:rPr lang="en-US" b="1" dirty="0">
                <a:solidFill>
                  <a:srgbClr val="980000"/>
                </a:solidFill>
              </a:rPr>
              <a:t>one </a:t>
            </a:r>
            <a:r>
              <a:rPr lang="en-US" dirty="0"/>
              <a:t>has to be </a:t>
            </a:r>
            <a:r>
              <a:rPr lang="en-US" b="1" dirty="0">
                <a:solidFill>
                  <a:srgbClr val="980000"/>
                </a:solidFill>
              </a:rPr>
              <a:t>TRUE </a:t>
            </a:r>
            <a:r>
              <a:rPr lang="en-US" dirty="0"/>
              <a:t>    →   True or False  =  TRUE</a:t>
            </a: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2286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b="1" dirty="0">
                <a:solidFill>
                  <a:srgbClr val="980000"/>
                </a:solidFill>
              </a:rPr>
              <a:t>AND</a:t>
            </a:r>
            <a:r>
              <a:rPr lang="en-US" dirty="0"/>
              <a:t>  → </a:t>
            </a:r>
            <a:r>
              <a:rPr lang="en-US" b="1" dirty="0">
                <a:solidFill>
                  <a:srgbClr val="980000"/>
                </a:solidFill>
              </a:rPr>
              <a:t>Both </a:t>
            </a:r>
            <a:r>
              <a:rPr lang="en-US" dirty="0"/>
              <a:t>have to be </a:t>
            </a:r>
            <a:r>
              <a:rPr lang="en-US" b="1" dirty="0">
                <a:solidFill>
                  <a:srgbClr val="980000"/>
                </a:solidFill>
              </a:rPr>
              <a:t>TRUE </a:t>
            </a:r>
            <a:r>
              <a:rPr lang="en-US" dirty="0"/>
              <a:t>   →  True and True  = TRUE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				             True and False = FALSE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					False and True  = FALSE 	</a:t>
            </a: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2286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b="1" dirty="0">
                <a:solidFill>
                  <a:srgbClr val="980000"/>
                </a:solidFill>
              </a:rPr>
              <a:t>NOT</a:t>
            </a:r>
            <a:r>
              <a:rPr lang="en-US" dirty="0"/>
              <a:t> → Negates the input ( It turns True into False and False into True) → True = False</a:t>
            </a:r>
            <a:endParaRPr dirty="0"/>
          </a:p>
          <a:p>
            <a:pPr marL="3886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                                                                    False = True</a:t>
            </a: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Today is Wednesday  =  Today is </a:t>
            </a:r>
            <a:r>
              <a:rPr lang="en-US" b="1" dirty="0">
                <a:solidFill>
                  <a:srgbClr val="980000"/>
                </a:solidFill>
              </a:rPr>
              <a:t>NOT </a:t>
            </a:r>
            <a:r>
              <a:rPr lang="en-US" dirty="0"/>
              <a:t>Wednesday</a:t>
            </a: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We do </a:t>
            </a:r>
            <a:r>
              <a:rPr lang="en-US" b="1" dirty="0">
                <a:solidFill>
                  <a:srgbClr val="980000"/>
                </a:solidFill>
              </a:rPr>
              <a:t>NOT </a:t>
            </a:r>
            <a:r>
              <a:rPr lang="en-US" dirty="0"/>
              <a:t>have a class = We have a class </a:t>
            </a:r>
            <a:endParaRPr dirty="0"/>
          </a:p>
        </p:txBody>
      </p:sp>
      <p:sp>
        <p:nvSpPr>
          <p:cNvPr id="165" name="Google Shape;165;p4"/>
          <p:cNvSpPr txBox="1">
            <a:spLocks noGrp="1"/>
          </p:cNvSpPr>
          <p:nvPr>
            <p:ph type="body" idx="3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rPr lang="en-US"/>
              <a:t>Computing Department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endParaRPr/>
          </a:p>
        </p:txBody>
      </p:sp>
      <p:sp>
        <p:nvSpPr>
          <p:cNvPr id="166" name="Google Shape;166;p4"/>
          <p:cNvSpPr txBox="1">
            <a:spLocks noGrp="1"/>
          </p:cNvSpPr>
          <p:nvPr>
            <p:ph type="sldNum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847426b1ca_0_35"/>
          <p:cNvSpPr txBox="1">
            <a:spLocks noGrp="1"/>
          </p:cNvSpPr>
          <p:nvPr>
            <p:ph type="body" idx="1"/>
          </p:nvPr>
        </p:nvSpPr>
        <p:spPr>
          <a:xfrm>
            <a:off x="838200" y="1292874"/>
            <a:ext cx="10360800" cy="43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print(15 &lt; 10 and 9 &lt; 15)  → </a:t>
            </a:r>
            <a:endParaRPr dirty="0"/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print(15 &lt; 10 and 9 &lt; 15 or 15 == 15) → </a:t>
            </a:r>
            <a:endParaRPr dirty="0"/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print(15 &lt; 10 and 9 &lt; 15 or 15 != 15)  →</a:t>
            </a:r>
            <a:endParaRPr sz="1050" dirty="0">
              <a:solidFill>
                <a:srgbClr val="D4D4D4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2286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457200" lvl="0" indent="-3048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dirty="0"/>
          </a:p>
          <a:p>
            <a:pPr marL="457200" lvl="0" indent="-2794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457200" lvl="0" indent="-2794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dirty="0"/>
          </a:p>
          <a:p>
            <a:pPr marL="457200" lvl="0" indent="-279400" algn="l" rtl="0">
              <a:lnSpc>
                <a:spcPct val="90000"/>
              </a:lnSpc>
              <a:spcBef>
                <a:spcPts val="600"/>
              </a:spcBef>
              <a:spcAft>
                <a:spcPts val="600"/>
              </a:spcAft>
              <a:buClr>
                <a:schemeClr val="dk1"/>
              </a:buClr>
              <a:buSzPts val="2800"/>
              <a:buNone/>
            </a:pPr>
            <a:endParaRPr dirty="0"/>
          </a:p>
        </p:txBody>
      </p:sp>
      <p:sp>
        <p:nvSpPr>
          <p:cNvPr id="172" name="Google Shape;172;g3847426b1ca_0_35"/>
          <p:cNvSpPr txBox="1">
            <a:spLocks noGrp="1"/>
          </p:cNvSpPr>
          <p:nvPr>
            <p:ph type="title"/>
          </p:nvPr>
        </p:nvSpPr>
        <p:spPr>
          <a:xfrm>
            <a:off x="838200" y="474528"/>
            <a:ext cx="10036500" cy="4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Logical Operators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g3847426b1ca_0_35"/>
          <p:cNvSpPr txBox="1">
            <a:spLocks noGrp="1"/>
          </p:cNvSpPr>
          <p:nvPr>
            <p:ph type="body" idx="3"/>
          </p:nvPr>
        </p:nvSpPr>
        <p:spPr>
          <a:xfrm>
            <a:off x="838201" y="6341397"/>
            <a:ext cx="31014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rPr lang="en-US"/>
              <a:t>Computing Department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endParaRPr/>
          </a:p>
        </p:txBody>
      </p:sp>
      <p:sp>
        <p:nvSpPr>
          <p:cNvPr id="174" name="Google Shape;174;g3847426b1ca_0_35"/>
          <p:cNvSpPr txBox="1">
            <a:spLocks noGrp="1"/>
          </p:cNvSpPr>
          <p:nvPr>
            <p:ph type="sldNum" idx="12"/>
          </p:nvPr>
        </p:nvSpPr>
        <p:spPr>
          <a:xfrm>
            <a:off x="9318522" y="6356350"/>
            <a:ext cx="2035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847426b1ca_0_97"/>
          <p:cNvSpPr txBox="1">
            <a:spLocks noGrp="1"/>
          </p:cNvSpPr>
          <p:nvPr>
            <p:ph type="body" idx="3"/>
          </p:nvPr>
        </p:nvSpPr>
        <p:spPr>
          <a:xfrm>
            <a:off x="838201" y="6341397"/>
            <a:ext cx="31014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rPr lang="en-US"/>
              <a:t>Computing Department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endParaRPr/>
          </a:p>
        </p:txBody>
      </p:sp>
      <p:sp>
        <p:nvSpPr>
          <p:cNvPr id="180" name="Google Shape;180;g3847426b1ca_0_97"/>
          <p:cNvSpPr txBox="1">
            <a:spLocks noGrp="1"/>
          </p:cNvSpPr>
          <p:nvPr>
            <p:ph type="sldNum" idx="12"/>
          </p:nvPr>
        </p:nvSpPr>
        <p:spPr>
          <a:xfrm>
            <a:off x="9318522" y="6356350"/>
            <a:ext cx="2035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181" name="Google Shape;181;g3847426b1ca_0_97"/>
          <p:cNvSpPr txBox="1"/>
          <p:nvPr/>
        </p:nvSpPr>
        <p:spPr>
          <a:xfrm>
            <a:off x="0" y="0"/>
            <a:ext cx="1167300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Logical Operators</a:t>
            </a:r>
            <a:endParaRPr/>
          </a:p>
        </p:txBody>
      </p:sp>
      <p:sp>
        <p:nvSpPr>
          <p:cNvPr id="182" name="Google Shape;182;g3847426b1ca_0_97"/>
          <p:cNvSpPr txBox="1"/>
          <p:nvPr/>
        </p:nvSpPr>
        <p:spPr>
          <a:xfrm>
            <a:off x="85800" y="608100"/>
            <a:ext cx="12020400" cy="455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28600" lvl="0" indent="-25400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000" dirty="0">
                <a:solidFill>
                  <a:schemeClr val="dk1"/>
                </a:solidFill>
              </a:rPr>
              <a:t>Letters are compared alphabetically within their </a:t>
            </a:r>
            <a:r>
              <a:rPr lang="en-US" sz="2000" dirty="0">
                <a:solidFill>
                  <a:srgbClr val="C00000"/>
                </a:solidFill>
              </a:rPr>
              <a:t>own case</a:t>
            </a:r>
            <a:endParaRPr sz="2000" dirty="0">
              <a:solidFill>
                <a:srgbClr val="C00000"/>
              </a:solidFill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</a:rPr>
              <a:t>print(</a:t>
            </a:r>
            <a:r>
              <a:rPr lang="en-US" sz="2000" dirty="0">
                <a:solidFill>
                  <a:srgbClr val="1E1E1E"/>
                </a:solidFill>
              </a:rPr>
              <a:t>"a" </a:t>
            </a:r>
            <a:r>
              <a:rPr lang="en-US" sz="2000" dirty="0">
                <a:solidFill>
                  <a:schemeClr val="dk1"/>
                </a:solidFill>
              </a:rPr>
              <a:t> &lt;  </a:t>
            </a:r>
            <a:r>
              <a:rPr lang="en-US" sz="2000" dirty="0">
                <a:solidFill>
                  <a:srgbClr val="1E1E1E"/>
                </a:solidFill>
              </a:rPr>
              <a:t>"b" </a:t>
            </a:r>
            <a:r>
              <a:rPr lang="en-US" sz="2000" dirty="0">
                <a:solidFill>
                  <a:schemeClr val="dk1"/>
                </a:solidFill>
              </a:rPr>
              <a:t>)  →</a:t>
            </a:r>
            <a:endParaRPr sz="20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</a:rPr>
              <a:t>print(</a:t>
            </a:r>
            <a:r>
              <a:rPr lang="en-US" sz="2000" dirty="0">
                <a:solidFill>
                  <a:srgbClr val="1E1E1E"/>
                </a:solidFill>
              </a:rPr>
              <a:t>"b" </a:t>
            </a:r>
            <a:r>
              <a:rPr lang="en-US" sz="2000" dirty="0">
                <a:solidFill>
                  <a:schemeClr val="dk1"/>
                </a:solidFill>
              </a:rPr>
              <a:t> &lt; </a:t>
            </a:r>
            <a:r>
              <a:rPr lang="en-US" sz="2000" dirty="0">
                <a:solidFill>
                  <a:srgbClr val="1E1E1E"/>
                </a:solidFill>
              </a:rPr>
              <a:t>"c" </a:t>
            </a:r>
            <a:r>
              <a:rPr lang="en-US" sz="2000" dirty="0">
                <a:solidFill>
                  <a:schemeClr val="dk1"/>
                </a:solidFill>
              </a:rPr>
              <a:t>) →</a:t>
            </a:r>
            <a:endParaRPr sz="20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</a:rPr>
              <a:t>print(</a:t>
            </a:r>
            <a:r>
              <a:rPr lang="en-US" sz="2000" dirty="0">
                <a:solidFill>
                  <a:srgbClr val="1E1E1E"/>
                </a:solidFill>
              </a:rPr>
              <a:t>"cat" </a:t>
            </a:r>
            <a:r>
              <a:rPr lang="en-US" sz="2000" dirty="0">
                <a:solidFill>
                  <a:schemeClr val="dk1"/>
                </a:solidFill>
              </a:rPr>
              <a:t> == </a:t>
            </a:r>
            <a:r>
              <a:rPr lang="en-US" sz="2000" dirty="0">
                <a:solidFill>
                  <a:srgbClr val="1E1E1E"/>
                </a:solidFill>
              </a:rPr>
              <a:t>"Cat" </a:t>
            </a:r>
            <a:r>
              <a:rPr lang="en-US" sz="2000" dirty="0">
                <a:solidFill>
                  <a:schemeClr val="dk1"/>
                </a:solidFill>
              </a:rPr>
              <a:t>) →</a:t>
            </a:r>
            <a:endParaRPr sz="20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</a:rPr>
              <a:t>                                              </a:t>
            </a:r>
            <a:r>
              <a:rPr lang="en-US" sz="2000" dirty="0">
                <a:solidFill>
                  <a:srgbClr val="980000"/>
                </a:solidFill>
              </a:rPr>
              <a:t>   Why the following statement is FALSE?</a:t>
            </a:r>
            <a:endParaRPr sz="2000" dirty="0">
              <a:solidFill>
                <a:srgbClr val="980000"/>
              </a:solidFill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980000"/>
                </a:solidFill>
              </a:rPr>
              <a:t>                                                              </a:t>
            </a:r>
            <a:r>
              <a:rPr lang="en-US" sz="2000" dirty="0">
                <a:solidFill>
                  <a:srgbClr val="1E1E1E"/>
                </a:solidFill>
              </a:rPr>
              <a:t>   print("a" &lt;= "A")</a:t>
            </a:r>
            <a:endParaRPr sz="1050" dirty="0">
              <a:solidFill>
                <a:srgbClr val="1E1E1E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 dirty="0">
              <a:solidFill>
                <a:srgbClr val="D4D4D4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22860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68bc6584b4_0_83"/>
          <p:cNvSpPr txBox="1">
            <a:spLocks noGrp="1"/>
          </p:cNvSpPr>
          <p:nvPr>
            <p:ph type="body" idx="3"/>
          </p:nvPr>
        </p:nvSpPr>
        <p:spPr>
          <a:xfrm>
            <a:off x="838201" y="6341397"/>
            <a:ext cx="31014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rPr lang="en-US"/>
              <a:t>Computing Department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endParaRPr/>
          </a:p>
        </p:txBody>
      </p:sp>
      <p:sp>
        <p:nvSpPr>
          <p:cNvPr id="188" name="Google Shape;188;g368bc6584b4_0_83"/>
          <p:cNvSpPr txBox="1">
            <a:spLocks noGrp="1"/>
          </p:cNvSpPr>
          <p:nvPr>
            <p:ph type="sldNum" idx="12"/>
          </p:nvPr>
        </p:nvSpPr>
        <p:spPr>
          <a:xfrm>
            <a:off x="9318522" y="6356350"/>
            <a:ext cx="2035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189" name="Google Shape;189;g368bc6584b4_0_83"/>
          <p:cNvSpPr txBox="1"/>
          <p:nvPr/>
        </p:nvSpPr>
        <p:spPr>
          <a:xfrm>
            <a:off x="0" y="0"/>
            <a:ext cx="1167300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Individual task</a:t>
            </a:r>
            <a:endParaRPr/>
          </a:p>
        </p:txBody>
      </p:sp>
      <p:sp>
        <p:nvSpPr>
          <p:cNvPr id="190" name="Google Shape;190;g368bc6584b4_0_83"/>
          <p:cNvSpPr txBox="1"/>
          <p:nvPr/>
        </p:nvSpPr>
        <p:spPr>
          <a:xfrm>
            <a:off x="1762475" y="1075175"/>
            <a:ext cx="8964300" cy="40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38761D"/>
                </a:solidFill>
              </a:rPr>
              <a:t>Write a program that:</a:t>
            </a:r>
            <a:endParaRPr sz="2000" b="1">
              <a:solidFill>
                <a:srgbClr val="38761D"/>
              </a:solidFill>
            </a:endParaRPr>
          </a:p>
          <a:p>
            <a:pPr marL="45720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38761D"/>
                </a:solidFill>
              </a:rPr>
              <a:t># Asks a user to enter one character.</a:t>
            </a:r>
            <a:endParaRPr sz="2000" b="1">
              <a:solidFill>
                <a:srgbClr val="38761D"/>
              </a:solidFill>
            </a:endParaRPr>
          </a:p>
          <a:p>
            <a:pPr marL="45720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38761D"/>
                </a:solidFill>
              </a:rPr>
              <a:t># If user enters more than 1 character, print “Please enter only one character”</a:t>
            </a:r>
            <a:endParaRPr sz="2000" b="1">
              <a:solidFill>
                <a:srgbClr val="38761D"/>
              </a:solidFill>
            </a:endParaRPr>
          </a:p>
          <a:p>
            <a:pPr marL="45720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38761D"/>
                </a:solidFill>
              </a:rPr>
              <a:t># Prints user input type, whether it is an Uppercase letter, Lowercase letter, or Digit</a:t>
            </a:r>
            <a:endParaRPr sz="2000" b="1">
              <a:solidFill>
                <a:srgbClr val="38761D"/>
              </a:solidFill>
            </a:endParaRPr>
          </a:p>
          <a:p>
            <a:pPr marL="45720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38761D"/>
                </a:solidFill>
              </a:rPr>
              <a:t># If user input is none of them print “Your input classified as “Other”</a:t>
            </a:r>
            <a:endParaRPr sz="2000" b="1">
              <a:solidFill>
                <a:srgbClr val="38761D"/>
              </a:solidFill>
            </a:endParaRPr>
          </a:p>
          <a:p>
            <a:pPr marL="45720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38761D"/>
                </a:solidFill>
              </a:rPr>
              <a:t># Asks the user does s/he want to continue or no</a:t>
            </a:r>
            <a:endParaRPr sz="2000" b="1">
              <a:solidFill>
                <a:srgbClr val="38761D"/>
              </a:solidFill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 b="1">
              <a:solidFill>
                <a:srgbClr val="38761D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22860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892936ba56_0_17"/>
          <p:cNvSpPr txBox="1">
            <a:spLocks noGrp="1"/>
          </p:cNvSpPr>
          <p:nvPr>
            <p:ph type="body" idx="3"/>
          </p:nvPr>
        </p:nvSpPr>
        <p:spPr>
          <a:xfrm>
            <a:off x="838201" y="6341397"/>
            <a:ext cx="31014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rPr lang="en-US"/>
              <a:t>Computing Department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endParaRPr/>
          </a:p>
        </p:txBody>
      </p:sp>
      <p:sp>
        <p:nvSpPr>
          <p:cNvPr id="205" name="Google Shape;205;g3892936ba56_0_17"/>
          <p:cNvSpPr txBox="1">
            <a:spLocks noGrp="1"/>
          </p:cNvSpPr>
          <p:nvPr>
            <p:ph type="sldNum" idx="12"/>
          </p:nvPr>
        </p:nvSpPr>
        <p:spPr>
          <a:xfrm>
            <a:off x="9318522" y="6356350"/>
            <a:ext cx="2035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206" name="Google Shape;206;g3892936ba56_0_17"/>
          <p:cNvSpPr txBox="1"/>
          <p:nvPr/>
        </p:nvSpPr>
        <p:spPr>
          <a:xfrm>
            <a:off x="2648750" y="2009350"/>
            <a:ext cx="5718900" cy="112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980000"/>
                </a:solidFill>
              </a:rPr>
              <a:t>What is the difference between IF and Elif?</a:t>
            </a:r>
            <a:endParaRPr sz="2000" b="1">
              <a:solidFill>
                <a:srgbClr val="980000"/>
              </a:solidFill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 b="1">
              <a:solidFill>
                <a:srgbClr val="38761D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22860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892936ba56_0_48"/>
          <p:cNvSpPr txBox="1">
            <a:spLocks noGrp="1"/>
          </p:cNvSpPr>
          <p:nvPr>
            <p:ph type="body" idx="3"/>
          </p:nvPr>
        </p:nvSpPr>
        <p:spPr>
          <a:xfrm>
            <a:off x="838201" y="6341397"/>
            <a:ext cx="31014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rPr lang="en-US"/>
              <a:t>Computing Department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endParaRPr/>
          </a:p>
        </p:txBody>
      </p:sp>
      <p:sp>
        <p:nvSpPr>
          <p:cNvPr id="212" name="Google Shape;212;g3892936ba56_0_48"/>
          <p:cNvSpPr txBox="1">
            <a:spLocks noGrp="1"/>
          </p:cNvSpPr>
          <p:nvPr>
            <p:ph type="sldNum" idx="12"/>
          </p:nvPr>
        </p:nvSpPr>
        <p:spPr>
          <a:xfrm>
            <a:off x="9318522" y="6356350"/>
            <a:ext cx="2035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213" name="Google Shape;213;g3892936ba56_0_48"/>
          <p:cNvSpPr txBox="1"/>
          <p:nvPr/>
        </p:nvSpPr>
        <p:spPr>
          <a:xfrm>
            <a:off x="3091875" y="332650"/>
            <a:ext cx="5718900" cy="590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def age_check():</a:t>
            </a:r>
            <a:endParaRPr sz="18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    user_age = int(input("Enter you age: "))</a:t>
            </a:r>
            <a:endParaRPr sz="18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    </a:t>
            </a:r>
            <a:r>
              <a:rPr lang="en-US" sz="1800" b="1">
                <a:solidFill>
                  <a:schemeClr val="dk1"/>
                </a:solidFill>
              </a:rPr>
              <a:t>if </a:t>
            </a:r>
            <a:r>
              <a:rPr lang="en-US" sz="1800">
                <a:solidFill>
                  <a:schemeClr val="dk1"/>
                </a:solidFill>
              </a:rPr>
              <a:t>user_age &lt;= 10:</a:t>
            </a:r>
            <a:endParaRPr sz="18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        print("You are a child! ")</a:t>
            </a:r>
            <a:endParaRPr sz="18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    </a:t>
            </a:r>
            <a:r>
              <a:rPr lang="en-US" sz="1800" b="1">
                <a:solidFill>
                  <a:schemeClr val="dk1"/>
                </a:solidFill>
              </a:rPr>
              <a:t>if</a:t>
            </a:r>
            <a:r>
              <a:rPr lang="en-US" sz="1800">
                <a:solidFill>
                  <a:schemeClr val="dk1"/>
                </a:solidFill>
              </a:rPr>
              <a:t> user_age &lt;= 17:</a:t>
            </a:r>
            <a:endParaRPr sz="18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        print("You are teenager! ")</a:t>
            </a:r>
            <a:endParaRPr sz="18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    </a:t>
            </a:r>
            <a:r>
              <a:rPr lang="en-US" sz="1800" b="1">
                <a:solidFill>
                  <a:schemeClr val="dk1"/>
                </a:solidFill>
              </a:rPr>
              <a:t>if </a:t>
            </a:r>
            <a:r>
              <a:rPr lang="en-US" sz="1800">
                <a:solidFill>
                  <a:schemeClr val="dk1"/>
                </a:solidFill>
              </a:rPr>
              <a:t>user_age &gt;= 18:</a:t>
            </a:r>
            <a:endParaRPr sz="18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        print("You are an adult! ")</a:t>
            </a:r>
            <a:endParaRPr sz="18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    </a:t>
            </a:r>
            <a:r>
              <a:rPr lang="en-US" sz="1800" b="1">
                <a:solidFill>
                  <a:schemeClr val="dk1"/>
                </a:solidFill>
              </a:rPr>
              <a:t>else</a:t>
            </a:r>
            <a:r>
              <a:rPr lang="en-US" sz="1800">
                <a:solidFill>
                  <a:schemeClr val="dk1"/>
                </a:solidFill>
              </a:rPr>
              <a:t>:</a:t>
            </a:r>
            <a:endParaRPr sz="18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        print("Age category could not be determined! ")</a:t>
            </a:r>
            <a:endParaRPr sz="18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</a:endParaRPr>
          </a:p>
          <a:p>
            <a:pPr marL="0" marR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age_check()</a:t>
            </a:r>
            <a:endParaRPr sz="1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980000"/>
              </a:solidFill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50" b="1">
              <a:solidFill>
                <a:srgbClr val="38761D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22860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1">
              <a:solidFill>
                <a:srgbClr val="38761D"/>
              </a:solidFill>
            </a:endParaRPr>
          </a:p>
        </p:txBody>
      </p:sp>
      <p:sp>
        <p:nvSpPr>
          <p:cNvPr id="214" name="Google Shape;214;g3892936ba56_0_48"/>
          <p:cNvSpPr txBox="1"/>
          <p:nvPr/>
        </p:nvSpPr>
        <p:spPr>
          <a:xfrm>
            <a:off x="8702875" y="272775"/>
            <a:ext cx="3269700" cy="15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980000"/>
                </a:solidFill>
              </a:rPr>
              <a:t>Check how it works with ELIF</a:t>
            </a:r>
            <a:endParaRPr sz="2000" b="1">
              <a:solidFill>
                <a:srgbClr val="980000"/>
              </a:solidFill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 b="1">
              <a:solidFill>
                <a:srgbClr val="38761D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22860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892936ba56_0_10"/>
          <p:cNvSpPr txBox="1">
            <a:spLocks noGrp="1"/>
          </p:cNvSpPr>
          <p:nvPr>
            <p:ph type="body" idx="3"/>
          </p:nvPr>
        </p:nvSpPr>
        <p:spPr>
          <a:xfrm>
            <a:off x="838201" y="6341397"/>
            <a:ext cx="31014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rPr lang="en-US"/>
              <a:t>Computing Department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endParaRPr/>
          </a:p>
        </p:txBody>
      </p:sp>
      <p:sp>
        <p:nvSpPr>
          <p:cNvPr id="228" name="Google Shape;228;g3892936ba56_0_10"/>
          <p:cNvSpPr txBox="1">
            <a:spLocks noGrp="1"/>
          </p:cNvSpPr>
          <p:nvPr>
            <p:ph type="sldNum" idx="12"/>
          </p:nvPr>
        </p:nvSpPr>
        <p:spPr>
          <a:xfrm>
            <a:off x="9318522" y="6356350"/>
            <a:ext cx="2035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229" name="Google Shape;229;g3892936ba56_0_10"/>
          <p:cNvSpPr txBox="1"/>
          <p:nvPr/>
        </p:nvSpPr>
        <p:spPr>
          <a:xfrm>
            <a:off x="0" y="0"/>
            <a:ext cx="1167300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Individual task</a:t>
            </a:r>
            <a:endParaRPr/>
          </a:p>
        </p:txBody>
      </p:sp>
      <p:sp>
        <p:nvSpPr>
          <p:cNvPr id="230" name="Google Shape;230;g3892936ba56_0_10"/>
          <p:cNvSpPr txBox="1"/>
          <p:nvPr/>
        </p:nvSpPr>
        <p:spPr>
          <a:xfrm>
            <a:off x="1534950" y="1171000"/>
            <a:ext cx="8964300" cy="405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38761D"/>
                </a:solidFill>
              </a:rPr>
              <a:t>Write a program that:</a:t>
            </a:r>
            <a:endParaRPr sz="2000" b="1">
              <a:solidFill>
                <a:srgbClr val="38761D"/>
              </a:solidFill>
            </a:endParaRPr>
          </a:p>
          <a:p>
            <a:pPr marL="45720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38761D"/>
                </a:solidFill>
              </a:rPr>
              <a:t># Asks a user to enter a grade between 0 and 100</a:t>
            </a:r>
            <a:endParaRPr sz="2000" b="1">
              <a:solidFill>
                <a:srgbClr val="38761D"/>
              </a:solidFill>
            </a:endParaRPr>
          </a:p>
          <a:p>
            <a:pPr marL="45720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38761D"/>
                </a:solidFill>
              </a:rPr>
              <a:t># Prints Your grade is A if it is between 85 and 100</a:t>
            </a:r>
            <a:endParaRPr sz="2000" b="1">
              <a:solidFill>
                <a:srgbClr val="38761D"/>
              </a:solidFill>
            </a:endParaRPr>
          </a:p>
          <a:p>
            <a:pPr marL="45720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38761D"/>
                </a:solidFill>
              </a:rPr>
              <a:t># Prints Your grade is B if it is between 75 and 85</a:t>
            </a:r>
            <a:endParaRPr sz="2000" b="1">
              <a:solidFill>
                <a:srgbClr val="38761D"/>
              </a:solidFill>
            </a:endParaRPr>
          </a:p>
          <a:p>
            <a:pPr marL="45720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38761D"/>
                </a:solidFill>
              </a:rPr>
              <a:t># Prints Your grade is C if it is between 65 and 75</a:t>
            </a:r>
            <a:endParaRPr sz="2000" b="1">
              <a:solidFill>
                <a:srgbClr val="38761D"/>
              </a:solidFill>
            </a:endParaRPr>
          </a:p>
          <a:p>
            <a:pPr marL="45720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38761D"/>
                </a:solidFill>
              </a:rPr>
              <a:t># Prints Your grade is D if it is between 55 and 65</a:t>
            </a:r>
            <a:endParaRPr sz="2000" b="1">
              <a:solidFill>
                <a:srgbClr val="38761D"/>
              </a:solidFill>
            </a:endParaRPr>
          </a:p>
          <a:p>
            <a:pPr marL="45720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38761D"/>
                </a:solidFill>
              </a:rPr>
              <a:t># Prints Your grade is F if it is less than 55</a:t>
            </a:r>
            <a:endParaRPr sz="2000" b="1">
              <a:solidFill>
                <a:srgbClr val="38761D"/>
              </a:solidFill>
            </a:endParaRPr>
          </a:p>
          <a:p>
            <a:pPr marL="45720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 b="1">
                <a:solidFill>
                  <a:srgbClr val="38761D"/>
                </a:solidFill>
              </a:rPr>
              <a:t># If none of them is correct, prints insert a valid input!</a:t>
            </a:r>
            <a:endParaRPr sz="2000" b="1">
              <a:solidFill>
                <a:srgbClr val="38761D"/>
              </a:solidFill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 b="1">
              <a:solidFill>
                <a:srgbClr val="38761D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22860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892936ba56_0_65"/>
          <p:cNvSpPr txBox="1">
            <a:spLocks noGrp="1"/>
          </p:cNvSpPr>
          <p:nvPr>
            <p:ph type="body" idx="3"/>
          </p:nvPr>
        </p:nvSpPr>
        <p:spPr>
          <a:xfrm>
            <a:off x="838201" y="6341397"/>
            <a:ext cx="31014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rPr lang="en-US"/>
              <a:t>Computing Department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endParaRPr/>
          </a:p>
        </p:txBody>
      </p:sp>
      <p:sp>
        <p:nvSpPr>
          <p:cNvPr id="243" name="Google Shape;243;g3892936ba56_0_65"/>
          <p:cNvSpPr txBox="1">
            <a:spLocks noGrp="1"/>
          </p:cNvSpPr>
          <p:nvPr>
            <p:ph type="sldNum" idx="12"/>
          </p:nvPr>
        </p:nvSpPr>
        <p:spPr>
          <a:xfrm>
            <a:off x="9318522" y="6356350"/>
            <a:ext cx="2035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244" name="Google Shape;244;g3892936ba56_0_65"/>
          <p:cNvSpPr txBox="1"/>
          <p:nvPr/>
        </p:nvSpPr>
        <p:spPr>
          <a:xfrm>
            <a:off x="0" y="0"/>
            <a:ext cx="1167300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Individual task (use nested IF)</a:t>
            </a:r>
            <a:endParaRPr/>
          </a:p>
        </p:txBody>
      </p:sp>
      <p:sp>
        <p:nvSpPr>
          <p:cNvPr id="245" name="Google Shape;245;g3892936ba56_0_65"/>
          <p:cNvSpPr txBox="1"/>
          <p:nvPr/>
        </p:nvSpPr>
        <p:spPr>
          <a:xfrm>
            <a:off x="85800" y="608100"/>
            <a:ext cx="12020400" cy="9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rgbClr val="1E1E1E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rgbClr val="D4D4D4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marL="22860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</a:endParaRPr>
          </a:p>
        </p:txBody>
      </p:sp>
      <p:sp>
        <p:nvSpPr>
          <p:cNvPr id="246" name="Google Shape;246;g3892936ba56_0_65"/>
          <p:cNvSpPr txBox="1"/>
          <p:nvPr/>
        </p:nvSpPr>
        <p:spPr>
          <a:xfrm>
            <a:off x="2167750" y="850350"/>
            <a:ext cx="9589200" cy="49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38761D"/>
                </a:solidFill>
              </a:rPr>
              <a:t>Write a result classifier program that:</a:t>
            </a:r>
            <a:endParaRPr sz="2000" b="1" dirty="0">
              <a:solidFill>
                <a:srgbClr val="38761D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38761D"/>
                </a:solidFill>
              </a:rPr>
              <a:t># Asks the user for a score (0–100).</a:t>
            </a:r>
            <a:endParaRPr sz="2000" b="1" dirty="0">
              <a:solidFill>
                <a:srgbClr val="38761D"/>
              </a:solidFill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38761D"/>
                </a:solidFill>
              </a:rPr>
              <a:t>#Then inside that block, check:</a:t>
            </a:r>
            <a:endParaRPr sz="2000" b="1" dirty="0">
              <a:solidFill>
                <a:srgbClr val="38761D"/>
              </a:solidFill>
            </a:endParaRPr>
          </a:p>
          <a:p>
            <a:pPr marL="9144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38761D"/>
                </a:solidFill>
              </a:rPr>
              <a:t># If the score is 90 or higher, print "Excellent!".</a:t>
            </a:r>
            <a:br>
              <a:rPr lang="en-US" sz="2000" b="1" dirty="0">
                <a:solidFill>
                  <a:srgbClr val="38761D"/>
                </a:solidFill>
              </a:rPr>
            </a:br>
            <a:r>
              <a:rPr lang="en-US" sz="2000" b="1" dirty="0">
                <a:solidFill>
                  <a:srgbClr val="38761D"/>
                </a:solidFill>
              </a:rPr>
              <a:t># If between 70 and 89, print "Good job!".</a:t>
            </a:r>
            <a:br>
              <a:rPr lang="en-US" sz="2000" b="1" dirty="0">
                <a:solidFill>
                  <a:srgbClr val="38761D"/>
                </a:solidFill>
              </a:rPr>
            </a:br>
            <a:r>
              <a:rPr lang="en-US" sz="2000" b="1" dirty="0">
                <a:solidFill>
                  <a:srgbClr val="38761D"/>
                </a:solidFill>
              </a:rPr>
              <a:t># If between 40 and 69, print "You passed, but can improve."</a:t>
            </a:r>
            <a:br>
              <a:rPr lang="en-US" sz="2000" b="1" dirty="0">
                <a:solidFill>
                  <a:srgbClr val="38761D"/>
                </a:solidFill>
              </a:rPr>
            </a:br>
            <a:r>
              <a:rPr lang="en-US" sz="2000" b="1" dirty="0">
                <a:solidFill>
                  <a:srgbClr val="38761D"/>
                </a:solidFill>
              </a:rPr>
              <a:t># If below 40, print "You failed. Try again."</a:t>
            </a:r>
            <a:endParaRPr sz="2000" b="1" dirty="0">
              <a:solidFill>
                <a:srgbClr val="38761D"/>
              </a:solidFill>
            </a:endParaRPr>
          </a:p>
          <a:p>
            <a:pPr marL="914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38761D"/>
                </a:solidFill>
              </a:rPr>
              <a:t># Asks does the user want to check more?</a:t>
            </a:r>
            <a:endParaRPr sz="2000" b="1" dirty="0">
              <a:solidFill>
                <a:srgbClr val="38761D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38761D"/>
                </a:solidFill>
              </a:rPr>
              <a:t>      # if none of the conditions are true, prints “invalid input!”</a:t>
            </a:r>
            <a:endParaRPr sz="2000" b="1" dirty="0">
              <a:solidFill>
                <a:srgbClr val="38761D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000" b="1" dirty="0"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892936ba56_0_76"/>
          <p:cNvSpPr txBox="1">
            <a:spLocks noGrp="1"/>
          </p:cNvSpPr>
          <p:nvPr>
            <p:ph type="body" idx="3"/>
          </p:nvPr>
        </p:nvSpPr>
        <p:spPr>
          <a:xfrm>
            <a:off x="838201" y="6341397"/>
            <a:ext cx="31014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rPr lang="en-US"/>
              <a:t>Computing Department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endParaRPr/>
          </a:p>
        </p:txBody>
      </p:sp>
      <p:sp>
        <p:nvSpPr>
          <p:cNvPr id="260" name="Google Shape;260;g3892936ba56_0_76"/>
          <p:cNvSpPr txBox="1">
            <a:spLocks noGrp="1"/>
          </p:cNvSpPr>
          <p:nvPr>
            <p:ph type="sldNum" idx="12"/>
          </p:nvPr>
        </p:nvSpPr>
        <p:spPr>
          <a:xfrm>
            <a:off x="9318522" y="6356350"/>
            <a:ext cx="2035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261" name="Google Shape;261;g3892936ba56_0_76"/>
          <p:cNvSpPr txBox="1"/>
          <p:nvPr/>
        </p:nvSpPr>
        <p:spPr>
          <a:xfrm>
            <a:off x="0" y="0"/>
            <a:ext cx="1167300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Membership Operators</a:t>
            </a:r>
            <a:endParaRPr/>
          </a:p>
        </p:txBody>
      </p:sp>
      <p:sp>
        <p:nvSpPr>
          <p:cNvPr id="262" name="Google Shape;262;g3892936ba56_0_76"/>
          <p:cNvSpPr txBox="1"/>
          <p:nvPr/>
        </p:nvSpPr>
        <p:spPr>
          <a:xfrm>
            <a:off x="171600" y="627900"/>
            <a:ext cx="12020400" cy="12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286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solidFill>
                  <a:schemeClr val="dk1"/>
                </a:solidFill>
              </a:rPr>
              <a:t>in  → Returns True if a sequence with the specified value is present in the object</a:t>
            </a:r>
            <a:endParaRPr sz="2000">
              <a:solidFill>
                <a:schemeClr val="dk1"/>
              </a:solidFill>
            </a:endParaRPr>
          </a:p>
          <a:p>
            <a:pPr marL="2286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endParaRPr sz="2000">
              <a:solidFill>
                <a:schemeClr val="dk1"/>
              </a:solidFill>
            </a:endParaRPr>
          </a:p>
          <a:p>
            <a:pPr marL="2286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solidFill>
                  <a:schemeClr val="dk1"/>
                </a:solidFill>
              </a:rPr>
              <a:t>not in → Returns True if a sequence with the specified value is not present in the object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263" name="Google Shape;263;g3892936ba56_0_76"/>
          <p:cNvSpPr txBox="1"/>
          <p:nvPr/>
        </p:nvSpPr>
        <p:spPr>
          <a:xfrm>
            <a:off x="1137775" y="2515050"/>
            <a:ext cx="5229600" cy="9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print("ake" </a:t>
            </a:r>
            <a:r>
              <a:rPr lang="en-US" sz="2000" b="1">
                <a:solidFill>
                  <a:srgbClr val="980000"/>
                </a:solidFill>
              </a:rPr>
              <a:t>in </a:t>
            </a:r>
            <a:r>
              <a:rPr lang="en-US" sz="2000">
                <a:solidFill>
                  <a:schemeClr val="dk1"/>
                </a:solidFill>
              </a:rPr>
              <a:t>"Mistake")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print("ak" </a:t>
            </a:r>
            <a:r>
              <a:rPr lang="en-US" sz="2000" b="1">
                <a:solidFill>
                  <a:srgbClr val="980000"/>
                </a:solidFill>
              </a:rPr>
              <a:t>not in</a:t>
            </a:r>
            <a:r>
              <a:rPr lang="en-US" sz="2000">
                <a:solidFill>
                  <a:schemeClr val="dk1"/>
                </a:solidFill>
              </a:rPr>
              <a:t> "Mistake")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892936ba56_0_93"/>
          <p:cNvSpPr txBox="1">
            <a:spLocks noGrp="1"/>
          </p:cNvSpPr>
          <p:nvPr>
            <p:ph type="body" idx="3"/>
          </p:nvPr>
        </p:nvSpPr>
        <p:spPr>
          <a:xfrm>
            <a:off x="838201" y="6341397"/>
            <a:ext cx="31014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rPr lang="en-US"/>
              <a:t>Computing Department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endParaRPr/>
          </a:p>
        </p:txBody>
      </p:sp>
      <p:sp>
        <p:nvSpPr>
          <p:cNvPr id="269" name="Google Shape;269;g3892936ba56_0_93"/>
          <p:cNvSpPr txBox="1">
            <a:spLocks noGrp="1"/>
          </p:cNvSpPr>
          <p:nvPr>
            <p:ph type="sldNum" idx="12"/>
          </p:nvPr>
        </p:nvSpPr>
        <p:spPr>
          <a:xfrm>
            <a:off x="9318522" y="6356350"/>
            <a:ext cx="2035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270" name="Google Shape;270;g3892936ba56_0_93"/>
          <p:cNvSpPr txBox="1"/>
          <p:nvPr/>
        </p:nvSpPr>
        <p:spPr>
          <a:xfrm>
            <a:off x="0" y="0"/>
            <a:ext cx="11673000" cy="62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Individual task</a:t>
            </a:r>
            <a:endParaRPr/>
          </a:p>
        </p:txBody>
      </p:sp>
      <p:sp>
        <p:nvSpPr>
          <p:cNvPr id="271" name="Google Shape;271;g3892936ba56_0_93"/>
          <p:cNvSpPr txBox="1"/>
          <p:nvPr/>
        </p:nvSpPr>
        <p:spPr>
          <a:xfrm>
            <a:off x="1185650" y="970075"/>
            <a:ext cx="9936300" cy="28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38761D"/>
                </a:solidFill>
              </a:rPr>
              <a:t>Write a program that:</a:t>
            </a:r>
            <a:br>
              <a:rPr lang="en-US" sz="2000" b="1">
                <a:solidFill>
                  <a:srgbClr val="38761D"/>
                </a:solidFill>
              </a:rPr>
            </a:br>
            <a:endParaRPr sz="2000" b="1">
              <a:solidFill>
                <a:srgbClr val="38761D"/>
              </a:solidFill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38761D"/>
                </a:solidFill>
              </a:rPr>
              <a:t># Asks the user to enter a password</a:t>
            </a:r>
            <a:br>
              <a:rPr lang="en-US" sz="2000" b="1">
                <a:solidFill>
                  <a:srgbClr val="38761D"/>
                </a:solidFill>
              </a:rPr>
            </a:br>
            <a:r>
              <a:rPr lang="en-US" sz="2000" b="1">
                <a:solidFill>
                  <a:srgbClr val="38761D"/>
                </a:solidFill>
              </a:rPr>
              <a:t>	# If the password contains a space -&gt; prints “No spaces allowed”</a:t>
            </a:r>
            <a:endParaRPr sz="2000" b="1">
              <a:solidFill>
                <a:srgbClr val="38761D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38761D"/>
                </a:solidFill>
              </a:rPr>
              <a:t>     # if the password is shorter than 8 characters -&gt;  prints “Too short”</a:t>
            </a:r>
            <a:br>
              <a:rPr lang="en-US" sz="2000" b="1">
                <a:solidFill>
                  <a:srgbClr val="38761D"/>
                </a:solidFill>
              </a:rPr>
            </a:br>
            <a:endParaRPr sz="2000" b="1">
              <a:solidFill>
                <a:srgbClr val="38761D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rgbClr val="38761D"/>
                </a:solidFill>
              </a:rPr>
              <a:t># Otherwise prints “Length OK”</a:t>
            </a:r>
            <a:br>
              <a:rPr lang="en-US" sz="2000" b="1">
                <a:solidFill>
                  <a:srgbClr val="38761D"/>
                </a:solidFill>
              </a:rPr>
            </a:br>
            <a:endParaRPr sz="2000" b="1">
              <a:solidFill>
                <a:srgbClr val="38761D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892936ba56_1_0"/>
          <p:cNvSpPr txBox="1">
            <a:spLocks noGrp="1"/>
          </p:cNvSpPr>
          <p:nvPr>
            <p:ph type="body" idx="3"/>
          </p:nvPr>
        </p:nvSpPr>
        <p:spPr>
          <a:xfrm>
            <a:off x="838201" y="6341397"/>
            <a:ext cx="31014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r>
              <a:rPr lang="en-US"/>
              <a:t>Computing Department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67676"/>
              </a:buClr>
              <a:buSzPts val="1200"/>
              <a:buNone/>
            </a:pPr>
            <a:endParaRPr/>
          </a:p>
        </p:txBody>
      </p:sp>
      <p:sp>
        <p:nvSpPr>
          <p:cNvPr id="284" name="Google Shape;284;g3892936ba56_1_0"/>
          <p:cNvSpPr txBox="1">
            <a:spLocks noGrp="1"/>
          </p:cNvSpPr>
          <p:nvPr>
            <p:ph type="sldNum" idx="12"/>
          </p:nvPr>
        </p:nvSpPr>
        <p:spPr>
          <a:xfrm>
            <a:off x="9318522" y="6356350"/>
            <a:ext cx="2035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285" name="Google Shape;285;g3892936ba56_1_0"/>
          <p:cNvSpPr txBox="1"/>
          <p:nvPr/>
        </p:nvSpPr>
        <p:spPr>
          <a:xfrm>
            <a:off x="1006025" y="574875"/>
            <a:ext cx="10643100" cy="327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Just for your review!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LeetCode → </a:t>
            </a:r>
            <a:r>
              <a:rPr lang="en-US" sz="2000" u="sng">
                <a:solidFill>
                  <a:schemeClr val="hlink"/>
                </a:solidFill>
                <a:hlinkClick r:id="rId3"/>
              </a:rPr>
              <a:t>https://leetcode.com/problems/fizz-buzz/description/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hackerrank → </a:t>
            </a:r>
            <a:r>
              <a:rPr lang="en-US" sz="2000" u="sng">
                <a:solidFill>
                  <a:schemeClr val="hlink"/>
                </a:solidFill>
                <a:hlinkClick r:id="rId4"/>
              </a:rPr>
              <a:t>https://www.hackerrank.com/challenges/py-if-else/problem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</a:rPr>
              <a:t>hackerrank → </a:t>
            </a:r>
            <a:r>
              <a:rPr lang="en-US" sz="2000" u="sng">
                <a:solidFill>
                  <a:schemeClr val="hlink"/>
                </a:solidFill>
                <a:hlinkClick r:id="rId5"/>
              </a:rPr>
              <a:t>https://www.hackerrank.com/challenges/python-arithmetic-operators/problem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50">
              <a:solidFill>
                <a:srgbClr val="D4D4D4"/>
              </a:solidFill>
              <a:highlight>
                <a:srgbClr val="1E1E1E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8"/>
          <p:cNvSpPr txBox="1">
            <a:spLocks noGrp="1"/>
          </p:cNvSpPr>
          <p:nvPr>
            <p:ph type="body" idx="1"/>
          </p:nvPr>
        </p:nvSpPr>
        <p:spPr>
          <a:xfrm>
            <a:off x="838201" y="6341397"/>
            <a:ext cx="3101410" cy="37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</a:pPr>
            <a:r>
              <a:rPr lang="en-US"/>
              <a:t>Computing Department</a:t>
            </a:r>
            <a:endParaRPr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</a:pPr>
            <a:endParaRPr/>
          </a:p>
        </p:txBody>
      </p:sp>
      <p:sp>
        <p:nvSpPr>
          <p:cNvPr id="291" name="Google Shape;291;p18"/>
          <p:cNvSpPr txBox="1">
            <a:spLocks noGrp="1"/>
          </p:cNvSpPr>
          <p:nvPr>
            <p:ph type="sldNum" idx="12"/>
          </p:nvPr>
        </p:nvSpPr>
        <p:spPr>
          <a:xfrm>
            <a:off x="9318522" y="6356350"/>
            <a:ext cx="203527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292" name="Google Shape;292;p18"/>
          <p:cNvSpPr txBox="1">
            <a:spLocks noGrp="1"/>
          </p:cNvSpPr>
          <p:nvPr>
            <p:ph type="ctrTitle"/>
          </p:nvPr>
        </p:nvSpPr>
        <p:spPr>
          <a:xfrm>
            <a:off x="838201" y="2528374"/>
            <a:ext cx="10515599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Arial"/>
              <a:buNone/>
            </a:pPr>
            <a:endParaRPr/>
          </a:p>
        </p:txBody>
      </p:sp>
      <p:sp>
        <p:nvSpPr>
          <p:cNvPr id="293" name="Google Shape;293;p18"/>
          <p:cNvSpPr txBox="1">
            <a:spLocks noGrp="1"/>
          </p:cNvSpPr>
          <p:nvPr>
            <p:ph type="subTitle" idx="2"/>
          </p:nvPr>
        </p:nvSpPr>
        <p:spPr>
          <a:xfrm>
            <a:off x="838201" y="5008049"/>
            <a:ext cx="10515599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</p:txBody>
      </p:sp>
      <p:sp>
        <p:nvSpPr>
          <p:cNvPr id="294" name="Google Shape;294;p18"/>
          <p:cNvSpPr/>
          <p:nvPr/>
        </p:nvSpPr>
        <p:spPr>
          <a:xfrm>
            <a:off x="0" y="-184666"/>
            <a:ext cx="26481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5" name="Google Shape;295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284476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Другая 16">
      <a:dk1>
        <a:srgbClr val="000000"/>
      </a:dk1>
      <a:lt1>
        <a:srgbClr val="FFFFFF"/>
      </a:lt1>
      <a:dk2>
        <a:srgbClr val="07428C"/>
      </a:dk2>
      <a:lt2>
        <a:srgbClr val="EDEDED"/>
      </a:lt2>
      <a:accent1>
        <a:srgbClr val="7CB4E2"/>
      </a:accent1>
      <a:accent2>
        <a:srgbClr val="358A7C"/>
      </a:accent2>
      <a:accent3>
        <a:srgbClr val="35A8E0"/>
      </a:accent3>
      <a:accent4>
        <a:srgbClr val="26693A"/>
      </a:accent4>
      <a:accent5>
        <a:srgbClr val="F6AC10"/>
      </a:accent5>
      <a:accent6>
        <a:srgbClr val="B7283C"/>
      </a:accent6>
      <a:hlink>
        <a:srgbClr val="358A7C"/>
      </a:hlink>
      <a:folHlink>
        <a:srgbClr val="B7283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Другая 13">
      <a:dk1>
        <a:srgbClr val="000000"/>
      </a:dk1>
      <a:lt1>
        <a:srgbClr val="FFFFFF"/>
      </a:lt1>
      <a:dk2>
        <a:srgbClr val="264C94"/>
      </a:dk2>
      <a:lt2>
        <a:srgbClr val="35A8E0"/>
      </a:lt2>
      <a:accent1>
        <a:srgbClr val="7CB4E2"/>
      </a:accent1>
      <a:accent2>
        <a:srgbClr val="358A7C"/>
      </a:accent2>
      <a:accent3>
        <a:srgbClr val="A5A5A5"/>
      </a:accent3>
      <a:accent4>
        <a:srgbClr val="26693A"/>
      </a:accent4>
      <a:accent5>
        <a:srgbClr val="F6AC10"/>
      </a:accent5>
      <a:accent6>
        <a:srgbClr val="B7283C"/>
      </a:accent6>
      <a:hlink>
        <a:srgbClr val="358A7C"/>
      </a:hlink>
      <a:folHlink>
        <a:srgbClr val="B7283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</TotalTime>
  <Words>1103</Words>
  <Application>Microsoft Office PowerPoint</Application>
  <PresentationFormat>Widescreen</PresentationFormat>
  <Paragraphs>182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Consolas</vt:lpstr>
      <vt:lpstr>Тема Office</vt:lpstr>
      <vt:lpstr>Fundamentals of programming:  Seminar 4 </vt:lpstr>
      <vt:lpstr>Quick Recap</vt:lpstr>
      <vt:lpstr>Boolean type</vt:lpstr>
      <vt:lpstr>Comparison Operators | Relational Operators</vt:lpstr>
      <vt:lpstr>String Methods</vt:lpstr>
      <vt:lpstr>Logical Operators and their Precedence</vt:lpstr>
      <vt:lpstr>Logical Operators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Diyora Sayfutdinova</cp:lastModifiedBy>
  <cp:revision>3</cp:revision>
  <dcterms:created xsi:type="dcterms:W3CDTF">2022-06-28T05:50:22Z</dcterms:created>
  <dcterms:modified xsi:type="dcterms:W3CDTF">2025-10-06T08:21:26Z</dcterms:modified>
</cp:coreProperties>
</file>