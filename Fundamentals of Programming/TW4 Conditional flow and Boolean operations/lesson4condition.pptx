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8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8" r:id="rId18"/>
    <p:sldId id="271" r:id="rId19"/>
    <p:sldId id="272" r:id="rId20"/>
    <p:sldId id="289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90" r:id="rId31"/>
    <p:sldId id="282" r:id="rId32"/>
    <p:sldId id="283" r:id="rId33"/>
    <p:sldId id="285" r:id="rId34"/>
    <p:sldId id="292" r:id="rId35"/>
    <p:sldId id="286" r:id="rId36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C098A1-2014-48F2-9076-8440AB0C8BF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1E284-3B2D-4B3F-92F7-F4EEA8640872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B85D6-4D74-4780-9390-1A21B1D22CE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74C59-B398-4D7E-94C7-0BDEAE7A1FF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89FD3A6-A4EB-4CA7-9181-4FAC475CFACC}" type="slidenum">
              <a:t>‹#›</a:t>
            </a:fld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14030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52F69-9827-44BC-939D-59E860488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DF844-0BBF-4861-BA19-95BDC277135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1D6022A-63AE-4F5B-8C92-BD981F54E09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B4D46-D6C7-433C-9ACD-EB77A342470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92E57-FA77-4D8D-BD1E-113604E560C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8D481-0DE6-4926-A438-85DAAEB78C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90DC9067-6716-4C80-B959-E0C72BD1AA1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20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FF322-A6F2-4D2A-97AA-1234D7A7446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5EAA394-B205-4340-B20F-1B764729C9E5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1461E-73E7-4706-99CE-7B8EE76DC7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2D71F-43C6-400C-BFB8-5FF398D015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EF15D-A4DE-4983-8F6C-309A28B58FC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C8209C3-8A1E-4416-8E6C-5910424972D4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A2DA3-77DC-45D6-B023-0A339BBC6B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AC788-C81D-4453-893E-A82AC55E11D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6EDA6-40F4-4C5D-9C67-B5E02B38C11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DE9B29B-7B17-44B5-BB95-CA05535B24E1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0BA67-8F9F-4D2B-A10C-FFA41CBA4D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92427-C557-4295-9C7B-EB3A527A5D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48A01-0F96-433C-8A81-C9044A144D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CEC8FED-5736-492D-9F9A-B0A26CC5A135}" type="slidenum">
              <a:t>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36613-9075-4A42-89EA-A5FFF281EA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CEB3A-4685-4D31-90A2-CB412F6F4B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41E17-842C-4814-BB84-490CAE7CCE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E41E76A-878D-40F8-B2DB-441892EA91CD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0464F-4B06-4B2C-8294-9E0DC177DC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2978F-4845-416D-8805-DFE675343B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65E74-C5C4-4553-A91C-16222C1A13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917C6CA-74A7-422F-9F85-4FD3E9C420BD}" type="slidenum">
              <a:t>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3C48F-2DCA-4546-8680-3AA1FEF37B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A09B0-BED6-4770-A63E-C743F67E98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4FDB8-40C4-427E-994A-BD00048BAB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2CAD031-45E5-4EF3-97BB-C0237662C2C6}" type="slidenum">
              <a:t>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C41F9-1523-4A74-A41B-5898CD24928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4ECDF-D444-4CB7-B887-72896BDA67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4951D-7D5C-4BD3-8E92-FE739EEC7F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7362A95-FCEC-4EE9-A74C-F6CA0D94656E}" type="slidenum">
              <a:t>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5D5EB-9BAF-4801-9109-6E490A159E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01E43-572B-4666-B031-C1F17C72B3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8870D-3BC0-4776-AE9C-03773D8B6A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ACB19F-FBC6-4C96-88CE-4C7A399E14C0}" type="slidenum">
              <a:t>10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80D82-81D4-48C0-9519-C2D933CB466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C34B4-002E-4D1D-81B9-8087D7933D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B2DDF-01A0-4930-9B13-86978DCB7D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E251847-1707-45BC-8469-80D5937FE0A5}" type="slidenum">
              <a:t>11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473AE-ACA8-43DC-9CEE-F5D0478C4CA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CBBFD-93D4-4158-A25A-2086E73AC6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D7E9F-C847-4E42-BAF7-3A698C2BA2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B7C715B-6F3C-4742-9E0B-E198359199FC}" type="slidenum">
              <a:t>12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095FF-CA91-4C17-B9C8-53C8F838AD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CE431-6A01-4B5F-8D1D-7F2209BA3D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D1A9E-0E9A-46E4-9421-8149BDCF4A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D5FFD14-B338-4BAE-8F71-F023788CFAF7}" type="slidenum">
              <a:t>13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B1699-709E-469F-BFF2-4E4B9D0B71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E17F9-D4EA-4786-B23D-DC189FFCCE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73E75-A8C2-48AA-BD0B-592E674C762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0B230FC-2184-4E1A-849C-E503F958C9F6}" type="slidenum">
              <a:t>14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E588E-E950-40EA-A54C-16366CFF45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9B154-78CB-4022-AE8E-418DC79A4B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9AB8A-1BE4-4977-ACF4-B1DF27A3C5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A291811-C531-43D2-A12A-CA109D750D2E}" type="slidenum">
              <a:t>15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5781E-ABF4-487D-A562-A81159C180C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3531F-4FDA-4A2C-9A7A-1DF61C782B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3B009-1731-42EB-93CF-7E4CA68EA5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1835F7C-F52D-497B-A7E9-BCD76232B4EA}" type="slidenum">
              <a:t>16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F7246-08CA-49CC-B2FA-93A4792F704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9DC7E-3F6D-463F-A323-9D4ADEE252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BB35F-0CB6-44DA-B4DF-56A16FD7A2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545ABD0-6394-4DB2-9905-0C51077AC101}" type="slidenum">
              <a:t>18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4978D-B3FF-40A7-9EB7-CDAB8064C1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655E2-4E4F-4480-89EF-7478A322E1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A4ECF-1C91-497E-97FD-6A50F3E851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437B300-BAD1-41B1-A14A-0F2227013CAB}" type="slidenum">
              <a:t>19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1C67D-08C2-4ACA-9520-F337FC3164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17209-7108-429D-BE5C-9DBD0E9523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E5204-C110-4A6B-891E-38E51D4AB1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668D213-20F7-4A05-B2DA-3507DCBEEB84}" type="slidenum">
              <a:t>21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C9881-E9D9-41CC-9A0E-EF69F3A895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35787-4D04-4AE5-83FD-482DAB1408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C4B1C-9AAA-43F5-BA9D-3534387E04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87E4C35-15D5-4C9D-9751-776199E1CC90}" type="slidenum">
              <a:t>22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15EFB-6BB0-4901-810E-AD92738DEC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CACC2-33C5-4343-898F-0C4F11B4E9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81B4A-9763-4832-9694-C0C469CB37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C3882F3-ABBA-4D81-A7F4-85BBD7413133}" type="slidenum">
              <a:t>23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A915B-0617-4693-BE24-1FCB148603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4C29A-56C9-44B0-9C34-46233B35BB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9D701-807F-4BC8-A131-C18024A1CA6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EED6FBA-ECCC-4320-A03D-0B812E6B2150}" type="slidenum">
              <a:t>24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B52DC-042C-47BC-9530-5FBEC4B0DC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C0A07-A8DE-45AE-9CD3-21FCBD5C23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CBE06-FBA7-48B5-898E-6B4B6EE70A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A18BB6A-75FB-4A48-98C9-C469BDB4839B}" type="slidenum">
              <a:t>25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7FE11-A8F9-4A6D-9E8D-0006B24B3A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2B620-36AD-4E04-B514-8784405F8E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3369D-88E6-44AC-ADF4-A68204F31A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F0D114A-2689-47E3-A3C2-8B177540A017}" type="slidenum">
              <a:t>26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65726-A85E-486E-AC5F-EC7CBFA35B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AE16C-ADF5-410C-A267-33D81C33CE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D12E2-DCE3-4357-B437-D989E533EF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4A654E1-A571-4723-B16A-49A811F7387B}" type="slidenum">
              <a:t>27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07055-062D-4F91-A98B-3244B89A0C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85AAF-39C4-4D1B-90C3-4869788014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58D48-4B2A-440F-A39A-F1092113F4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D94C116-D307-4C9C-82DB-AD61F87653F1}" type="slidenum">
              <a:t>28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E9F19-109C-4D55-956D-B73A975DC9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EC2EB-E7B9-452E-B4B4-37DC2E53DA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F31D1-9027-496F-8251-1E624B01B7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F2F1F22-E95C-43B0-80B8-C301CB89D61D}" type="slidenum">
              <a:t>29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D5BB2-A68E-48EF-BEC2-44CCAC58EF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4F062-5DAF-4410-A3B8-093FDCBAE5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138BB-C12F-43E1-9350-F2637685A0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34AB6F5-BE4C-46C3-93A2-C6BF5F6CD1DC}" type="slidenum">
              <a:t>31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88B80-47C3-4634-8802-25FFA554F1A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3C7FF-1907-4F1F-BE05-7B75EA9198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B2D58-5B05-4423-93D6-C775CF260D5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5401A4F-9D59-45B0-9770-7D9519DA5960}" type="slidenum">
              <a:t>32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7BA8D-BF1B-4F5E-A842-2CABC74BF7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1B7F8-ECD7-4AAB-93F7-BAC108276C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C7A7A-F12D-4FE8-B52A-38B0BD9DB1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A718A29-3C47-43EA-A6EF-AC1787064051}" type="slidenum">
              <a:t>33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29C0B-F07F-4DE5-81D1-68E2449019F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24A2A-94F7-457D-AA56-150E407504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6607A-6D25-4E2E-B951-ED5F3CE0FFA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1431220-6795-48C5-A683-26F2C384E979}" type="slidenum">
              <a:t>35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59916-C3FA-4C9A-BC62-8ED3F041108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FAE11-B96E-4F9C-8341-B455092BA8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5AB2-7A31-44D1-B09C-F0D457847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CF047-20F0-4DD8-BBB3-D645305C1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B5F87-622A-42C7-822A-5AAED33E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5FD98-71E1-44CF-B005-A34C7FFE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F1FC-1040-49CA-9947-CC4AC27A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0F923FD1-90AD-4B3F-916F-47DFD74667D7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9219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E1CE-AEC9-47BA-B12D-395091C7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C93A1-B0D9-455C-91EB-1B37BDC7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2CC4D-F2F5-40F9-9A5D-AD1652D0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DEDD-DB54-4D25-BE82-D7712A5D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7C944-5CEC-4176-97C8-CE774035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B2D0874B-9E74-44A5-AB8A-92B80C2A3465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0212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5CC8-FED2-4A89-A94F-59893F44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2EDC2-CBA1-46FD-9264-8A822F61B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69859-E62D-402A-9E99-575D741C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3425E-24CD-400C-989C-B6344BD7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6BF7E-CE91-47F0-BDBE-5442AEF8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880BB83-D643-435E-B427-E8E990B5833F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7010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D0B5-3B86-48EC-ABFA-8A58BBDB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16FE9-0950-4E03-A3C2-598D2C7BA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ADA6A-A6A6-4FDF-8F72-64E298652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8435D-E29D-4C74-8F51-11B9165D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56D34-035A-4FAD-AC1A-5A06FBF5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A2F34-BC31-4C35-A72D-873F5AD6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1D637121-C20E-4F3B-A688-2C373D1F9718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803028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B9E5-7617-48A5-B8F4-F7227C6E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8956-E492-4C63-9717-99BB89541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6C75B-FED1-4CDF-98A8-8BA72AF2F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DECA6-ABB1-455C-9A31-3532EE54D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308AF-9E14-4750-9A3F-F3CACF204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68ACB-E980-4CD2-8B32-3C3DF52F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1E571-B8A7-4399-A459-DCC00A76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F20F2-30A9-4980-A934-C2D7E60D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4496B9B0-A090-4975-A017-B6164589242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0417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D7FB-A796-4921-A1CC-477956D3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1F631-80B4-4FEF-8B58-8604D24A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7EB10-91D1-4AB7-AE1A-F95DE82B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4E0B6-6E97-4EEC-B628-0D06D369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126AA1B9-4FF3-461F-B195-2DF05676A8C0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736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2F523-77BE-4D66-95D8-BBDE0784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9C1DC-6CBA-45F7-8681-CAC08E3B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B462C-9E89-4F51-B057-87C8D11C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9EC9B420-1D43-44C8-AB26-D9F57A379A6B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2704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DEB8-0BC6-4B9D-AEC0-1B5203986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B4FE5-1C4B-4784-AEB3-15DFCBA9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9134D-5792-450E-8F53-5B8338DC9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499EA-8978-4034-A102-781F7C1B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D5A55-CEA7-48D8-B100-3809F180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68BD2-597C-4A1E-B431-BE581603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785FF41E-734A-424F-9B12-5488C8CA1011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11099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7317-AA53-4349-A2D7-8085597A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E544B-EEE5-4537-B2D0-950085FD6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2F6EE-930E-45DC-AAA6-89D60B9F2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77BCF-D812-42F0-96BD-0BF366CD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FCE17-1DB2-4D92-AA8B-8008D63E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5D058-5195-4356-9475-1A869430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A116B17D-2E66-4BA8-852B-4355D5EEB6F1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0699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2813-8BF6-4D97-9E83-53DBC3A1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EE6DF-CA56-4945-A452-7F0B82D30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75D28-DE52-4BC3-ADA9-762424DE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58440-8A0C-4CA3-AB53-59F79537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228DF-A944-4F8C-88B2-D755F31C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C30DF9D-F518-49DB-AD38-0A255F8CA0BE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81941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F0B924-CC93-4A71-A8F2-89EB3E437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9714D-7DD5-44C3-8CA1-36ED62D95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6ED74-2223-4CAE-8404-C701E562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2AF4-742F-404B-A145-0AB01E34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1645-B497-469E-877A-698FA597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A395DDF-D759-455A-9211-BEA887671E30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85130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B6E73-449C-4E8F-B3D3-5B7D2CB23C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A6B68-1EFC-403A-B77D-3C2B350A6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F267-EF94-4882-9347-40B36C2406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749320"/>
            <a:ext cx="9071640" cy="1262160"/>
          </a:xfrm>
        </p:spPr>
        <p:txBody>
          <a:bodyPr/>
          <a:lstStyle/>
          <a:p>
            <a:pPr lvl="0"/>
            <a:br>
              <a:rPr lang="en-GB" dirty="0"/>
            </a:br>
            <a:r>
              <a:rPr lang="en-GB" dirty="0"/>
              <a:t>Fun Pro 2025-26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CD776-ACFB-4822-86E1-3662C18A512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5818338"/>
            <a:ext cx="9071640" cy="492443"/>
          </a:xfrm>
        </p:spPr>
        <p:txBody>
          <a:bodyPr anchor="ctr">
            <a:spAutoFit/>
          </a:bodyPr>
          <a:lstStyle/>
          <a:p>
            <a:pPr lvl="0"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62A56-6DD9-4748-8495-E7E98FC4BBF1}"/>
              </a:ext>
            </a:extLst>
          </p:cNvPr>
          <p:cNvSpPr txBox="1"/>
          <p:nvPr/>
        </p:nvSpPr>
        <p:spPr>
          <a:xfrm>
            <a:off x="1044000" y="4369679"/>
            <a:ext cx="79920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1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3600" b="1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Making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3B68-4C47-4F3C-93F8-0CFFDB9763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210124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In this class…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E0F02-A72E-4007-B5E7-91887030F6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052036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type Python uses for representing True and False?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are the logical operators available in Python?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How can we obtain </a:t>
            </a:r>
            <a:r>
              <a:rPr lang="en-GB" sz="2800" dirty="0" err="1"/>
              <a:t>boolean</a:t>
            </a:r>
            <a:r>
              <a:rPr lang="en-GB" sz="2800" dirty="0"/>
              <a:t> values from other values?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Is it always necessary to evaluate all the expression to determine its logical value?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Can strings be compared using relational operators?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Which operator allows me to “ask” if one string is present in another string?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How can we take advantage of the logical values resulting from relational operations?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0677-7AA1-4709-AF00-73CC49A4D2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Dynamic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72E1A-9224-410D-B9B1-3DC2EF746D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We want our programs to be dynamic, i.e. behaving according to the input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For example, do one thing if it’s hot, and another if it’s cold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This can be achieved in Python through control flow statements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Control flow statements require a new type to represent truth and falsehood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DBD4-E7F3-40D5-9CFF-9470D3603E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Boolean 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DFA95-5AD2-4AD0-9C29-DD1D03B619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63480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Boolean logic originates from George Boole (1840s)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Most programming languages have a type named after Boole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In Python it is called </a:t>
            </a:r>
            <a:r>
              <a:rPr lang="en-GB" dirty="0">
                <a:latin typeface="Courier 10 Pitch" pitchFamily="17"/>
              </a:rPr>
              <a:t>bool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type </a:t>
            </a:r>
            <a:r>
              <a:rPr lang="en-GB" dirty="0">
                <a:latin typeface="Courier 10 Pitch" pitchFamily="17"/>
              </a:rPr>
              <a:t>bool</a:t>
            </a:r>
            <a:r>
              <a:rPr lang="en-GB" dirty="0"/>
              <a:t> only has two possible values: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5FAC-D1C0-4E2B-844A-278B911292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665236"/>
            <a:ext cx="9071640" cy="442599"/>
          </a:xfrm>
        </p:spPr>
        <p:txBody>
          <a:bodyPr/>
          <a:lstStyle/>
          <a:p>
            <a:pPr lvl="0"/>
            <a:r>
              <a:rPr lang="en-GB" dirty="0"/>
              <a:t>Logical Operators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E54EF-1878-4678-AD63-B2DFB13CDC9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107835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latin typeface="Courier 10 Pitch" pitchFamily="17"/>
              </a:rPr>
              <a:t>and</a:t>
            </a:r>
            <a:r>
              <a:rPr lang="en-GB" sz="2800" dirty="0"/>
              <a:t>: Results in True if both operands are True, or False if one is False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True </a:t>
            </a:r>
            <a:r>
              <a:rPr lang="en-GB" sz="28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and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True </a:t>
            </a:r>
            <a:r>
              <a:rPr lang="en-GB" sz="28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and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endParaRPr lang="en-GB" sz="2800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latin typeface="Courier 10 Pitch" pitchFamily="17"/>
              </a:rPr>
              <a:t>or</a:t>
            </a:r>
            <a:r>
              <a:rPr lang="en-GB" sz="2800" dirty="0"/>
              <a:t>: Results in True if one of the operands is True, or False if both are False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True </a:t>
            </a:r>
            <a:r>
              <a:rPr lang="en-GB" sz="28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or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False </a:t>
            </a:r>
            <a:r>
              <a:rPr lang="en-GB" sz="28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or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endParaRPr lang="en-GB" sz="2800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2292A3-409D-4090-A8A1-CA304395191D}"/>
              </a:ext>
            </a:extLst>
          </p:cNvPr>
          <p:cNvSpPr/>
          <p:nvPr/>
        </p:nvSpPr>
        <p:spPr>
          <a:xfrm>
            <a:off x="325464" y="356462"/>
            <a:ext cx="9298983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not</a:t>
            </a:r>
            <a:r>
              <a:rPr lang="en-GB" dirty="0"/>
              <a:t>: A unary operator that negates the logical value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not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True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not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False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09970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F01D-0E6B-46A4-A121-CAC91A3B8B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Logical Operators</a:t>
            </a:r>
            <a:br>
              <a:rPr lang="en-GB"/>
            </a:br>
            <a:r>
              <a:rPr lang="en-GB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5D43B-0CF2-4594-9512-8ADEE52B3BB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2000" cy="20912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Operations on booleans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Logical operators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and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or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not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32AC2E0C-3B2A-4597-9653-F800ED12CC2E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6638040" y="4059360"/>
          <a:ext cx="2920680" cy="1052640"/>
        </p:xfrm>
        <a:graphic>
          <a:graphicData uri="http://schemas.openxmlformats.org/drawingml/2006/table">
            <a:tbl>
              <a:tblPr firstRow="1" bandRow="1"/>
              <a:tblGrid>
                <a:gridCol w="1898280">
                  <a:extLst>
                    <a:ext uri="{9D8B030D-6E8A-4147-A177-3AD203B41FA5}">
                      <a16:colId xmlns:a16="http://schemas.microsoft.com/office/drawing/2014/main" val="2352094476"/>
                    </a:ext>
                  </a:extLst>
                </a:gridCol>
                <a:gridCol w="1022400">
                  <a:extLst>
                    <a:ext uri="{9D8B030D-6E8A-4147-A177-3AD203B41FA5}">
                      <a16:colId xmlns:a16="http://schemas.microsoft.com/office/drawing/2014/main" val="542771890"/>
                    </a:ext>
                  </a:extLst>
                </a:gridCol>
              </a:tblGrid>
              <a:tr h="526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not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81893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not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02028"/>
                  </a:ext>
                </a:extLst>
              </a:tr>
            </a:tbl>
          </a:graphicData>
        </a:graphic>
      </p:graphicFrame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CA78FFEB-DB39-4F9D-BAFB-69B66A090002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3571200" y="4059360"/>
          <a:ext cx="2920678" cy="2132640"/>
        </p:xfrm>
        <a:graphic>
          <a:graphicData uri="http://schemas.openxmlformats.org/drawingml/2006/table">
            <a:tbl>
              <a:tblPr firstRow="1" bandRow="1"/>
              <a:tblGrid>
                <a:gridCol w="2071439">
                  <a:extLst>
                    <a:ext uri="{9D8B030D-6E8A-4147-A177-3AD203B41FA5}">
                      <a16:colId xmlns:a16="http://schemas.microsoft.com/office/drawing/2014/main" val="701543933"/>
                    </a:ext>
                  </a:extLst>
                </a:gridCol>
                <a:gridCol w="849239">
                  <a:extLst>
                    <a:ext uri="{9D8B030D-6E8A-4147-A177-3AD203B41FA5}">
                      <a16:colId xmlns:a16="http://schemas.microsoft.com/office/drawing/2014/main" val="888244306"/>
                    </a:ext>
                  </a:extLst>
                </a:gridCol>
              </a:tblGrid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or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262181"/>
                  </a:ext>
                </a:extLst>
              </a:tr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or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63467"/>
                  </a:ext>
                </a:extLst>
              </a:tr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or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829561"/>
                  </a:ext>
                </a:extLst>
              </a:tr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or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428168"/>
                  </a:ext>
                </a:extLst>
              </a:tr>
            </a:tbl>
          </a:graphicData>
        </a:graphic>
      </p:graphicFrame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33AB4B7C-6843-43AD-8898-66C7A7005CCD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503999" y="4059360"/>
          <a:ext cx="2920679" cy="2132640"/>
        </p:xfrm>
        <a:graphic>
          <a:graphicData uri="http://schemas.openxmlformats.org/drawingml/2006/table">
            <a:tbl>
              <a:tblPr firstRow="1" bandRow="1"/>
              <a:tblGrid>
                <a:gridCol w="2076480">
                  <a:extLst>
                    <a:ext uri="{9D8B030D-6E8A-4147-A177-3AD203B41FA5}">
                      <a16:colId xmlns:a16="http://schemas.microsoft.com/office/drawing/2014/main" val="363195905"/>
                    </a:ext>
                  </a:extLst>
                </a:gridCol>
                <a:gridCol w="844199">
                  <a:extLst>
                    <a:ext uri="{9D8B030D-6E8A-4147-A177-3AD203B41FA5}">
                      <a16:colId xmlns:a16="http://schemas.microsoft.com/office/drawing/2014/main" val="3761809143"/>
                    </a:ext>
                  </a:extLst>
                </a:gridCol>
              </a:tblGrid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and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272493"/>
                  </a:ext>
                </a:extLst>
              </a:tr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and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76882"/>
                  </a:ext>
                </a:extLst>
              </a:tr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and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021504"/>
                  </a:ext>
                </a:extLst>
              </a:tr>
              <a:tr h="53316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 </a:t>
                      </a:r>
                      <a:r>
                        <a:rPr lang="en-GB" sz="1600" b="1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and</a:t>
                      </a: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roid Sans Fallback" pitchFamily="2"/>
                          <a:cs typeface="DejaVu Sans" pitchFamily="2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686697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F03E1F-1DC2-450F-AC78-85F14CC5D24D}"/>
              </a:ext>
            </a:extLst>
          </p:cNvPr>
          <p:cNvSpPr/>
          <p:nvPr/>
        </p:nvSpPr>
        <p:spPr>
          <a:xfrm>
            <a:off x="6660000" y="2088000"/>
            <a:ext cx="2844000" cy="17553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Priorities: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1°	- 	</a:t>
            </a:r>
            <a:r>
              <a:rPr lang="en-GB" sz="1800" b="0" i="0" u="none" strike="noStrike" kern="1200" cap="none">
                <a:ln>
                  <a:noFill/>
                </a:ln>
                <a:latin typeface="Courier 10 Pitch" pitchFamily="17"/>
                <a:ea typeface="Droid Sans Fallback" pitchFamily="2"/>
                <a:cs typeface="DejaVu Sans" pitchFamily="2"/>
              </a:rPr>
              <a:t>not</a:t>
            </a: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2°	-	</a:t>
            </a:r>
            <a:r>
              <a:rPr lang="en-GB" sz="1800" b="0" i="0" u="none" strike="noStrike" kern="1200" cap="none">
                <a:ln>
                  <a:noFill/>
                </a:ln>
                <a:latin typeface="Courier 10 Pitch" pitchFamily="17"/>
                <a:ea typeface="Droid Sans Fallback" pitchFamily="2"/>
                <a:cs typeface="DejaVu Sans" pitchFamily="2"/>
              </a:rPr>
              <a:t>and</a:t>
            </a: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3°	-	</a:t>
            </a:r>
            <a:r>
              <a:rPr lang="en-GB" sz="1800" b="0" i="0" u="none" strike="noStrike" kern="1200" cap="none">
                <a:ln>
                  <a:noFill/>
                </a:ln>
                <a:latin typeface="Courier 10 Pitch" pitchFamily="17"/>
                <a:ea typeface="Droid Sans Fallback" pitchFamily="2"/>
                <a:cs typeface="DejaVu Sans" pitchFamily="2"/>
              </a:rPr>
              <a:t>or</a:t>
            </a: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May be changed by the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DejaVu Sans" pitchFamily="2"/>
              </a:rPr>
              <a:t>use of parenthesis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7155EC-8F93-4B8C-B552-5B239A267505}"/>
              </a:ext>
            </a:extLst>
          </p:cNvPr>
          <p:cNvSpPr/>
          <p:nvPr/>
        </p:nvSpPr>
        <p:spPr>
          <a:xfrm>
            <a:off x="6840000" y="5544000"/>
            <a:ext cx="2664000" cy="79200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These have lower priority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than the relational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operators (in a second)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43CA-4830-44CB-B119-F18BD57E47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Relational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DFC21-FF69-45DC-9A68-6F0F8F08F9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It is not very usual to type </a:t>
            </a:r>
            <a:r>
              <a:rPr lang="en-GB" sz="2800" dirty="0">
                <a:latin typeface="Courier 10 Pitch" pitchFamily="17"/>
              </a:rPr>
              <a:t>True</a:t>
            </a:r>
            <a:r>
              <a:rPr lang="en-GB" sz="2800" dirty="0"/>
              <a:t> and </a:t>
            </a:r>
            <a:r>
              <a:rPr lang="en-GB" sz="2800" dirty="0">
                <a:latin typeface="Courier 10 Pitch" pitchFamily="17"/>
              </a:rPr>
              <a:t>False</a:t>
            </a:r>
            <a:r>
              <a:rPr lang="en-GB" sz="2800" dirty="0"/>
              <a:t> in statements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Boolean values (i.e. </a:t>
            </a:r>
            <a:r>
              <a:rPr lang="en-GB" sz="2800" dirty="0">
                <a:latin typeface="Courier 10 Pitch" pitchFamily="17"/>
              </a:rPr>
              <a:t>True</a:t>
            </a:r>
            <a:r>
              <a:rPr lang="en-GB" sz="2800" dirty="0"/>
              <a:t>/</a:t>
            </a:r>
            <a:r>
              <a:rPr lang="en-GB" sz="2800" dirty="0">
                <a:latin typeface="Courier 10 Pitch" pitchFamily="17"/>
              </a:rPr>
              <a:t>False</a:t>
            </a:r>
            <a:r>
              <a:rPr lang="en-GB" sz="2800" dirty="0"/>
              <a:t>), mostly result from relational operations (i.e. comparisons)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Relational operators establish a relation between two values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10 &lt; 20	# is 10 less than 20?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74F4-EFD1-4F82-B32C-8B27A03309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02300" y="0"/>
            <a:ext cx="9071640" cy="1262160"/>
          </a:xfrm>
        </p:spPr>
        <p:txBody>
          <a:bodyPr/>
          <a:lstStyle/>
          <a:p>
            <a:pPr lvl="0"/>
            <a:r>
              <a:rPr lang="en-GB" sz="2800" dirty="0"/>
              <a:t>Relational Operators Summary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0A5076C7-DF06-4CA9-A9FD-6DBDB66A7EA7}"/>
              </a:ext>
            </a:extLst>
          </p:cNvPr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415345381"/>
              </p:ext>
            </p:extLst>
          </p:nvPr>
        </p:nvGraphicFramePr>
        <p:xfrm>
          <a:off x="606685" y="1062035"/>
          <a:ext cx="8752320" cy="4507870"/>
        </p:xfrm>
        <a:graphic>
          <a:graphicData uri="http://schemas.openxmlformats.org/drawingml/2006/table">
            <a:tbl>
              <a:tblPr firstRow="1" bandRow="1"/>
              <a:tblGrid>
                <a:gridCol w="1104840">
                  <a:extLst>
                    <a:ext uri="{9D8B030D-6E8A-4147-A177-3AD203B41FA5}">
                      <a16:colId xmlns:a16="http://schemas.microsoft.com/office/drawing/2014/main" val="2069318728"/>
                    </a:ext>
                  </a:extLst>
                </a:gridCol>
                <a:gridCol w="2714040">
                  <a:extLst>
                    <a:ext uri="{9D8B030D-6E8A-4147-A177-3AD203B41FA5}">
                      <a16:colId xmlns:a16="http://schemas.microsoft.com/office/drawing/2014/main" val="2586754733"/>
                    </a:ext>
                  </a:extLst>
                </a:gridCol>
                <a:gridCol w="2503440">
                  <a:extLst>
                    <a:ext uri="{9D8B030D-6E8A-4147-A177-3AD203B41FA5}">
                      <a16:colId xmlns:a16="http://schemas.microsoft.com/office/drawing/2014/main" val="4285286909"/>
                    </a:ext>
                  </a:extLst>
                </a:gridCol>
                <a:gridCol w="2430000">
                  <a:extLst>
                    <a:ext uri="{9D8B030D-6E8A-4147-A177-3AD203B41FA5}">
                      <a16:colId xmlns:a16="http://schemas.microsoft.com/office/drawing/2014/main" val="3557554437"/>
                    </a:ext>
                  </a:extLst>
                </a:gridCol>
              </a:tblGrid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Example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Example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789560"/>
                  </a:ext>
                </a:extLst>
              </a:tr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10 &lt; 20 →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20 &lt; 10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844760"/>
                  </a:ext>
                </a:extLst>
              </a:tr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5 &gt; 2 →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2 &gt; 5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468559"/>
                  </a:ext>
                </a:extLst>
              </a:tr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Less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8 &lt;= 10 →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8 &lt;= 8 →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546587"/>
                  </a:ext>
                </a:extLst>
              </a:tr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Greater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4 &gt;= 1 →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4 &gt;= 4 →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484121"/>
                  </a:ext>
                </a:extLst>
              </a:tr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6 == 6 →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3 == 6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101473"/>
                  </a:ext>
                </a:extLst>
              </a:tr>
              <a:tr h="621158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Not equal to (different)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2 != 7 →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0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8 != 8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5617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AD156F-7AF6-473D-B2F8-DA742FDADADD}"/>
              </a:ext>
            </a:extLst>
          </p:cNvPr>
          <p:cNvSpPr txBox="1"/>
          <p:nvPr/>
        </p:nvSpPr>
        <p:spPr>
          <a:xfrm>
            <a:off x="269005" y="6093706"/>
            <a:ext cx="7694968" cy="44475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Think of it as a question to which the answer is only True or False</a:t>
            </a:r>
            <a:r>
              <a:rPr lang="en-GB" sz="24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FB139-9F78-4FB7-94C8-C73C5B78F014}"/>
              </a:ext>
            </a:extLst>
          </p:cNvPr>
          <p:cNvSpPr txBox="1"/>
          <p:nvPr/>
        </p:nvSpPr>
        <p:spPr>
          <a:xfrm>
            <a:off x="275795" y="5747386"/>
            <a:ext cx="89877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NOTE: All operators have the same priority. Relational have higher priority than logical.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A045-9960-4A02-9D49-18F153369D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2 minute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594A7-B674-4515-8ADA-717C16527C1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Create a function that returns </a:t>
            </a:r>
            <a:r>
              <a:rPr lang="en-GB">
                <a:latin typeface="Courier 10 Pitch" pitchFamily="17"/>
              </a:rPr>
              <a:t>True</a:t>
            </a:r>
            <a:r>
              <a:rPr lang="en-GB"/>
              <a:t> if a number is positive, or </a:t>
            </a:r>
            <a:r>
              <a:rPr lang="en-GB">
                <a:latin typeface="Courier 10 Pitch" pitchFamily="17"/>
              </a:rPr>
              <a:t>False</a:t>
            </a:r>
            <a:r>
              <a:rPr lang="en-GB"/>
              <a:t> otherwise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Example of usage: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is_positive(10.0)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is_positive(0)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is_positive(-5)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2F24-F0AB-4F52-AAFC-1E4DE28A4C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690572"/>
          </a:xfrm>
        </p:spPr>
        <p:txBody>
          <a:bodyPr/>
          <a:lstStyle/>
          <a:p>
            <a:pPr lvl="0"/>
            <a:r>
              <a:rPr lang="en-GB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972F0-7F65-4789-9175-8DE71EBDB6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690572"/>
            <a:ext cx="9071640" cy="4384440"/>
          </a:xfrm>
        </p:spPr>
        <p:txBody>
          <a:bodyPr/>
          <a:lstStyle/>
          <a:p>
            <a:pPr lvl="0"/>
            <a:r>
              <a:rPr lang="en-GB" sz="2800" dirty="0">
                <a:latin typeface="Courier 10 Pitch" pitchFamily="17"/>
              </a:rPr>
              <a:t>def </a:t>
            </a:r>
            <a:r>
              <a:rPr lang="en-GB" sz="2800" dirty="0" err="1">
                <a:latin typeface="Courier 10 Pitch" pitchFamily="17"/>
              </a:rPr>
              <a:t>is_positive</a:t>
            </a:r>
            <a:r>
              <a:rPr lang="en-GB" sz="2800" dirty="0">
                <a:latin typeface="Courier 10 Pitch" pitchFamily="17"/>
              </a:rPr>
              <a:t>(value):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""" (number) -&gt; bool</a:t>
            </a:r>
          </a:p>
          <a:p>
            <a:pPr lvl="0"/>
            <a:r>
              <a:rPr lang="en-GB" sz="2800" dirty="0">
                <a:latin typeface="Courier 10 Pitch" pitchFamily="17"/>
              </a:rPr>
              <a:t> 	Returns True if the value is positive, or False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otherwise</a:t>
            </a:r>
          </a:p>
          <a:p>
            <a:pPr lvl="0"/>
            <a:r>
              <a:rPr lang="en-GB" sz="2800" dirty="0">
                <a:latin typeface="Courier 10 Pitch" pitchFamily="17"/>
              </a:rPr>
              <a:t>	&gt;&gt;&gt; </a:t>
            </a:r>
            <a:r>
              <a:rPr lang="en-GB" sz="2800" dirty="0" err="1">
                <a:latin typeface="Courier 10 Pitch" pitchFamily="17"/>
              </a:rPr>
              <a:t>is_positive</a:t>
            </a:r>
            <a:r>
              <a:rPr lang="en-GB" sz="2800" dirty="0">
                <a:latin typeface="Courier 10 Pitch" pitchFamily="17"/>
              </a:rPr>
              <a:t>(10.0)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True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&gt;&gt;&gt; </a:t>
            </a:r>
            <a:r>
              <a:rPr lang="en-GB" sz="2800" dirty="0" err="1">
                <a:latin typeface="Courier 10 Pitch" pitchFamily="17"/>
              </a:rPr>
              <a:t>is_positive</a:t>
            </a:r>
            <a:r>
              <a:rPr lang="en-GB" sz="2800" dirty="0">
                <a:latin typeface="Courier 10 Pitch" pitchFamily="17"/>
              </a:rPr>
              <a:t>(0)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False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&gt;&gt;&gt; </a:t>
            </a:r>
            <a:r>
              <a:rPr lang="en-GB" sz="2800" dirty="0" err="1">
                <a:latin typeface="Courier 10 Pitch" pitchFamily="17"/>
              </a:rPr>
              <a:t>is_positive</a:t>
            </a:r>
            <a:r>
              <a:rPr lang="en-GB" sz="2800" dirty="0">
                <a:latin typeface="Courier 10 Pitch" pitchFamily="17"/>
              </a:rPr>
              <a:t>(-5)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False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"""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return value &gt;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4BA2-E9C7-4110-807C-BEDD93C19D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675073"/>
          </a:xfrm>
        </p:spPr>
        <p:txBody>
          <a:bodyPr/>
          <a:lstStyle/>
          <a:p>
            <a:pPr lvl="0"/>
            <a:r>
              <a:rPr lang="en-GB" dirty="0"/>
              <a:t>“Combining” Comparisons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62AC4-CA74-4F16-AD73-E228FFA193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839141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As the result of relational operators are </a:t>
            </a:r>
            <a:r>
              <a:rPr lang="en-GB" sz="2400" dirty="0" err="1"/>
              <a:t>booleans</a:t>
            </a:r>
            <a:r>
              <a:rPr lang="en-GB" sz="2400" dirty="0"/>
              <a:t>, they can be used in logical operations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For 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= 10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b = 20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 = 30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&gt; b and a &gt; c		# is a the greatest?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 &gt; a and b &gt; c		# is b the greatest?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c &gt; a and c &gt; b		# is c the greatest?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D972-E2A2-4C59-AC7D-3B967FF866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5099" y="354081"/>
            <a:ext cx="9071640" cy="553998"/>
          </a:xfrm>
        </p:spPr>
        <p:txBody>
          <a:bodyPr>
            <a:spAutoFit/>
          </a:bodyPr>
          <a:lstStyle/>
          <a:p>
            <a:pPr lvl="0"/>
            <a:r>
              <a:rPr lang="en-GB" sz="3600" dirty="0"/>
              <a:t>What would the results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5E910-1DAB-4F67-A9DE-23F4FD37D5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5677" y="1068645"/>
            <a:ext cx="4426920" cy="4384440"/>
          </a:xfrm>
        </p:spPr>
        <p:txBody>
          <a:bodyPr/>
          <a:lstStyle/>
          <a:p>
            <a:pPr lvl="0"/>
            <a:r>
              <a:rPr lang="en-GB" sz="2800" b="1" dirty="0">
                <a:latin typeface="Courier 10 Pitch" pitchFamily="17"/>
              </a:rPr>
              <a:t>&gt;&gt;&gt; a = 10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&gt;&gt;&gt; b = 20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a &lt; a + b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a &lt; 10 or a &lt;= 5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a &lt; 10 or a == 10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(a &lt;= 10) == True</a:t>
            </a:r>
            <a:br>
              <a:rPr lang="en-GB" dirty="0">
                <a:latin typeface="Courier 10 Pitch" pitchFamily="17"/>
              </a:rPr>
            </a:br>
            <a:endParaRPr lang="en-GB" dirty="0">
              <a:latin typeface="Courier 10 Pitch" pitchFamily="17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2EF1D36-125E-4260-8F61-31117CB12C0C}"/>
              </a:ext>
            </a:extLst>
          </p:cNvPr>
          <p:cNvSpPr/>
          <p:nvPr/>
        </p:nvSpPr>
        <p:spPr>
          <a:xfrm>
            <a:off x="10348230" y="4913085"/>
            <a:ext cx="1692000" cy="108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Priorities: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1</a:t>
            </a:r>
            <a:r>
              <a:rPr lang="en-GB" sz="1800" b="0" i="0" u="none" strike="noStrike" kern="1200" cap="none" baseline="3000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st</a:t>
            </a: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– Arithmetic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2</a:t>
            </a:r>
            <a:r>
              <a:rPr lang="en-GB" sz="1800" b="0" i="0" u="none" strike="noStrike" kern="1200" cap="none" baseline="3000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nd</a:t>
            </a: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– Relational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3</a:t>
            </a:r>
            <a:r>
              <a:rPr lang="en-GB" sz="1800" b="0" i="0" u="none" strike="noStrike" kern="1200" cap="none" baseline="3000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rd</a:t>
            </a: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– Logic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91E17-8CC9-41AE-B2B2-364830C0B2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49079" y="908079"/>
            <a:ext cx="4426920" cy="4384440"/>
          </a:xfrm>
        </p:spPr>
        <p:txBody>
          <a:bodyPr/>
          <a:lstStyle/>
          <a:p>
            <a:pPr lvl="0"/>
            <a:r>
              <a:rPr lang="en-GB" sz="2800" b="1" dirty="0">
                <a:latin typeface="Courier 10 Pitch" pitchFamily="17"/>
              </a:rPr>
              <a:t>&gt;&gt;&gt; a &gt; 5 and b &gt; 10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a == 25 and b &lt;= 20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a != 5 and b != 50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not a &lt; 5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  <a:p>
            <a:pPr lvl="0"/>
            <a:r>
              <a:rPr lang="en-GB" sz="2800" b="1" dirty="0">
                <a:latin typeface="Courier 10 Pitch" pitchFamily="17"/>
              </a:rPr>
              <a:t>&gt;&gt;&gt; b &gt;= 20 and not b &lt; 10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00B1-3A58-48B8-AD8A-8BDE21AEB4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520090"/>
          </a:xfrm>
        </p:spPr>
        <p:txBody>
          <a:bodyPr/>
          <a:lstStyle/>
          <a:p>
            <a:pPr lvl="0"/>
            <a:r>
              <a:rPr lang="en-GB" dirty="0"/>
              <a:t>Ranges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8979-4516-4579-8758-6D31E81985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803825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In maths, to say that </a:t>
            </a:r>
            <a:r>
              <a:rPr lang="en-GB" sz="2400" dirty="0">
                <a:latin typeface="Courier 10 Pitch" pitchFamily="17"/>
              </a:rPr>
              <a:t>b</a:t>
            </a:r>
            <a:r>
              <a:rPr lang="en-GB" sz="2400" dirty="0"/>
              <a:t> lies between </a:t>
            </a:r>
            <a:r>
              <a:rPr lang="en-GB" sz="2400" dirty="0">
                <a:latin typeface="Courier 10 Pitch" pitchFamily="17"/>
              </a:rPr>
              <a:t>a</a:t>
            </a:r>
            <a:r>
              <a:rPr lang="en-GB" sz="2400" dirty="0"/>
              <a:t> and </a:t>
            </a:r>
            <a:r>
              <a:rPr lang="en-GB" sz="2400" dirty="0">
                <a:latin typeface="Courier 10 Pitch" pitchFamily="17"/>
              </a:rPr>
              <a:t>c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&lt; b &lt; c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In most programming languages: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b &gt; a and b &lt; c	# another way: a &lt; b and b &lt; c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Python allows both approaches: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= 10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 = 13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c = 20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&lt; b &lt; c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 &gt; a and b &lt; c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EA3136F-8CE8-46C6-8A05-D1FFE7B59EDE}"/>
              </a:ext>
            </a:extLst>
          </p:cNvPr>
          <p:cNvSpPr/>
          <p:nvPr/>
        </p:nvSpPr>
        <p:spPr>
          <a:xfrm>
            <a:off x="5040312" y="4540265"/>
            <a:ext cx="4849871" cy="648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1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I recommend the usage that is common</a:t>
            </a:r>
            <a:br>
              <a:rPr lang="en-GB" sz="2000" b="1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2000" b="1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to most of the programming languages</a:t>
            </a: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F255-2A70-43AA-B3CE-7B6511BBC8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3ABD4-350B-4DD9-B7DA-4BEDB0AD3D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256976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What would this mean?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= 0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10 &gt; a != False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It would expand to: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10 &gt; a and a != False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Which is not the same as: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(10 &gt; a) != False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See my point? Use the expanded version!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3A15-451B-4D6E-9299-26E0CCD3FC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768063"/>
          </a:xfrm>
        </p:spPr>
        <p:txBody>
          <a:bodyPr/>
          <a:lstStyle/>
          <a:p>
            <a:pPr lvl="0"/>
            <a:r>
              <a:rPr lang="en-GB" dirty="0"/>
              <a:t>Technical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030E5-FF2C-4AD3-ADF9-778CE58199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768063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Python allows the use of numbers as </a:t>
            </a:r>
            <a:r>
              <a:rPr lang="en-GB" sz="2400" dirty="0" err="1"/>
              <a:t>boolean</a:t>
            </a:r>
            <a:r>
              <a:rPr lang="en-GB" sz="2400" dirty="0"/>
              <a:t> operands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It treats 0 and 0.0 as </a:t>
            </a:r>
            <a:r>
              <a:rPr lang="en-GB" sz="2400" dirty="0">
                <a:latin typeface="Courier 10 Pitch" pitchFamily="17"/>
              </a:rPr>
              <a:t>False</a:t>
            </a:r>
            <a:r>
              <a:rPr lang="en-GB" sz="2400" dirty="0"/>
              <a:t>, and any other number as </a:t>
            </a:r>
            <a:r>
              <a:rPr lang="en-GB" sz="2400" dirty="0">
                <a:latin typeface="Courier 10 Pitch" pitchFamily="17"/>
              </a:rPr>
              <a:t>True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not 0</a:t>
            </a:r>
            <a:b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not -1.5</a:t>
            </a:r>
            <a:b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It treats the empty string as </a:t>
            </a:r>
            <a:r>
              <a:rPr lang="en-GB" sz="2400" dirty="0">
                <a:latin typeface="Courier 10 Pitch" pitchFamily="17"/>
              </a:rPr>
              <a:t>False</a:t>
            </a:r>
            <a:r>
              <a:rPr lang="en-GB" sz="2400" dirty="0"/>
              <a:t> and any other string as </a:t>
            </a:r>
            <a:r>
              <a:rPr lang="en-GB" sz="2400" dirty="0">
                <a:latin typeface="Courier 10 Pitch" pitchFamily="17"/>
              </a:rPr>
              <a:t>True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not ''</a:t>
            </a:r>
            <a:b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not 'Hello'</a:t>
            </a:r>
            <a:b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0DFAD7B-8316-402A-9C88-8FE39BA447EA}"/>
              </a:ext>
            </a:extLst>
          </p:cNvPr>
          <p:cNvSpPr/>
          <p:nvPr/>
        </p:nvSpPr>
        <p:spPr>
          <a:xfrm rot="19461947">
            <a:off x="6272044" y="4378004"/>
            <a:ext cx="2638861" cy="12193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400" b="1" i="0" u="sng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None</a:t>
            </a:r>
            <a:r>
              <a:rPr lang="en-GB" sz="2400" b="1" i="0" u="sng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is also</a:t>
            </a:r>
            <a:br>
              <a:rPr lang="en-GB" sz="2400" b="1" i="0" u="sng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2400" b="1" i="0" u="sng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seen as </a:t>
            </a:r>
            <a:r>
              <a:rPr lang="en-GB" sz="2400" b="1" i="0" u="sng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False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284F43-4192-4489-B2F1-DF2E2D105440}"/>
              </a:ext>
            </a:extLst>
          </p:cNvPr>
          <p:cNvSpPr/>
          <p:nvPr/>
        </p:nvSpPr>
        <p:spPr>
          <a:xfrm>
            <a:off x="0" y="185980"/>
            <a:ext cx="100806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SzPct val="45000"/>
              <a:buFont typeface="StarSymbol"/>
              <a:buChar char="●"/>
            </a:pPr>
            <a:r>
              <a:rPr lang="en-GB" sz="5400" b="1" dirty="0">
                <a:solidFill>
                  <a:srgbClr val="FF0000"/>
                </a:solidFill>
              </a:rPr>
              <a:t>If it confuses you, just ignore it, since </a:t>
            </a:r>
            <a:r>
              <a:rPr lang="en-GB" sz="5400" b="1" dirty="0" err="1">
                <a:solidFill>
                  <a:srgbClr val="FF0000"/>
                </a:solidFill>
              </a:rPr>
              <a:t>boolean</a:t>
            </a:r>
            <a:r>
              <a:rPr lang="en-GB" sz="5400" b="1" dirty="0">
                <a:solidFill>
                  <a:srgbClr val="FF0000"/>
                </a:solidFill>
              </a:rPr>
              <a:t> operators should only be used with </a:t>
            </a:r>
            <a:r>
              <a:rPr lang="en-GB" sz="5400" b="1" dirty="0" err="1">
                <a:solidFill>
                  <a:srgbClr val="FF0000"/>
                </a:solidFill>
              </a:rPr>
              <a:t>boolean</a:t>
            </a:r>
            <a:r>
              <a:rPr lang="en-GB" sz="5400" b="1" dirty="0">
                <a:solidFill>
                  <a:srgbClr val="FF0000"/>
                </a:solidFill>
              </a:rPr>
              <a:t> operands</a:t>
            </a:r>
          </a:p>
        </p:txBody>
      </p:sp>
    </p:spTree>
    <p:extLst>
      <p:ext uri="{BB962C8B-B14F-4D97-AF65-F5344CB8AC3E}">
        <p14:creationId xmlns:p14="http://schemas.microsoft.com/office/powerpoint/2010/main" val="3813482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6A4D-E18B-4345-B424-6858B55164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Technical Note (2)</a:t>
            </a:r>
            <a:br>
              <a:rPr lang="en-GB"/>
            </a:br>
            <a:r>
              <a:rPr lang="en-GB"/>
              <a:t>Conversions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DAD04-68CD-4BF5-AE13-DD2423DD31B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42692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Converting Booleans to ...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int(False)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0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int(True)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float(True)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1.0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str(True)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‘True’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str(False)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‘False’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FE298-821B-4E96-9FBC-314B1F3A83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769040"/>
            <a:ext cx="442692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Converting to Boolean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bool(0)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bool(1.0)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bool(14)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bool(‘Hi’)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bool(‘’)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endParaRPr lang="en-GB" sz="28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12C35BA-1DD5-478F-9041-6AB4F8263BB1}"/>
              </a:ext>
            </a:extLst>
          </p:cNvPr>
          <p:cNvSpPr/>
          <p:nvPr/>
        </p:nvSpPr>
        <p:spPr>
          <a:xfrm>
            <a:off x="5266007" y="7059095"/>
            <a:ext cx="4608000" cy="3985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What would </a:t>
            </a:r>
            <a:r>
              <a:rPr lang="en-GB" sz="2000" b="0" i="0" u="none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bool(‘False’)</a:t>
            </a:r>
            <a:r>
              <a:rPr lang="en-GB" sz="20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produce?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FBB0-3315-4C48-B44E-3674B9504C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9071640" cy="551087"/>
          </a:xfrm>
        </p:spPr>
        <p:txBody>
          <a:bodyPr/>
          <a:lstStyle/>
          <a:p>
            <a:pPr lvl="0"/>
            <a:r>
              <a:rPr lang="en-GB" dirty="0"/>
              <a:t>Short-Circuit Evaluation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3FC0-BB74-45B7-A2F8-0E26F54495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15679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Python only evaluates a logical expression if it needs too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Example for </a:t>
            </a:r>
            <a:r>
              <a:rPr lang="en-GB" sz="2800" dirty="0">
                <a:latin typeface="Courier 10 Pitch" pitchFamily="17"/>
              </a:rPr>
              <a:t>and</a:t>
            </a:r>
            <a:r>
              <a:rPr lang="en-GB" sz="2800" dirty="0"/>
              <a:t>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= 10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&gt; 20 and (2 + 5 &gt; a or a == a)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Since 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&gt; 20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is 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it does not matter what comes after, therefore, the expression is immediately 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Is this the same?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&gt; 20 and 2 + 5 &gt; a or a == 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1C262A-CD74-4DD1-84EC-C66691F50999}"/>
              </a:ext>
            </a:extLst>
          </p:cNvPr>
          <p:cNvSpPr/>
          <p:nvPr/>
        </p:nvSpPr>
        <p:spPr>
          <a:xfrm>
            <a:off x="0" y="170482"/>
            <a:ext cx="10080625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Example for </a:t>
            </a:r>
            <a:r>
              <a:rPr lang="en-GB" dirty="0">
                <a:latin typeface="Courier 10 Pitch" pitchFamily="17"/>
              </a:rPr>
              <a:t>or</a:t>
            </a:r>
            <a:r>
              <a:rPr lang="en-GB" dirty="0"/>
              <a:t>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&lt; 20 or (2 + 5 &gt; a or a == a)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Since 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&lt; 20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is 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it does not matter what comes after, therefore, the expression is immediately 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15145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1257-D293-4AD3-8186-DFE3E23801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179127"/>
            <a:ext cx="9071640" cy="1262160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String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F3363-0E0F-4695-8549-14BB7F9443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947630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Strings can be compared in the same way we compare numbers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comparison respects the lexicographic order except for one detail: Uppercase letters come before lowercase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'a' &lt; 'b'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'a' &lt; 'A'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'António' == '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antónio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'António' &lt; '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antónio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  <a:p>
            <a:pPr lvl="1" hangingPunct="0">
              <a:spcBef>
                <a:spcPts val="1417"/>
              </a:spcBef>
              <a:buNone/>
            </a:pPr>
            <a:endParaRPr lang="en-GB" sz="3200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07FD-0FB8-4F57-A26C-9BECDA9FFC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Technical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F3F4-EFB3-4F65-8581-8C7C0FCDF9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2000" cy="20912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In reality, each character in a string  corresponds to a number in the ASCII table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To see to which number a given character correspond, and vice-versa:</a:t>
            </a:r>
          </a:p>
          <a:p>
            <a:pPr lvl="1" hangingPunct="0">
              <a:spcBef>
                <a:spcPts val="1417"/>
              </a:spcBef>
              <a:buNone/>
            </a:pPr>
            <a:endParaRPr lang="en-GB" sz="320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371A7-E254-438E-90DD-D7D7F2C280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4059360"/>
            <a:ext cx="4426920" cy="2091240"/>
          </a:xfrm>
        </p:spPr>
        <p:txBody>
          <a:bodyPr/>
          <a:lstStyle/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chr(65)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'A'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chr(66)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'B'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chr(97)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'a'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D1A46-6D7A-4A37-AB32-E839C1E607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4059360"/>
            <a:ext cx="4426920" cy="2091240"/>
          </a:xfrm>
        </p:spPr>
        <p:txBody>
          <a:bodyPr/>
          <a:lstStyle/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ord('A')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65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ord('B')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66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ord('a')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97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620A-76D3-431A-8E73-7AF6EDC034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132633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Are you </a:t>
            </a:r>
            <a:r>
              <a:rPr lang="en-GB" dirty="0">
                <a:latin typeface="Courier 10 Pitch" pitchFamily="17"/>
              </a:rPr>
              <a:t>in</a:t>
            </a:r>
            <a:r>
              <a:rPr lang="en-GB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6C475-044B-46D0-86B4-EECCB76A3F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979560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Python also allows to ask if one string is present in another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Examples: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 in 'António'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'ant' in 'António'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'x' in 'António'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False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'' in 'António'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True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478560-A7A8-4F59-A1EC-487FE3190CCD}"/>
              </a:ext>
            </a:extLst>
          </p:cNvPr>
          <p:cNvSpPr/>
          <p:nvPr/>
        </p:nvSpPr>
        <p:spPr>
          <a:xfrm>
            <a:off x="7056000" y="4896000"/>
            <a:ext cx="2304000" cy="936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The empty string is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always a substring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of every string.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A8BB-E533-4829-82C0-5BA009E0D1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0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Choosing which way to 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BB660-B6A5-4B67-9434-F7AB38DF4D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2487" y="1102613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Depending on the state of variables (we know how to check it), we might want to take different actions in our program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</a:t>
            </a:r>
            <a:r>
              <a:rPr lang="en-GB" sz="2800" dirty="0">
                <a:latin typeface="Courier 10 Pitch" pitchFamily="17"/>
              </a:rPr>
              <a:t>if</a:t>
            </a:r>
            <a:r>
              <a:rPr lang="en-GB" sz="2800" dirty="0"/>
              <a:t> statement allows that. It has the following syntax: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if </a:t>
            </a:r>
            <a:r>
              <a:rPr lang="en-GB" sz="2800" i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condition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: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do_stuff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condition must be something that evaluates to </a:t>
            </a:r>
            <a:r>
              <a:rPr lang="en-GB" sz="2800" dirty="0">
                <a:latin typeface="Courier 10 Pitch" pitchFamily="17"/>
              </a:rPr>
              <a:t>True</a:t>
            </a:r>
            <a:r>
              <a:rPr lang="en-GB" sz="2800" dirty="0"/>
              <a:t> or </a:t>
            </a:r>
            <a:r>
              <a:rPr lang="en-GB" sz="2800" dirty="0">
                <a:latin typeface="Courier 10 Pitch" pitchFamily="17"/>
              </a:rPr>
              <a:t>False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If the condition evaluates to </a:t>
            </a:r>
            <a:r>
              <a:rPr lang="en-GB" sz="2800" dirty="0">
                <a:latin typeface="Courier 10 Pitch" pitchFamily="17"/>
              </a:rPr>
              <a:t>True</a:t>
            </a:r>
            <a:r>
              <a:rPr lang="en-GB" sz="2800" dirty="0"/>
              <a:t> the block of code (</a:t>
            </a:r>
            <a:r>
              <a:rPr lang="en-GB" sz="2800" dirty="0" err="1">
                <a:latin typeface="Courier 10 Pitch" pitchFamily="17"/>
              </a:rPr>
              <a:t>do_stuff</a:t>
            </a:r>
            <a:r>
              <a:rPr lang="en-GB" sz="2800" dirty="0"/>
              <a:t>, in this case) will be executed, otherwise it will just move 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C503-0DE9-4F4B-8519-4CFE19A572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210124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What’s the output?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2418A-2AA4-4216-B52B-C75BCA0BDD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839141"/>
            <a:ext cx="9071640" cy="4384440"/>
          </a:xfrm>
        </p:spPr>
        <p:txBody>
          <a:bodyPr/>
          <a:lstStyle/>
          <a:p>
            <a:pPr lvl="0"/>
            <a:r>
              <a:rPr lang="en-GB" sz="2800" dirty="0">
                <a:latin typeface="Courier 10 Pitch" pitchFamily="17"/>
              </a:rPr>
              <a:t>a = 10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name = 'António'</a:t>
            </a:r>
          </a:p>
          <a:p>
            <a:pPr lvl="0"/>
            <a:r>
              <a:rPr lang="en-GB" sz="2800" dirty="0">
                <a:latin typeface="Courier 10 Pitch" pitchFamily="17"/>
              </a:rPr>
              <a:t>if a == 10: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print('a is equal to 10')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print('Hurray!!!')</a:t>
            </a:r>
          </a:p>
          <a:p>
            <a:pPr lvl="0"/>
            <a:r>
              <a:rPr lang="en-GB" sz="2800" dirty="0">
                <a:latin typeface="Courier 10 Pitch" pitchFamily="17"/>
              </a:rPr>
              <a:t>if 'x' in name: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print('x was found in', name)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print('Nice!')</a:t>
            </a:r>
          </a:p>
          <a:p>
            <a:pPr lvl="0"/>
            <a:r>
              <a:rPr lang="en-GB" sz="2800" dirty="0">
                <a:latin typeface="Courier 10 Pitch" pitchFamily="17"/>
              </a:rPr>
              <a:t>if a &gt;= 10 and 'n' in name: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print('Both conditions were met')</a:t>
            </a:r>
          </a:p>
          <a:p>
            <a:pPr lvl="0"/>
            <a:r>
              <a:rPr lang="en-GB" sz="2800" dirty="0">
                <a:latin typeface="Courier 10 Pitch" pitchFamily="17"/>
              </a:rPr>
              <a:t>if name == 'António':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print('His name is António')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A7DE4-1A51-49EB-98E4-25A8F9F353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169380"/>
            <a:ext cx="9071640" cy="1262160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1 minute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D17BB-D340-4358-A547-BF66D7EF41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747000"/>
            <a:ext cx="9071640" cy="20912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At a given university, grades are assigned in the following way: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E96CF301-CFFC-428E-920A-A19E7A67BD7E}"/>
              </a:ext>
            </a:extLst>
          </p:cNvPr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115899385"/>
              </p:ext>
            </p:extLst>
          </p:nvPr>
        </p:nvGraphicFramePr>
        <p:xfrm>
          <a:off x="247973" y="1887874"/>
          <a:ext cx="9327666" cy="2286000"/>
        </p:xfrm>
        <a:graphic>
          <a:graphicData uri="http://schemas.openxmlformats.org/drawingml/2006/table">
            <a:tbl>
              <a:tblPr firstRow="1" bandRow="1"/>
              <a:tblGrid>
                <a:gridCol w="4663833">
                  <a:extLst>
                    <a:ext uri="{9D8B030D-6E8A-4147-A177-3AD203B41FA5}">
                      <a16:colId xmlns:a16="http://schemas.microsoft.com/office/drawing/2014/main" val="758888984"/>
                    </a:ext>
                  </a:extLst>
                </a:gridCol>
                <a:gridCol w="4663833">
                  <a:extLst>
                    <a:ext uri="{9D8B030D-6E8A-4147-A177-3AD203B41FA5}">
                      <a16:colId xmlns:a16="http://schemas.microsoft.com/office/drawing/2014/main" val="4073493516"/>
                    </a:ext>
                  </a:extLst>
                </a:gridCol>
              </a:tblGrid>
              <a:tr h="337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1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1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554215"/>
                  </a:ext>
                </a:extLst>
              </a:tr>
              <a:tr h="337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25839"/>
                  </a:ext>
                </a:extLst>
              </a:tr>
              <a:tr h="337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50-59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3</a:t>
                      </a:r>
                      <a:r>
                        <a:rPr lang="en-GB" sz="2400" b="0" i="0" u="none" strike="noStrike" kern="1200" cap="none" baseline="300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692596"/>
                  </a:ext>
                </a:extLst>
              </a:tr>
              <a:tr h="337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60-69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2</a:t>
                      </a:r>
                      <a:r>
                        <a:rPr lang="en-GB" sz="2400" b="0" i="0" u="none" strike="noStrike" kern="1200" cap="none" baseline="300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70232"/>
                  </a:ext>
                </a:extLst>
              </a:tr>
              <a:tr h="3373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70-100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24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1</a:t>
                      </a:r>
                      <a:r>
                        <a:rPr lang="en-GB" sz="2400" b="0" i="0" u="none" strike="noStrike" kern="1200" cap="none" baseline="300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48479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240E7-30E8-415F-9764-EA556786F8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4173874"/>
            <a:ext cx="9071640" cy="208260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000" dirty="0"/>
              <a:t>Write a program that requests a range value from the user and, if it’s a Fail, prints the value and corresponding grade. Example of execution: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000" b="1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check_grade</a:t>
            </a: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()</a:t>
            </a:r>
            <a:b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Input the range value: 50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000" b="1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check_grade</a:t>
            </a: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()</a:t>
            </a:r>
            <a:b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Input the range value: 10</a:t>
            </a:r>
            <a:b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10: Fail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CF7F-6A92-493E-85C0-801586DE98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D596-10B3-4BE4-82D8-0D9847C2E0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br>
              <a:rPr lang="en-GB" b="1" dirty="0">
                <a:latin typeface="Courier 10 Pitch" pitchFamily="17"/>
              </a:rPr>
            </a:br>
            <a:r>
              <a:rPr lang="en-GB" b="1" dirty="0">
                <a:latin typeface="Courier 10 Pitch" pitchFamily="17"/>
              </a:rPr>
              <a:t>	</a:t>
            </a:r>
            <a:r>
              <a:rPr lang="en-GB" sz="2800" b="1" dirty="0">
                <a:latin typeface="Courier 10 Pitch" pitchFamily="17"/>
              </a:rPr>
              <a:t>if </a:t>
            </a:r>
            <a:r>
              <a:rPr lang="en-GB" sz="2800" b="1" dirty="0" err="1">
                <a:latin typeface="Courier 10 Pitch" pitchFamily="17"/>
              </a:rPr>
              <a:t>range_value</a:t>
            </a:r>
            <a:r>
              <a:rPr lang="en-GB" sz="2800" b="1" dirty="0">
                <a:latin typeface="Courier 10 Pitch" pitchFamily="17"/>
              </a:rPr>
              <a:t> &lt;= 49:</a:t>
            </a:r>
            <a:br>
              <a:rPr lang="en-GB" sz="2800" b="1" dirty="0">
                <a:latin typeface="Courier 10 Pitch" pitchFamily="17"/>
              </a:rPr>
            </a:br>
            <a:r>
              <a:rPr lang="en-GB" sz="2800" b="1" dirty="0">
                <a:latin typeface="Courier 10 Pitch" pitchFamily="17"/>
              </a:rPr>
              <a:t>		print(</a:t>
            </a:r>
            <a:r>
              <a:rPr lang="en-GB" sz="2800" b="1" dirty="0" err="1">
                <a:latin typeface="Courier 10 Pitch" pitchFamily="17"/>
              </a:rPr>
              <a:t>str</a:t>
            </a:r>
            <a:r>
              <a:rPr lang="en-GB" sz="2800" b="1" dirty="0">
                <a:latin typeface="Courier 10 Pitch" pitchFamily="17"/>
              </a:rPr>
              <a:t>(</a:t>
            </a:r>
            <a:r>
              <a:rPr lang="en-GB" sz="2800" b="1" dirty="0" err="1">
                <a:latin typeface="Courier 10 Pitch" pitchFamily="17"/>
              </a:rPr>
              <a:t>range_value</a:t>
            </a:r>
            <a:r>
              <a:rPr lang="en-GB" sz="2800" b="1" dirty="0">
                <a:latin typeface="Courier 10 Pitch" pitchFamily="17"/>
              </a:rPr>
              <a:t>) + ': Fail')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38C3C-814A-4738-9D98-74B89C797A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0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solidFill>
                  <a:srgbClr val="FF0000"/>
                </a:solidFill>
              </a:rPr>
              <a:t>Modifying the code so that it shows the other grades:</a:t>
            </a:r>
          </a:p>
          <a:p>
            <a:pPr lvl="0"/>
            <a:r>
              <a:rPr lang="en-GB" sz="2400" b="1" dirty="0">
                <a:latin typeface="Courier 10 Pitch" pitchFamily="17"/>
              </a:rPr>
              <a:t>def </a:t>
            </a:r>
            <a:r>
              <a:rPr lang="en-GB" sz="2400" b="1" dirty="0" err="1">
                <a:latin typeface="Courier 10 Pitch" pitchFamily="17"/>
              </a:rPr>
              <a:t>check_grade</a:t>
            </a:r>
            <a:r>
              <a:rPr lang="en-GB" sz="2400" b="1" dirty="0">
                <a:latin typeface="Courier 10 Pitch" pitchFamily="17"/>
              </a:rPr>
              <a:t>():</a:t>
            </a:r>
            <a:br>
              <a:rPr lang="en-GB" sz="2400" b="1" dirty="0">
                <a:latin typeface="Courier 10 Pitch" pitchFamily="17"/>
              </a:rPr>
            </a:br>
            <a:r>
              <a:rPr lang="en-GB" sz="2400" b="1" dirty="0">
                <a:latin typeface="Courier 10 Pitch" pitchFamily="17"/>
              </a:rPr>
              <a:t>	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 = </a:t>
            </a:r>
            <a:r>
              <a:rPr lang="en-GB" sz="2400" b="1" dirty="0" err="1">
                <a:latin typeface="Courier 10 Pitch" pitchFamily="17"/>
              </a:rPr>
              <a:t>int</a:t>
            </a:r>
            <a:r>
              <a:rPr lang="en-GB" sz="2400" b="1" dirty="0">
                <a:latin typeface="Courier 10 Pitch" pitchFamily="17"/>
              </a:rPr>
              <a:t>(input('Input the range value: ‘))</a:t>
            </a:r>
          </a:p>
          <a:p>
            <a:pPr lvl="0"/>
            <a:r>
              <a:rPr lang="en-GB" sz="2400" b="1" dirty="0">
                <a:latin typeface="Courier 10 Pitch" pitchFamily="17"/>
              </a:rPr>
              <a:t>	if 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 &lt;= 49:</a:t>
            </a:r>
            <a:br>
              <a:rPr lang="en-GB" sz="2400" b="1" dirty="0">
                <a:latin typeface="Courier 10 Pitch" pitchFamily="17"/>
              </a:rPr>
            </a:br>
            <a:r>
              <a:rPr lang="en-GB" sz="2400" b="1" dirty="0">
                <a:latin typeface="Courier 10 Pitch" pitchFamily="17"/>
              </a:rPr>
              <a:t>		 	print(</a:t>
            </a:r>
            <a:r>
              <a:rPr lang="en-GB" sz="2400" b="1" dirty="0" err="1">
                <a:latin typeface="Courier 10 Pitch" pitchFamily="17"/>
              </a:rPr>
              <a:t>str</a:t>
            </a:r>
            <a:r>
              <a:rPr lang="en-GB" sz="2400" b="1" dirty="0">
                <a:latin typeface="Courier 10 Pitch" pitchFamily="17"/>
              </a:rPr>
              <a:t>(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) + ': Fail')</a:t>
            </a:r>
          </a:p>
          <a:p>
            <a:pPr lvl="0"/>
            <a:r>
              <a:rPr lang="en-GB" sz="2400" b="1" dirty="0">
                <a:latin typeface="Courier 10 Pitch" pitchFamily="17"/>
              </a:rPr>
              <a:t> 	if 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 &lt;= 59:</a:t>
            </a:r>
            <a:br>
              <a:rPr lang="en-GB" sz="2400" b="1" dirty="0">
                <a:latin typeface="Courier 10 Pitch" pitchFamily="17"/>
              </a:rPr>
            </a:br>
            <a:r>
              <a:rPr lang="en-GB" sz="2400" b="1" dirty="0">
                <a:latin typeface="Courier 10 Pitch" pitchFamily="17"/>
              </a:rPr>
              <a:t>	 	print(</a:t>
            </a:r>
            <a:r>
              <a:rPr lang="en-GB" sz="2400" b="1" dirty="0" err="1">
                <a:latin typeface="Courier 10 Pitch" pitchFamily="17"/>
              </a:rPr>
              <a:t>str</a:t>
            </a:r>
            <a:r>
              <a:rPr lang="en-GB" sz="2400" b="1" dirty="0">
                <a:latin typeface="Courier 10 Pitch" pitchFamily="17"/>
              </a:rPr>
              <a:t>(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) + ': Third')</a:t>
            </a:r>
          </a:p>
          <a:p>
            <a:pPr lvl="0"/>
            <a:r>
              <a:rPr lang="en-GB" sz="2400" b="1" dirty="0">
                <a:latin typeface="Courier 10 Pitch" pitchFamily="17"/>
              </a:rPr>
              <a:t> 	if 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 &lt;= 69:</a:t>
            </a:r>
            <a:br>
              <a:rPr lang="en-GB" sz="2400" b="1" dirty="0">
                <a:latin typeface="Courier 10 Pitch" pitchFamily="17"/>
              </a:rPr>
            </a:br>
            <a:r>
              <a:rPr lang="en-GB" sz="2400" b="1" dirty="0">
                <a:latin typeface="Courier 10 Pitch" pitchFamily="17"/>
              </a:rPr>
              <a:t>	 	print(</a:t>
            </a:r>
            <a:r>
              <a:rPr lang="en-GB" sz="2400" b="1" dirty="0" err="1">
                <a:latin typeface="Courier 10 Pitch" pitchFamily="17"/>
              </a:rPr>
              <a:t>str</a:t>
            </a:r>
            <a:r>
              <a:rPr lang="en-GB" sz="2400" b="1" dirty="0">
                <a:latin typeface="Courier 10 Pitch" pitchFamily="17"/>
              </a:rPr>
              <a:t>(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) + ': Second')</a:t>
            </a:r>
          </a:p>
          <a:p>
            <a:pPr lvl="0"/>
            <a:r>
              <a:rPr lang="en-GB" sz="2400" b="1" dirty="0">
                <a:latin typeface="Courier 10 Pitch" pitchFamily="17"/>
              </a:rPr>
              <a:t> 	if 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 &lt;= 100:</a:t>
            </a:r>
            <a:br>
              <a:rPr lang="en-GB" sz="2400" b="1" dirty="0">
                <a:latin typeface="Courier 10 Pitch" pitchFamily="17"/>
              </a:rPr>
            </a:br>
            <a:r>
              <a:rPr lang="en-GB" sz="2400" b="1" dirty="0">
                <a:latin typeface="Courier 10 Pitch" pitchFamily="17"/>
              </a:rPr>
              <a:t>	 	print(</a:t>
            </a:r>
            <a:r>
              <a:rPr lang="en-GB" sz="2400" b="1" dirty="0" err="1">
                <a:latin typeface="Courier 10 Pitch" pitchFamily="17"/>
              </a:rPr>
              <a:t>str</a:t>
            </a:r>
            <a:r>
              <a:rPr lang="en-GB" sz="2400" b="1" dirty="0">
                <a:latin typeface="Courier 10 Pitch" pitchFamily="17"/>
              </a:rPr>
              <a:t>(</a:t>
            </a:r>
            <a:r>
              <a:rPr lang="en-GB" sz="2400" b="1" dirty="0" err="1">
                <a:latin typeface="Courier 10 Pitch" pitchFamily="17"/>
              </a:rPr>
              <a:t>range_value</a:t>
            </a:r>
            <a:r>
              <a:rPr lang="en-GB" sz="2400" b="1" dirty="0">
                <a:latin typeface="Courier 10 Pitch" pitchFamily="17"/>
              </a:rPr>
              <a:t>) + ': First')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DBA9302-BE1E-41BD-B15B-2F6E0F3ECB7F}"/>
              </a:ext>
            </a:extLst>
          </p:cNvPr>
          <p:cNvSpPr/>
          <p:nvPr/>
        </p:nvSpPr>
        <p:spPr>
          <a:xfrm>
            <a:off x="5688615" y="6007611"/>
            <a:ext cx="4104000" cy="43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Is there anything wrong with this code?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D9CA-41EE-4157-BE8F-45836EA7AA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0"/>
            <a:ext cx="9071640" cy="597582"/>
          </a:xfrm>
        </p:spPr>
        <p:txBody>
          <a:bodyPr/>
          <a:lstStyle/>
          <a:p>
            <a:pPr lvl="0"/>
            <a:r>
              <a:rPr lang="en-GB" dirty="0"/>
              <a:t>Multiple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50642-9EE2-4D52-8792-3038E61A96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597582"/>
            <a:ext cx="9071640" cy="4384440"/>
          </a:xfrm>
        </p:spPr>
        <p:txBody>
          <a:bodyPr/>
          <a:lstStyle/>
          <a:p>
            <a:pPr lvl="0"/>
            <a:r>
              <a:rPr lang="en-GB" sz="2800" dirty="0">
                <a:latin typeface="Courier 10 Pitch" pitchFamily="17"/>
              </a:rPr>
              <a:t>def </a:t>
            </a:r>
            <a:r>
              <a:rPr lang="en-GB" sz="2800" dirty="0" err="1">
                <a:latin typeface="Courier 10 Pitch" pitchFamily="17"/>
              </a:rPr>
              <a:t>check_grade</a:t>
            </a:r>
            <a:r>
              <a:rPr lang="en-GB" sz="2800" dirty="0">
                <a:latin typeface="Courier 10 Pitch" pitchFamily="17"/>
              </a:rPr>
              <a:t>():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 = </a:t>
            </a:r>
            <a:r>
              <a:rPr lang="en-GB" sz="2800" dirty="0" err="1">
                <a:latin typeface="Courier 10 Pitch" pitchFamily="17"/>
              </a:rPr>
              <a:t>int</a:t>
            </a:r>
            <a:r>
              <a:rPr lang="en-GB" sz="2800" dirty="0">
                <a:latin typeface="Courier 10 Pitch" pitchFamily="17"/>
              </a:rPr>
              <a:t>(input('Input the range value: '))</a:t>
            </a:r>
          </a:p>
          <a:p>
            <a:pPr lvl="0"/>
            <a:r>
              <a:rPr lang="en-GB" sz="2800" dirty="0">
                <a:latin typeface="Courier 10 Pitch" pitchFamily="17"/>
              </a:rPr>
              <a:t> 	if 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 &lt;= 39: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	print(</a:t>
            </a:r>
            <a:r>
              <a:rPr lang="en-GB" sz="2800" dirty="0" err="1">
                <a:latin typeface="Courier 10 Pitch" pitchFamily="17"/>
              </a:rPr>
              <a:t>str</a:t>
            </a:r>
            <a:r>
              <a:rPr lang="en-GB" sz="2800" dirty="0">
                <a:latin typeface="Courier 10 Pitch" pitchFamily="17"/>
              </a:rPr>
              <a:t>(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) +': Fail')</a:t>
            </a:r>
          </a:p>
          <a:p>
            <a:pPr lvl="0"/>
            <a:r>
              <a:rPr lang="en-GB" sz="2800" dirty="0">
                <a:latin typeface="Courier 10 Pitch" pitchFamily="17"/>
              </a:rPr>
              <a:t> 	</a:t>
            </a:r>
            <a:r>
              <a:rPr lang="en-GB" sz="2800" b="1" dirty="0" err="1">
                <a:latin typeface="Courier 10 Pitch" pitchFamily="17"/>
              </a:rPr>
              <a:t>elif</a:t>
            </a:r>
            <a:r>
              <a:rPr lang="en-GB" sz="2800" dirty="0">
                <a:latin typeface="Courier 10 Pitch" pitchFamily="17"/>
              </a:rPr>
              <a:t> 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 &lt;= 49: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 	print(</a:t>
            </a:r>
            <a:r>
              <a:rPr lang="en-GB" sz="2800" dirty="0" err="1">
                <a:latin typeface="Courier 10 Pitch" pitchFamily="17"/>
              </a:rPr>
              <a:t>str</a:t>
            </a:r>
            <a:r>
              <a:rPr lang="en-GB" sz="2800" dirty="0">
                <a:latin typeface="Courier 10 Pitch" pitchFamily="17"/>
              </a:rPr>
              <a:t>(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) +':Third')</a:t>
            </a:r>
          </a:p>
          <a:p>
            <a:pPr lvl="0"/>
            <a:r>
              <a:rPr lang="en-GB" sz="2800" dirty="0">
                <a:latin typeface="Courier 10 Pitch" pitchFamily="17"/>
              </a:rPr>
              <a:t> 	</a:t>
            </a:r>
            <a:r>
              <a:rPr lang="en-GB" sz="2800" b="1" dirty="0" err="1">
                <a:latin typeface="Courier 10 Pitch" pitchFamily="17"/>
              </a:rPr>
              <a:t>elif</a:t>
            </a:r>
            <a:r>
              <a:rPr lang="en-GB" sz="2800" dirty="0">
                <a:latin typeface="Courier 10 Pitch" pitchFamily="17"/>
              </a:rPr>
              <a:t> 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 &lt;= 69: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 	print(</a:t>
            </a:r>
            <a:r>
              <a:rPr lang="en-GB" sz="2800" dirty="0" err="1">
                <a:latin typeface="Courier 10 Pitch" pitchFamily="17"/>
              </a:rPr>
              <a:t>str</a:t>
            </a:r>
            <a:r>
              <a:rPr lang="en-GB" sz="2800" dirty="0">
                <a:latin typeface="Courier 10 Pitch" pitchFamily="17"/>
              </a:rPr>
              <a:t>(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) +':Second')</a:t>
            </a:r>
          </a:p>
          <a:p>
            <a:pPr lvl="0"/>
            <a:r>
              <a:rPr lang="en-GB" sz="2800" dirty="0">
                <a:latin typeface="Courier 10 Pitch" pitchFamily="17"/>
              </a:rPr>
              <a:t> 	</a:t>
            </a:r>
            <a:r>
              <a:rPr lang="en-GB" sz="2800" b="1" dirty="0" err="1">
                <a:latin typeface="Courier 10 Pitch" pitchFamily="17"/>
              </a:rPr>
              <a:t>elif</a:t>
            </a:r>
            <a:r>
              <a:rPr lang="en-GB" sz="2800" dirty="0">
                <a:latin typeface="Courier 10 Pitch" pitchFamily="17"/>
              </a:rPr>
              <a:t> 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 &lt;= 100: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 	print(</a:t>
            </a:r>
            <a:r>
              <a:rPr lang="en-GB" sz="2800" dirty="0" err="1">
                <a:latin typeface="Courier 10 Pitch" pitchFamily="17"/>
              </a:rPr>
              <a:t>str</a:t>
            </a:r>
            <a:r>
              <a:rPr lang="en-GB" sz="2800" dirty="0">
                <a:latin typeface="Courier 10 Pitch" pitchFamily="17"/>
              </a:rPr>
              <a:t>(</a:t>
            </a:r>
            <a:r>
              <a:rPr lang="en-GB" sz="2800" dirty="0" err="1">
                <a:latin typeface="Courier 10 Pitch" pitchFamily="17"/>
              </a:rPr>
              <a:t>range_value</a:t>
            </a:r>
            <a:r>
              <a:rPr lang="en-GB" sz="2800" dirty="0">
                <a:latin typeface="Courier 10 Pitch" pitchFamily="17"/>
              </a:rPr>
              <a:t>) +':First')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286E85-DB7D-49AE-9A62-F037A39EE8CA}"/>
              </a:ext>
            </a:extLst>
          </p:cNvPr>
          <p:cNvSpPr/>
          <p:nvPr/>
        </p:nvSpPr>
        <p:spPr>
          <a:xfrm>
            <a:off x="371960" y="3456673"/>
            <a:ext cx="718771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200" dirty="0"/>
              <a:t>An </a:t>
            </a:r>
            <a:r>
              <a:rPr lang="en-GB" sz="3200" dirty="0" err="1">
                <a:latin typeface="Courier 10 Pitch" pitchFamily="17"/>
              </a:rPr>
              <a:t>elif</a:t>
            </a:r>
            <a:r>
              <a:rPr lang="en-GB" sz="3200" dirty="0"/>
              <a:t> (else if) always belongs to an </a:t>
            </a:r>
            <a:r>
              <a:rPr lang="en-GB" sz="3200" dirty="0">
                <a:latin typeface="Courier 10 Pitch" pitchFamily="17"/>
              </a:rPr>
              <a:t>if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200" dirty="0">
                <a:latin typeface="Courier 10 Pitch" pitchFamily="17"/>
              </a:rPr>
              <a:t>if</a:t>
            </a:r>
            <a:r>
              <a:rPr lang="en-GB" sz="3200" dirty="0"/>
              <a:t>s and </a:t>
            </a:r>
            <a:r>
              <a:rPr lang="en-GB" sz="3200" dirty="0" err="1">
                <a:latin typeface="Courier 10 Pitch" pitchFamily="17"/>
              </a:rPr>
              <a:t>elif</a:t>
            </a:r>
            <a:r>
              <a:rPr lang="en-GB" sz="3200" dirty="0" err="1"/>
              <a:t>s</a:t>
            </a:r>
            <a:r>
              <a:rPr lang="en-GB" sz="3200" dirty="0"/>
              <a:t> must be followed by a condition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C5BAD05-56F1-44C2-942F-C295AD45CBE2}"/>
              </a:ext>
            </a:extLst>
          </p:cNvPr>
          <p:cNvSpPr/>
          <p:nvPr/>
        </p:nvSpPr>
        <p:spPr>
          <a:xfrm>
            <a:off x="371960" y="544026"/>
            <a:ext cx="9190494" cy="18737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32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Rule of thumb: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32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If two conditions are related use</a:t>
            </a:r>
            <a:br>
              <a:rPr lang="en-GB" sz="32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3200" b="0" i="0" u="none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if</a:t>
            </a:r>
            <a:r>
              <a:rPr lang="en-GB" sz="32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/</a:t>
            </a:r>
            <a:r>
              <a:rPr lang="en-GB" sz="3200" b="0" i="0" u="none" strike="noStrike" kern="1200" cap="none" dirty="0" err="1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elif</a:t>
            </a:r>
            <a:r>
              <a:rPr lang="en-GB" sz="32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instead of two </a:t>
            </a:r>
            <a:r>
              <a:rPr lang="en-GB" sz="3200" b="0" i="0" u="none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if</a:t>
            </a:r>
            <a:r>
              <a:rPr lang="en-GB" sz="32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1233855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ADF8-B1A8-4479-A882-D3323D3C74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0"/>
            <a:ext cx="9071640" cy="768063"/>
          </a:xfrm>
        </p:spPr>
        <p:txBody>
          <a:bodyPr/>
          <a:lstStyle/>
          <a:p>
            <a:pPr lvl="0"/>
            <a:r>
              <a:rPr lang="en-GB" dirty="0"/>
              <a:t>Invalid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223E6-5645-4D2C-A95B-EDDE898131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635183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If none of the conditions satisfy there can be a default action</a:t>
            </a:r>
          </a:p>
          <a:p>
            <a:pPr lvl="0"/>
            <a:r>
              <a:rPr lang="en-GB" sz="1800" b="1" dirty="0">
                <a:latin typeface="Courier 10 Pitch" pitchFamily="17"/>
              </a:rPr>
              <a:t>def </a:t>
            </a:r>
            <a:r>
              <a:rPr lang="en-GB" sz="1800" b="1" dirty="0" err="1">
                <a:latin typeface="Courier 10 Pitch" pitchFamily="17"/>
              </a:rPr>
              <a:t>check_grade</a:t>
            </a:r>
            <a:r>
              <a:rPr lang="en-GB" sz="1800" b="1" dirty="0">
                <a:latin typeface="Courier 10 Pitch" pitchFamily="17"/>
              </a:rPr>
              <a:t>():</a:t>
            </a:r>
            <a:br>
              <a:rPr lang="en-GB" sz="1800" b="1" dirty="0">
                <a:latin typeface="Courier 10 Pitch" pitchFamily="17"/>
              </a:rPr>
            </a:br>
            <a:r>
              <a:rPr lang="en-GB" sz="1800" b="1" dirty="0">
                <a:latin typeface="Courier 10 Pitch" pitchFamily="17"/>
              </a:rPr>
              <a:t>	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 = </a:t>
            </a:r>
            <a:r>
              <a:rPr lang="en-GB" sz="1800" b="1" dirty="0" err="1">
                <a:latin typeface="Courier 10 Pitch" pitchFamily="17"/>
              </a:rPr>
              <a:t>int</a:t>
            </a:r>
            <a:r>
              <a:rPr lang="en-GB" sz="1800" b="1" dirty="0">
                <a:latin typeface="Courier 10 Pitch" pitchFamily="17"/>
              </a:rPr>
              <a:t>(input('Input the range value: '))</a:t>
            </a:r>
          </a:p>
          <a:p>
            <a:pPr lvl="0"/>
            <a:r>
              <a:rPr lang="en-GB" sz="1800" b="1" dirty="0">
                <a:latin typeface="Courier 10 Pitch" pitchFamily="17"/>
              </a:rPr>
              <a:t> 	if 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 &lt;= 39:</a:t>
            </a:r>
            <a:br>
              <a:rPr lang="en-GB" sz="1800" b="1" dirty="0">
                <a:latin typeface="Courier 10 Pitch" pitchFamily="17"/>
              </a:rPr>
            </a:br>
            <a:r>
              <a:rPr lang="en-GB" sz="1800" b="1" dirty="0">
                <a:latin typeface="Courier 10 Pitch" pitchFamily="17"/>
              </a:rPr>
              <a:t>		print(</a:t>
            </a:r>
            <a:r>
              <a:rPr lang="en-GB" sz="1800" b="1" dirty="0" err="1">
                <a:latin typeface="Courier 10 Pitch" pitchFamily="17"/>
              </a:rPr>
              <a:t>str</a:t>
            </a:r>
            <a:r>
              <a:rPr lang="en-GB" sz="1800" b="1" dirty="0">
                <a:latin typeface="Courier 10 Pitch" pitchFamily="17"/>
              </a:rPr>
              <a:t>(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) + ': Fail')</a:t>
            </a:r>
          </a:p>
          <a:p>
            <a:pPr lvl="0"/>
            <a:r>
              <a:rPr lang="en-GB" sz="1800" b="1" dirty="0">
                <a:latin typeface="Courier 10 Pitch" pitchFamily="17"/>
              </a:rPr>
              <a:t> 	</a:t>
            </a:r>
            <a:r>
              <a:rPr lang="en-GB" sz="1800" b="1" dirty="0" err="1">
                <a:latin typeface="Courier 10 Pitch" pitchFamily="17"/>
              </a:rPr>
              <a:t>elif</a:t>
            </a:r>
            <a:r>
              <a:rPr lang="en-GB" sz="1800" b="1" dirty="0">
                <a:latin typeface="Courier 10 Pitch" pitchFamily="17"/>
              </a:rPr>
              <a:t> 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 &lt;= 49:</a:t>
            </a:r>
            <a:br>
              <a:rPr lang="en-GB" sz="1800" b="1" dirty="0">
                <a:latin typeface="Courier 10 Pitch" pitchFamily="17"/>
              </a:rPr>
            </a:br>
            <a:r>
              <a:rPr lang="en-GB" sz="1800" b="1" dirty="0">
                <a:latin typeface="Courier 10 Pitch" pitchFamily="17"/>
              </a:rPr>
              <a:t>	 	print(</a:t>
            </a:r>
            <a:r>
              <a:rPr lang="en-GB" sz="1800" b="1" dirty="0" err="1">
                <a:latin typeface="Courier 10 Pitch" pitchFamily="17"/>
              </a:rPr>
              <a:t>str</a:t>
            </a:r>
            <a:r>
              <a:rPr lang="en-GB" sz="1800" b="1" dirty="0">
                <a:latin typeface="Courier 10 Pitch" pitchFamily="17"/>
              </a:rPr>
              <a:t>(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) + ': Third')</a:t>
            </a:r>
          </a:p>
          <a:p>
            <a:pPr lvl="0"/>
            <a:r>
              <a:rPr lang="en-GB" sz="1800" b="1" dirty="0">
                <a:latin typeface="Courier 10 Pitch" pitchFamily="17"/>
              </a:rPr>
              <a:t> 	</a:t>
            </a:r>
            <a:r>
              <a:rPr lang="en-GB" sz="1800" b="1" dirty="0" err="1">
                <a:latin typeface="Courier 10 Pitch" pitchFamily="17"/>
              </a:rPr>
              <a:t>elif</a:t>
            </a:r>
            <a:r>
              <a:rPr lang="en-GB" sz="1800" b="1" dirty="0">
                <a:latin typeface="Courier 10 Pitch" pitchFamily="17"/>
              </a:rPr>
              <a:t> 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 &lt;= 69:</a:t>
            </a:r>
            <a:br>
              <a:rPr lang="en-GB" sz="1800" b="1" dirty="0">
                <a:latin typeface="Courier 10 Pitch" pitchFamily="17"/>
              </a:rPr>
            </a:br>
            <a:r>
              <a:rPr lang="en-GB" sz="1800" b="1" dirty="0">
                <a:latin typeface="Courier 10 Pitch" pitchFamily="17"/>
              </a:rPr>
              <a:t>	 	print(</a:t>
            </a:r>
            <a:r>
              <a:rPr lang="en-GB" sz="1800" b="1" dirty="0" err="1">
                <a:latin typeface="Courier 10 Pitch" pitchFamily="17"/>
              </a:rPr>
              <a:t>str</a:t>
            </a:r>
            <a:r>
              <a:rPr lang="en-GB" sz="1800" b="1" dirty="0">
                <a:latin typeface="Courier 10 Pitch" pitchFamily="17"/>
              </a:rPr>
              <a:t>(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) + ': Second')</a:t>
            </a:r>
          </a:p>
          <a:p>
            <a:pPr lvl="0"/>
            <a:r>
              <a:rPr lang="en-GB" sz="1800" b="1" dirty="0">
                <a:latin typeface="Courier 10 Pitch" pitchFamily="17"/>
              </a:rPr>
              <a:t> 	</a:t>
            </a:r>
            <a:r>
              <a:rPr lang="en-GB" sz="1800" b="1" dirty="0" err="1">
                <a:latin typeface="Courier 10 Pitch" pitchFamily="17"/>
              </a:rPr>
              <a:t>elif</a:t>
            </a:r>
            <a:r>
              <a:rPr lang="en-GB" sz="1800" b="1" dirty="0">
                <a:latin typeface="Courier 10 Pitch" pitchFamily="17"/>
              </a:rPr>
              <a:t> 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 &lt;= 100:</a:t>
            </a:r>
            <a:br>
              <a:rPr lang="en-GB" sz="1800" b="1" dirty="0">
                <a:latin typeface="Courier 10 Pitch" pitchFamily="17"/>
              </a:rPr>
            </a:br>
            <a:r>
              <a:rPr lang="en-GB" sz="1800" b="1" dirty="0">
                <a:latin typeface="Courier 10 Pitch" pitchFamily="17"/>
              </a:rPr>
              <a:t>	 	print(</a:t>
            </a:r>
            <a:r>
              <a:rPr lang="en-GB" sz="1800" b="1" dirty="0" err="1">
                <a:latin typeface="Courier 10 Pitch" pitchFamily="17"/>
              </a:rPr>
              <a:t>str</a:t>
            </a:r>
            <a:r>
              <a:rPr lang="en-GB" sz="1800" b="1" dirty="0">
                <a:latin typeface="Courier 10 Pitch" pitchFamily="17"/>
              </a:rPr>
              <a:t>(</a:t>
            </a:r>
            <a:r>
              <a:rPr lang="en-GB" sz="1800" b="1" dirty="0" err="1">
                <a:latin typeface="Courier 10 Pitch" pitchFamily="17"/>
              </a:rPr>
              <a:t>range_value</a:t>
            </a:r>
            <a:r>
              <a:rPr lang="en-GB" sz="1800" b="1" dirty="0">
                <a:latin typeface="Courier 10 Pitch" pitchFamily="17"/>
              </a:rPr>
              <a:t>) + ': First')</a:t>
            </a:r>
          </a:p>
          <a:p>
            <a:pPr lvl="0"/>
            <a:r>
              <a:rPr lang="en-GB" sz="1800" b="1" dirty="0">
                <a:latin typeface="Courier 10 Pitch" pitchFamily="17"/>
              </a:rPr>
              <a:t> 	else:</a:t>
            </a:r>
            <a:br>
              <a:rPr lang="en-GB" sz="1800" b="1" dirty="0">
                <a:latin typeface="Courier 10 Pitch" pitchFamily="17"/>
              </a:rPr>
            </a:br>
            <a:r>
              <a:rPr lang="en-GB" sz="1800" b="1" dirty="0">
                <a:latin typeface="Courier 10 Pitch" pitchFamily="17"/>
              </a:rPr>
              <a:t>	 	print(</a:t>
            </a:r>
            <a:r>
              <a:rPr lang="en-GB" sz="1800" b="1" dirty="0" err="1">
                <a:latin typeface="Courier 10 Pitch" pitchFamily="17"/>
              </a:rPr>
              <a:t>range_value,"doesn't</a:t>
            </a:r>
            <a:r>
              <a:rPr lang="en-GB" sz="1800" b="1" dirty="0">
                <a:latin typeface="Courier 10 Pitch" pitchFamily="17"/>
              </a:rPr>
              <a:t> fit range!")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27B512-147D-45F0-93EC-DC4517FB8FBC}"/>
              </a:ext>
            </a:extLst>
          </p:cNvPr>
          <p:cNvSpPr/>
          <p:nvPr/>
        </p:nvSpPr>
        <p:spPr>
          <a:xfrm rot="17975638">
            <a:off x="6732625" y="2539403"/>
            <a:ext cx="3348000" cy="576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There is only one </a:t>
            </a:r>
            <a:r>
              <a:rPr lang="en-GB" sz="1800" b="0" i="0" u="none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else</a:t>
            </a: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 per </a:t>
            </a:r>
            <a:r>
              <a:rPr lang="en-GB" sz="1800" b="0" i="0" u="none" strike="noStrike" kern="1200" cap="none" dirty="0">
                <a:ln>
                  <a:noFill/>
                </a:ln>
                <a:latin typeface="Courier 10 Pitch" pitchFamily="17"/>
                <a:ea typeface="DejaVu Sans" pitchFamily="2"/>
                <a:cs typeface="FreeSans" pitchFamily="2"/>
              </a:rPr>
              <a:t>if</a:t>
            </a: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,</a:t>
            </a:r>
            <a:b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and it must be last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05B4-9451-4B1A-86F6-9F98A15043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225622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Nested </a:t>
            </a:r>
            <a:r>
              <a:rPr lang="en-GB" dirty="0">
                <a:latin typeface="Courier 10 Pitch" pitchFamily="17"/>
              </a:rPr>
              <a:t>if</a:t>
            </a:r>
            <a:r>
              <a:rPr lang="en-GB" dirty="0"/>
              <a:t>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55037-3345-4336-AE6D-9662B9F7688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0000" y="651780"/>
            <a:ext cx="9071640" cy="4384440"/>
          </a:xfrm>
        </p:spPr>
        <p:txBody>
          <a:bodyPr/>
          <a:lstStyle/>
          <a:p>
            <a:pPr lvl="0"/>
            <a:r>
              <a:rPr lang="en-GB" sz="2000" b="1" dirty="0">
                <a:latin typeface="Courier 10 Pitch" pitchFamily="17"/>
              </a:rPr>
              <a:t>def </a:t>
            </a:r>
            <a:r>
              <a:rPr lang="en-GB" sz="2000" b="1" dirty="0" err="1">
                <a:latin typeface="Courier 10 Pitch" pitchFamily="17"/>
              </a:rPr>
              <a:t>check_grade</a:t>
            </a:r>
            <a:r>
              <a:rPr lang="en-GB" sz="2000" b="1" dirty="0">
                <a:latin typeface="Courier 10 Pitch" pitchFamily="17"/>
              </a:rPr>
              <a:t>():</a:t>
            </a:r>
            <a:br>
              <a:rPr lang="en-GB" sz="2000" b="1" dirty="0">
                <a:latin typeface="Courier 10 Pitch" pitchFamily="17"/>
              </a:rPr>
            </a:br>
            <a:r>
              <a:rPr lang="en-GB" sz="2000" b="1" dirty="0">
                <a:latin typeface="Courier 10 Pitch" pitchFamily="17"/>
              </a:rPr>
              <a:t>	value = input('Input the range value: ')</a:t>
            </a:r>
          </a:p>
          <a:p>
            <a:pPr lvl="0"/>
            <a:r>
              <a:rPr lang="en-GB" sz="2000" b="1" dirty="0">
                <a:latin typeface="Courier 10 Pitch" pitchFamily="17"/>
              </a:rPr>
              <a:t> 	if </a:t>
            </a:r>
            <a:r>
              <a:rPr lang="en-GB" sz="2000" b="1" dirty="0" err="1">
                <a:latin typeface="Courier 10 Pitch" pitchFamily="17"/>
              </a:rPr>
              <a:t>len</a:t>
            </a:r>
            <a:r>
              <a:rPr lang="en-GB" sz="2000" b="1" dirty="0">
                <a:latin typeface="Courier 10 Pitch" pitchFamily="17"/>
              </a:rPr>
              <a:t>(value) &gt; 0:</a:t>
            </a:r>
            <a:br>
              <a:rPr lang="en-GB" sz="2000" b="1" dirty="0">
                <a:latin typeface="Courier 10 Pitch" pitchFamily="17"/>
              </a:rPr>
            </a:br>
            <a:r>
              <a:rPr lang="en-GB" sz="2000" b="1" dirty="0">
                <a:latin typeface="Courier 10 Pitch" pitchFamily="17"/>
              </a:rPr>
              <a:t>		 	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 = </a:t>
            </a:r>
            <a:r>
              <a:rPr lang="en-GB" sz="2000" b="1" dirty="0" err="1">
                <a:latin typeface="Courier 10 Pitch" pitchFamily="17"/>
              </a:rPr>
              <a:t>int</a:t>
            </a:r>
            <a:r>
              <a:rPr lang="en-GB" sz="2000" b="1" dirty="0">
                <a:latin typeface="Courier 10 Pitch" pitchFamily="17"/>
              </a:rPr>
              <a:t>(value)</a:t>
            </a:r>
          </a:p>
          <a:p>
            <a:pPr lvl="0"/>
            <a:r>
              <a:rPr lang="en-GB" sz="2000" b="1" dirty="0">
                <a:latin typeface="Courier 10 Pitch" pitchFamily="17"/>
              </a:rPr>
              <a:t> 	 	if 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 &lt;= 39:</a:t>
            </a:r>
            <a:br>
              <a:rPr lang="en-GB" sz="2000" b="1" dirty="0">
                <a:latin typeface="Courier 10 Pitch" pitchFamily="17"/>
              </a:rPr>
            </a:br>
            <a:r>
              <a:rPr lang="en-GB" sz="2000" b="1" dirty="0">
                <a:latin typeface="Courier 10 Pitch" pitchFamily="17"/>
              </a:rPr>
              <a:t>		 		print(</a:t>
            </a:r>
            <a:r>
              <a:rPr lang="en-GB" sz="2000" b="1" dirty="0" err="1">
                <a:latin typeface="Courier 10 Pitch" pitchFamily="17"/>
              </a:rPr>
              <a:t>str</a:t>
            </a:r>
            <a:r>
              <a:rPr lang="en-GB" sz="2000" b="1" dirty="0">
                <a:latin typeface="Courier 10 Pitch" pitchFamily="17"/>
              </a:rPr>
              <a:t>(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) + ‘: Fail')</a:t>
            </a:r>
          </a:p>
          <a:p>
            <a:pPr lvl="0"/>
            <a:r>
              <a:rPr lang="en-GB" sz="2000" b="1" dirty="0">
                <a:latin typeface="Courier 10 Pitch" pitchFamily="17"/>
              </a:rPr>
              <a:t>  		</a:t>
            </a:r>
            <a:r>
              <a:rPr lang="en-GB" sz="2000" b="1" dirty="0" err="1">
                <a:latin typeface="Courier 10 Pitch" pitchFamily="17"/>
              </a:rPr>
              <a:t>elif</a:t>
            </a:r>
            <a:r>
              <a:rPr lang="en-GB" sz="2000" b="1" dirty="0">
                <a:latin typeface="Courier 10 Pitch" pitchFamily="17"/>
              </a:rPr>
              <a:t> 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 &lt;= 49:</a:t>
            </a:r>
            <a:br>
              <a:rPr lang="en-GB" sz="2000" b="1" dirty="0">
                <a:latin typeface="Courier 10 Pitch" pitchFamily="17"/>
              </a:rPr>
            </a:br>
            <a:r>
              <a:rPr lang="en-GB" sz="2000" b="1" dirty="0">
                <a:latin typeface="Courier 10 Pitch" pitchFamily="17"/>
              </a:rPr>
              <a:t>	 		print(</a:t>
            </a:r>
            <a:r>
              <a:rPr lang="en-GB" sz="2000" b="1" dirty="0" err="1">
                <a:latin typeface="Courier 10 Pitch" pitchFamily="17"/>
              </a:rPr>
              <a:t>str</a:t>
            </a:r>
            <a:r>
              <a:rPr lang="en-GB" sz="2000" b="1" dirty="0">
                <a:latin typeface="Courier 10 Pitch" pitchFamily="17"/>
              </a:rPr>
              <a:t>(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) +': Third')</a:t>
            </a:r>
          </a:p>
          <a:p>
            <a:pPr lvl="0"/>
            <a:r>
              <a:rPr lang="en-GB" sz="2000" b="1" dirty="0">
                <a:latin typeface="Courier 10 Pitch" pitchFamily="17"/>
              </a:rPr>
              <a:t> 	 	</a:t>
            </a:r>
            <a:r>
              <a:rPr lang="en-GB" sz="2000" b="1" dirty="0" err="1">
                <a:latin typeface="Courier 10 Pitch" pitchFamily="17"/>
              </a:rPr>
              <a:t>elif</a:t>
            </a:r>
            <a:r>
              <a:rPr lang="en-GB" sz="2000" b="1" dirty="0">
                <a:latin typeface="Courier 10 Pitch" pitchFamily="17"/>
              </a:rPr>
              <a:t> 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 &lt;= 69:</a:t>
            </a:r>
            <a:br>
              <a:rPr lang="en-GB" sz="2000" b="1" dirty="0">
                <a:latin typeface="Courier 10 Pitch" pitchFamily="17"/>
              </a:rPr>
            </a:br>
            <a:r>
              <a:rPr lang="en-GB" sz="2000" b="1" dirty="0">
                <a:latin typeface="Courier 10 Pitch" pitchFamily="17"/>
              </a:rPr>
              <a:t>	 		print(</a:t>
            </a:r>
            <a:r>
              <a:rPr lang="en-GB" sz="2000" b="1" dirty="0" err="1">
                <a:latin typeface="Courier 10 Pitch" pitchFamily="17"/>
              </a:rPr>
              <a:t>str</a:t>
            </a:r>
            <a:r>
              <a:rPr lang="en-GB" sz="2000" b="1" dirty="0">
                <a:latin typeface="Courier 10 Pitch" pitchFamily="17"/>
              </a:rPr>
              <a:t>(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) + ': Second')</a:t>
            </a:r>
          </a:p>
          <a:p>
            <a:pPr lvl="0"/>
            <a:r>
              <a:rPr lang="en-GB" sz="2000" b="1" dirty="0">
                <a:latin typeface="Courier 10 Pitch" pitchFamily="17"/>
              </a:rPr>
              <a:t> 		</a:t>
            </a:r>
            <a:r>
              <a:rPr lang="en-GB" sz="2000" b="1" dirty="0" err="1">
                <a:latin typeface="Courier 10 Pitch" pitchFamily="17"/>
              </a:rPr>
              <a:t>elif</a:t>
            </a:r>
            <a:r>
              <a:rPr lang="en-GB" sz="2000" b="1" dirty="0">
                <a:latin typeface="Courier 10 Pitch" pitchFamily="17"/>
              </a:rPr>
              <a:t> 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 &lt;= 100:</a:t>
            </a:r>
            <a:br>
              <a:rPr lang="en-GB" sz="2000" b="1" dirty="0">
                <a:latin typeface="Courier 10 Pitch" pitchFamily="17"/>
              </a:rPr>
            </a:br>
            <a:r>
              <a:rPr lang="en-GB" sz="2000" b="1" dirty="0">
                <a:latin typeface="Courier 10 Pitch" pitchFamily="17"/>
              </a:rPr>
              <a:t>	 		print(str(</a:t>
            </a:r>
            <a:r>
              <a:rPr lang="en-GB" sz="2000" b="1" dirty="0" err="1">
                <a:latin typeface="Courier 10 Pitch" pitchFamily="17"/>
              </a:rPr>
              <a:t>range_value</a:t>
            </a:r>
            <a:r>
              <a:rPr lang="en-GB" sz="2000" b="1" dirty="0">
                <a:latin typeface="Courier 10 Pitch" pitchFamily="17"/>
              </a:rPr>
              <a:t>) + ': First’)</a:t>
            </a:r>
          </a:p>
          <a:p>
            <a:pPr lvl="0"/>
            <a:r>
              <a:rPr lang="en-GB" sz="2000" b="1" dirty="0">
                <a:latin typeface="Courier 10 Pitch" pitchFamily="17"/>
              </a:rPr>
              <a:t>            </a:t>
            </a:r>
            <a:r>
              <a:rPr lang="en-GB" sz="2000" dirty="0">
                <a:latin typeface="Courier 10 Pitch" pitchFamily="17"/>
              </a:rPr>
              <a:t>else:</a:t>
            </a:r>
            <a:br>
              <a:rPr lang="en-GB" sz="2000" dirty="0">
                <a:latin typeface="Courier 10 Pitch" pitchFamily="17"/>
              </a:rPr>
            </a:br>
            <a:r>
              <a:rPr lang="en-GB" sz="2000" dirty="0">
                <a:latin typeface="Courier 10 Pitch" pitchFamily="17"/>
              </a:rPr>
              <a:t>	 	print(</a:t>
            </a:r>
            <a:r>
              <a:rPr lang="en-GB" sz="2000" dirty="0" err="1">
                <a:latin typeface="Courier 10 Pitch" pitchFamily="17"/>
              </a:rPr>
              <a:t>range_value</a:t>
            </a:r>
            <a:r>
              <a:rPr lang="en-GB" sz="2000" dirty="0">
                <a:latin typeface="Courier 10 Pitch" pitchFamily="17"/>
              </a:rPr>
              <a:t>, "doesn't fit any range!")	else:</a:t>
            </a:r>
            <a:br>
              <a:rPr lang="en-GB" sz="2000" dirty="0">
                <a:latin typeface="Courier 10 Pitch" pitchFamily="17"/>
              </a:rPr>
            </a:br>
            <a:r>
              <a:rPr lang="en-GB" sz="2000" dirty="0">
                <a:latin typeface="Courier 10 Pitch" pitchFamily="17"/>
              </a:rPr>
              <a:t>	print('No value was provided.')</a:t>
            </a:r>
          </a:p>
          <a:p>
            <a:pPr lvl="0"/>
            <a:endParaRPr lang="en-GB" sz="2000" b="1" dirty="0">
              <a:latin typeface="Courier 10 Pitch" pitchFamily="17"/>
            </a:endParaRPr>
          </a:p>
          <a:p>
            <a:pPr lvl="0"/>
            <a:r>
              <a:rPr lang="en-GB" dirty="0">
                <a:latin typeface="Courier 10 Pitch" pitchFamily="17"/>
              </a:rPr>
              <a:t> 	 	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34161F-9EDE-427E-8DDC-63111C194D1A}"/>
              </a:ext>
            </a:extLst>
          </p:cNvPr>
          <p:cNvSpPr/>
          <p:nvPr/>
        </p:nvSpPr>
        <p:spPr>
          <a:xfrm>
            <a:off x="360000" y="2340000"/>
            <a:ext cx="360000" cy="352800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A642292-9F75-4CDC-860C-4B7C653113F5}"/>
              </a:ext>
            </a:extLst>
          </p:cNvPr>
          <p:cNvSpPr/>
          <p:nvPr/>
        </p:nvSpPr>
        <p:spPr>
          <a:xfrm>
            <a:off x="684000" y="2844000"/>
            <a:ext cx="216000" cy="244800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1489-80E5-4E72-B167-53D695696C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Back to the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FB749-A4A2-4243-9D64-F48D01D30FF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type Python uses for representing </a:t>
            </a:r>
            <a:r>
              <a:rPr lang="en-GB" sz="2800" dirty="0">
                <a:latin typeface="Courier 10 Pitch" pitchFamily="17"/>
              </a:rPr>
              <a:t>True</a:t>
            </a:r>
            <a:r>
              <a:rPr lang="en-GB" sz="2800" dirty="0"/>
              <a:t> and </a:t>
            </a:r>
            <a:r>
              <a:rPr lang="en-GB" sz="2800" dirty="0">
                <a:latin typeface="Courier 10 Pitch" pitchFamily="17"/>
              </a:rPr>
              <a:t>False</a:t>
            </a:r>
            <a:r>
              <a:rPr lang="en-GB" sz="2800" dirty="0"/>
              <a:t>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are the logical operators available in Python?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How can we obtain </a:t>
            </a:r>
            <a:r>
              <a:rPr lang="en-GB" sz="2800" dirty="0" err="1"/>
              <a:t>boolean</a:t>
            </a:r>
            <a:r>
              <a:rPr lang="en-GB" sz="2800" dirty="0"/>
              <a:t> values from other values?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Is it always necessary to evaluate all the expression to determine its logical value?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Can strings be compared using relational operators?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150B88-379A-4141-95BF-FDFCE114DD5B}"/>
              </a:ext>
            </a:extLst>
          </p:cNvPr>
          <p:cNvSpPr/>
          <p:nvPr/>
        </p:nvSpPr>
        <p:spPr>
          <a:xfrm>
            <a:off x="309966" y="325464"/>
            <a:ext cx="977065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600" dirty="0"/>
              <a:t>Which operator allows me to “ask” if one string is present in another string?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600" dirty="0"/>
              <a:t>How can we take advantage of the logical values resulting from relational operations?</a:t>
            </a:r>
          </a:p>
        </p:txBody>
      </p:sp>
    </p:spTree>
    <p:extLst>
      <p:ext uri="{BB962C8B-B14F-4D97-AF65-F5344CB8AC3E}">
        <p14:creationId xmlns:p14="http://schemas.microsoft.com/office/powerpoint/2010/main" val="2272430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B5CA-67D9-43B8-924D-23C9ED9921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BEF21-E7DB-49CA-8090-D64A61DD68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PP, 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9015</TotalTime>
  <Words>2619</Words>
  <Application>Microsoft Office PowerPoint</Application>
  <PresentationFormat>Custom</PresentationFormat>
  <Paragraphs>285</Paragraphs>
  <Slides>35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Courier 10 Pitch</vt:lpstr>
      <vt:lpstr>Liberation Sans</vt:lpstr>
      <vt:lpstr>Liberation Serif</vt:lpstr>
      <vt:lpstr>StarSymbol</vt:lpstr>
      <vt:lpstr>Default</vt:lpstr>
      <vt:lpstr> Fun Pro 2025-26</vt:lpstr>
      <vt:lpstr>In this class…</vt:lpstr>
      <vt:lpstr>Dynamic Flow</vt:lpstr>
      <vt:lpstr>Boolean type</vt:lpstr>
      <vt:lpstr>Logical Operators </vt:lpstr>
      <vt:lpstr>PowerPoint Presentation</vt:lpstr>
      <vt:lpstr>Logical Operators Summary</vt:lpstr>
      <vt:lpstr>Relational Operators</vt:lpstr>
      <vt:lpstr>Relational Operators Summary</vt:lpstr>
      <vt:lpstr>2 minute problem</vt:lpstr>
      <vt:lpstr>Solution</vt:lpstr>
      <vt:lpstr>“Combining” Comparisons</vt:lpstr>
      <vt:lpstr>What would the results be?</vt:lpstr>
      <vt:lpstr>Ranges</vt:lpstr>
      <vt:lpstr>Question</vt:lpstr>
      <vt:lpstr>Technical Note</vt:lpstr>
      <vt:lpstr>PowerPoint Presentation</vt:lpstr>
      <vt:lpstr>Technical Note (2) Conversions</vt:lpstr>
      <vt:lpstr>Short-Circuit Evaluation </vt:lpstr>
      <vt:lpstr>PowerPoint Presentation</vt:lpstr>
      <vt:lpstr>String Comparison</vt:lpstr>
      <vt:lpstr>Technical Note</vt:lpstr>
      <vt:lpstr>Are you in?</vt:lpstr>
      <vt:lpstr>Choosing which way to go</vt:lpstr>
      <vt:lpstr>What’s the output?</vt:lpstr>
      <vt:lpstr>1 minute problem</vt:lpstr>
      <vt:lpstr>Solution</vt:lpstr>
      <vt:lpstr>PowerPoint Presentation</vt:lpstr>
      <vt:lpstr>Multiple choices</vt:lpstr>
      <vt:lpstr>PowerPoint Presentation</vt:lpstr>
      <vt:lpstr>Invalid cases</vt:lpstr>
      <vt:lpstr>Nested ifs</vt:lpstr>
      <vt:lpstr>Back to the questions</vt:lpstr>
      <vt:lpstr>PowerPoint Presentation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CS12910 Computational Thinking</dc:title>
  <dc:creator>António Anjos</dc:creator>
  <cp:lastModifiedBy>Hamid Reza Shahbazkia</cp:lastModifiedBy>
  <cp:revision>401</cp:revision>
  <cp:lastPrinted>2017-10-31T13:02:19Z</cp:lastPrinted>
  <dcterms:created xsi:type="dcterms:W3CDTF">2016-08-02T15:42:55Z</dcterms:created>
  <dcterms:modified xsi:type="dcterms:W3CDTF">2025-09-24T07:53:27Z</dcterms:modified>
</cp:coreProperties>
</file>